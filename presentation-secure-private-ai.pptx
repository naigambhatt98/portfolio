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Fira Sans" panose="020B0503050000020004" pitchFamily="34" charset="0"/>
      <p:regular r:id="rId18"/>
      <p:bold r:id="rId19"/>
      <p:italic r:id="rId20"/>
      <p:boldItalic r:id="rId21"/>
    </p:embeddedFont>
    <p:embeddedFont>
      <p:font typeface="Fira Sans Bold" panose="020B0803050000020004" charset="0"/>
      <p:regular r:id="rId22"/>
    </p:embeddedFont>
    <p:embeddedFont>
      <p:font typeface="Fira Sans Light" panose="020B0403050000020004" pitchFamily="34" charset="0"/>
      <p:regular r:id="rId23"/>
    </p:embeddedFont>
    <p:embeddedFont>
      <p:font typeface="Helios Extended" panose="020B0604020202020204" charset="0"/>
      <p:regular r:id="rId24"/>
    </p:embeddedFont>
    <p:embeddedFont>
      <p:font typeface="HK Grotesk" panose="020B0604020202020204" charset="0"/>
      <p:regular r:id="rId25"/>
    </p:embeddedFont>
    <p:embeddedFont>
      <p:font typeface="HK Grotesk Bold" panose="020B0604020202020204" charset="0"/>
      <p:regular r:id="rId26"/>
    </p:embeddedFont>
    <p:embeddedFont>
      <p:font typeface="HK Grotesk Semi-Bold" panose="020B0604020202020204" charset="0"/>
      <p:regular r:id="rId27"/>
    </p:embeddedFont>
    <p:embeddedFont>
      <p:font typeface="Noto Serif Display ExtraCondensed Light" panose="020B0604020202020204"/>
      <p:regular r:id="rId28"/>
    </p:embeddedFont>
    <p:embeddedFont>
      <p:font typeface="Tw Cen MT" panose="020B0602020104020603" pitchFamily="34" charset="0"/>
      <p:regular r:id="rId29"/>
      <p:bold r:id="rId30"/>
      <p:italic r:id="rId31"/>
      <p:boldItalic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1" y="1"/>
            <a:ext cx="3457577" cy="10287002"/>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2814637" y="1683545"/>
            <a:ext cx="13187363" cy="3581400"/>
          </a:xfrm>
        </p:spPr>
        <p:txBody>
          <a:bodyPr anchor="b">
            <a:normAutofit/>
          </a:bodyPr>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814637" y="5403057"/>
            <a:ext cx="13187363" cy="2483643"/>
          </a:xfrm>
        </p:spPr>
        <p:txBody>
          <a:bodyPr>
            <a:normAutofit/>
          </a:bodyPr>
          <a:lstStyle>
            <a:lvl1pPr marL="0" indent="0" algn="l">
              <a:buNone/>
              <a:defRPr sz="3000" cap="all" baseline="0">
                <a:solidFill>
                  <a:schemeClr val="tx2"/>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a:xfrm>
            <a:off x="10616267" y="8115302"/>
            <a:ext cx="4114800" cy="547688"/>
          </a:xfrm>
        </p:spPr>
        <p:txBody>
          <a:bodyPr/>
          <a:lstStyle/>
          <a:p>
            <a:fld id="{1D8BD707-D9CF-40AE-B4C6-C98DA3205C09}" type="datetimeFigureOut">
              <a:rPr lang="en-US" smtClean="0"/>
              <a:pPr/>
              <a:t>9/28/2025</a:t>
            </a:fld>
            <a:endParaRPr lang="en-US"/>
          </a:p>
        </p:txBody>
      </p:sp>
      <p:sp>
        <p:nvSpPr>
          <p:cNvPr id="5" name="Footer Placeholder 4"/>
          <p:cNvSpPr>
            <a:spLocks noGrp="1"/>
          </p:cNvSpPr>
          <p:nvPr>
            <p:ph type="ftr" sz="quarter" idx="11"/>
          </p:nvPr>
        </p:nvSpPr>
        <p:spPr>
          <a:xfrm>
            <a:off x="2814636" y="8115302"/>
            <a:ext cx="7687329" cy="547688"/>
          </a:xfrm>
        </p:spPr>
        <p:txBody>
          <a:bodyPr/>
          <a:lstStyle/>
          <a:p>
            <a:endParaRPr lang="en-US"/>
          </a:p>
        </p:txBody>
      </p:sp>
      <p:sp>
        <p:nvSpPr>
          <p:cNvPr id="6" name="Slide Number Placeholder 5"/>
          <p:cNvSpPr>
            <a:spLocks noGrp="1"/>
          </p:cNvSpPr>
          <p:nvPr>
            <p:ph type="sldNum" sz="quarter" idx="12"/>
          </p:nvPr>
        </p:nvSpPr>
        <p:spPr>
          <a:xfrm>
            <a:off x="14845367" y="8115299"/>
            <a:ext cx="1156634"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8808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0565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2117" y="2128840"/>
            <a:ext cx="14859000" cy="4279106"/>
          </a:xfrm>
        </p:spPr>
        <p:txBody>
          <a:bodyPr anchor="b">
            <a:normAutofit/>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12117" y="6636543"/>
            <a:ext cx="14859000" cy="2062164"/>
          </a:xfrm>
        </p:spPr>
        <p:txBody>
          <a:bodyPr>
            <a:normAutofit/>
          </a:bodyPr>
          <a:lstStyle>
            <a:lvl1pPr marL="0" indent="0">
              <a:buNone/>
              <a:defRPr sz="2700" cap="all" baseline="0">
                <a:solidFill>
                  <a:schemeClr val="tx1">
                    <a:tint val="75000"/>
                  </a:schemeClr>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7120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2116" y="3374229"/>
            <a:ext cx="7317584" cy="5312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1" y="3374229"/>
            <a:ext cx="7312817" cy="5312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02907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12117" y="928690"/>
            <a:ext cx="14859000" cy="22169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55029" y="3374229"/>
            <a:ext cx="6974675" cy="1235868"/>
          </a:xfrm>
        </p:spPr>
        <p:txBody>
          <a:bodyPr anchor="b"/>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12116" y="4610096"/>
            <a:ext cx="7317587" cy="40767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01212" y="3374228"/>
            <a:ext cx="6969903" cy="1235868"/>
          </a:xfrm>
        </p:spPr>
        <p:txBody>
          <a:bodyPr anchor="b"/>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4610096"/>
            <a:ext cx="7312815" cy="40767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4487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0020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19988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0058" y="914402"/>
            <a:ext cx="5784056" cy="2459826"/>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34301" y="888999"/>
            <a:ext cx="8836814" cy="77978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20058" y="3374229"/>
            <a:ext cx="5784056" cy="5312571"/>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57891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20" y="914400"/>
            <a:ext cx="8901762" cy="2459829"/>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071082" y="914402"/>
            <a:ext cx="5500035" cy="77723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712116" y="3374229"/>
            <a:ext cx="8901767" cy="5312571"/>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2722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6" y="6456997"/>
            <a:ext cx="14868533" cy="1229033"/>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2117" y="909639"/>
            <a:ext cx="14868531" cy="4949667"/>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48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712047" y="7686030"/>
            <a:ext cx="14866289" cy="1023708"/>
          </a:xfrm>
        </p:spPr>
        <p:txBody>
          <a:bodyPr>
            <a:normAutofit/>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8741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85" y="914400"/>
            <a:ext cx="14858933" cy="5143500"/>
          </a:xfrm>
        </p:spPr>
        <p:txBody>
          <a:bodyPr anchor="ctr">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1712116" y="6629399"/>
            <a:ext cx="14856689" cy="2057399"/>
          </a:xfrm>
        </p:spPr>
        <p:txBody>
          <a:bodyPr anchor="ctr">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55200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18" y="914399"/>
            <a:ext cx="13954128" cy="4122644"/>
          </a:xfrm>
        </p:spPr>
        <p:txBody>
          <a:bodyPr anchor="ctr">
            <a:normAutofit/>
          </a:bodyPr>
          <a:lstStyle>
            <a:lvl1pPr>
              <a:defRPr sz="5400"/>
            </a:lvl1pPr>
          </a:lstStyle>
          <a:p>
            <a:r>
              <a:rPr lang="en-US"/>
              <a:t>Click to edit Master title style</a:t>
            </a:r>
            <a:endParaRPr lang="en-US" dirty="0"/>
          </a:p>
        </p:txBody>
      </p:sp>
      <p:sp>
        <p:nvSpPr>
          <p:cNvPr id="12" name="Text Placeholder 3"/>
          <p:cNvSpPr>
            <a:spLocks noGrp="1"/>
          </p:cNvSpPr>
          <p:nvPr>
            <p:ph type="body" sz="half" idx="13"/>
          </p:nvPr>
        </p:nvSpPr>
        <p:spPr>
          <a:xfrm>
            <a:off x="2580967" y="5048336"/>
            <a:ext cx="13128449" cy="823452"/>
          </a:xfrm>
        </p:spPr>
        <p:txBody>
          <a:bodyPr anchor="t">
            <a:normAutofit/>
          </a:bodyPr>
          <a:lstStyle>
            <a:lvl1pPr marL="0" indent="0">
              <a:buNone/>
              <a:defRPr sz="21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4" name="Text Placeholder 3"/>
          <p:cNvSpPr>
            <a:spLocks noGrp="1"/>
          </p:cNvSpPr>
          <p:nvPr>
            <p:ph type="body" sz="half" idx="2"/>
          </p:nvPr>
        </p:nvSpPr>
        <p:spPr>
          <a:xfrm>
            <a:off x="1712117" y="6464879"/>
            <a:ext cx="14859003" cy="2234244"/>
          </a:xfrm>
        </p:spPr>
        <p:txBody>
          <a:bodyPr anchor="ctr">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60" name="TextBox 59"/>
          <p:cNvSpPr txBox="1"/>
          <p:nvPr/>
        </p:nvSpPr>
        <p:spPr>
          <a:xfrm>
            <a:off x="1355268" y="1098591"/>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61" name="TextBox 60"/>
          <p:cNvSpPr txBox="1"/>
          <p:nvPr/>
        </p:nvSpPr>
        <p:spPr>
          <a:xfrm>
            <a:off x="15806055" y="4147458"/>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3011722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12116" y="3201062"/>
            <a:ext cx="14859002" cy="3767753"/>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1712047" y="6986483"/>
            <a:ext cx="14856758" cy="1710966"/>
          </a:xfrm>
        </p:spPr>
        <p:txBody>
          <a:bodyPr anchor="t">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44531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712120" y="914400"/>
            <a:ext cx="14858997" cy="28575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712116" y="4011695"/>
            <a:ext cx="4795349"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Text Placeholder 3"/>
          <p:cNvSpPr>
            <a:spLocks noGrp="1"/>
          </p:cNvSpPr>
          <p:nvPr>
            <p:ph type="body" sz="half" idx="15"/>
          </p:nvPr>
        </p:nvSpPr>
        <p:spPr>
          <a:xfrm>
            <a:off x="1691878" y="5040395"/>
            <a:ext cx="4813103"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9" name="Text Placeholder 4"/>
          <p:cNvSpPr>
            <a:spLocks noGrp="1"/>
          </p:cNvSpPr>
          <p:nvPr>
            <p:ph type="body" sz="quarter" idx="3"/>
          </p:nvPr>
        </p:nvSpPr>
        <p:spPr>
          <a:xfrm>
            <a:off x="6772150" y="4016453"/>
            <a:ext cx="4776578"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0" name="Text Placeholder 3"/>
          <p:cNvSpPr>
            <a:spLocks noGrp="1"/>
          </p:cNvSpPr>
          <p:nvPr>
            <p:ph type="body" sz="half" idx="16"/>
          </p:nvPr>
        </p:nvSpPr>
        <p:spPr>
          <a:xfrm>
            <a:off x="6756320" y="5045153"/>
            <a:ext cx="4793745"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1" name="Text Placeholder 4"/>
          <p:cNvSpPr>
            <a:spLocks noGrp="1"/>
          </p:cNvSpPr>
          <p:nvPr>
            <p:ph type="body" sz="quarter" idx="13"/>
          </p:nvPr>
        </p:nvSpPr>
        <p:spPr>
          <a:xfrm>
            <a:off x="11778663" y="4011695"/>
            <a:ext cx="4792452"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Text Placeholder 3"/>
          <p:cNvSpPr>
            <a:spLocks noGrp="1"/>
          </p:cNvSpPr>
          <p:nvPr>
            <p:ph type="body" sz="half" idx="17"/>
          </p:nvPr>
        </p:nvSpPr>
        <p:spPr>
          <a:xfrm>
            <a:off x="11778663" y="5040395"/>
            <a:ext cx="4792452"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9/28/2025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84963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712117" y="914400"/>
            <a:ext cx="14858999" cy="28575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712120" y="6606894"/>
            <a:ext cx="4792860"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Picture Placeholder 2"/>
          <p:cNvSpPr>
            <a:spLocks noGrp="1" noChangeAspect="1"/>
          </p:cNvSpPr>
          <p:nvPr>
            <p:ph type="pic" idx="15"/>
          </p:nvPr>
        </p:nvSpPr>
        <p:spPr>
          <a:xfrm>
            <a:off x="1712120" y="4000497"/>
            <a:ext cx="4792860"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712120" y="7471288"/>
            <a:ext cx="4792860" cy="1226765"/>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2" name="Text Placeholder 4"/>
          <p:cNvSpPr>
            <a:spLocks noGrp="1"/>
          </p:cNvSpPr>
          <p:nvPr>
            <p:ph type="body" sz="quarter" idx="3"/>
          </p:nvPr>
        </p:nvSpPr>
        <p:spPr>
          <a:xfrm>
            <a:off x="6733580" y="6606894"/>
            <a:ext cx="4800600"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3" name="Picture Placeholder 2"/>
          <p:cNvSpPr>
            <a:spLocks noGrp="1" noChangeAspect="1"/>
          </p:cNvSpPr>
          <p:nvPr>
            <p:ph type="pic" idx="21"/>
          </p:nvPr>
        </p:nvSpPr>
        <p:spPr>
          <a:xfrm>
            <a:off x="6733580" y="4000497"/>
            <a:ext cx="4798410"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6731390" y="7471286"/>
            <a:ext cx="4800600" cy="1215513"/>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5" name="Text Placeholder 4"/>
          <p:cNvSpPr>
            <a:spLocks noGrp="1"/>
          </p:cNvSpPr>
          <p:nvPr>
            <p:ph type="body" sz="quarter" idx="13"/>
          </p:nvPr>
        </p:nvSpPr>
        <p:spPr>
          <a:xfrm>
            <a:off x="11778851" y="6606893"/>
            <a:ext cx="4786112"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6" name="Picture Placeholder 2"/>
          <p:cNvSpPr>
            <a:spLocks noGrp="1" noChangeAspect="1"/>
          </p:cNvSpPr>
          <p:nvPr>
            <p:ph type="pic" idx="22"/>
          </p:nvPr>
        </p:nvSpPr>
        <p:spPr>
          <a:xfrm>
            <a:off x="11778664" y="4000497"/>
            <a:ext cx="4792454"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11778663" y="7471281"/>
            <a:ext cx="4792452" cy="121551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9/28/2025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8892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8631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563601" y="914399"/>
            <a:ext cx="3007517" cy="777240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2115" y="914399"/>
            <a:ext cx="11622885" cy="77724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331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21432" y="1"/>
            <a:ext cx="18080832" cy="10287002"/>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712120" y="927777"/>
            <a:ext cx="14858997" cy="2217855"/>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712119" y="3374230"/>
            <a:ext cx="14858999" cy="53125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85382" y="8824915"/>
            <a:ext cx="4114800" cy="547688"/>
          </a:xfrm>
          <a:prstGeom prst="rect">
            <a:avLst/>
          </a:prstGeom>
        </p:spPr>
        <p:txBody>
          <a:bodyPr vert="horz" lIns="91440" tIns="45720" rIns="91440" bIns="45720" rtlCol="0" anchor="ctr"/>
          <a:lstStyle>
            <a:lvl1pPr algn="r">
              <a:defRPr sz="1575">
                <a:solidFill>
                  <a:schemeClr val="tx1">
                    <a:tint val="75000"/>
                  </a:schemeClr>
                </a:solidFill>
              </a:defRPr>
            </a:lvl1pPr>
          </a:lstStyle>
          <a:p>
            <a:fld id="{1D8BD707-D9CF-40AE-B4C6-C98DA3205C09}" type="datetimeFigureOut">
              <a:rPr lang="en-US" smtClean="0"/>
              <a:pPr/>
              <a:t>9/28/2025</a:t>
            </a:fld>
            <a:endParaRPr lang="en-US"/>
          </a:p>
        </p:txBody>
      </p:sp>
      <p:sp>
        <p:nvSpPr>
          <p:cNvPr id="5" name="Footer Placeholder 4"/>
          <p:cNvSpPr>
            <a:spLocks noGrp="1"/>
          </p:cNvSpPr>
          <p:nvPr>
            <p:ph type="ftr" sz="quarter" idx="3"/>
          </p:nvPr>
        </p:nvSpPr>
        <p:spPr>
          <a:xfrm>
            <a:off x="1712117" y="8824913"/>
            <a:ext cx="9358964" cy="547688"/>
          </a:xfrm>
          <a:prstGeom prst="rect">
            <a:avLst/>
          </a:prstGeom>
        </p:spPr>
        <p:txBody>
          <a:bodyPr vert="horz" lIns="91440" tIns="45720" rIns="91440" bIns="45720" rtlCol="0" anchor="ctr"/>
          <a:lstStyle>
            <a:lvl1pPr algn="l">
              <a:defRPr sz="1575"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14482" y="8824912"/>
            <a:ext cx="1156634" cy="547688"/>
          </a:xfrm>
          <a:prstGeom prst="rect">
            <a:avLst/>
          </a:prstGeom>
        </p:spPr>
        <p:txBody>
          <a:bodyPr vert="horz" lIns="91440" tIns="45720" rIns="91440" bIns="45720" rtlCol="0" anchor="ctr"/>
          <a:lstStyle>
            <a:lvl1pPr algn="r">
              <a:defRPr sz="1575">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6889703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1371600" rtl="0" eaLnBrk="1" latinLnBrk="0" hangingPunct="1">
        <a:lnSpc>
          <a:spcPct val="90000"/>
        </a:lnSpc>
        <a:spcBef>
          <a:spcPct val="0"/>
        </a:spcBef>
        <a:buNone/>
        <a:defRPr sz="5400" kern="1200" cap="all" baseline="0">
          <a:solidFill>
            <a:schemeClr val="tx1"/>
          </a:solidFill>
          <a:latin typeface="+mj-lt"/>
          <a:ea typeface="+mj-ea"/>
          <a:cs typeface="+mj-cs"/>
        </a:defRPr>
      </a:lvl1pPr>
    </p:titleStyle>
    <p:bodyStyle>
      <a:lvl1pPr marL="342900" indent="-342900" algn="l" defTabSz="1371600" rtl="0" eaLnBrk="1" latinLnBrk="0" hangingPunct="1">
        <a:lnSpc>
          <a:spcPct val="120000"/>
        </a:lnSpc>
        <a:spcBef>
          <a:spcPts val="1500"/>
        </a:spcBef>
        <a:buSzPct val="125000"/>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120000"/>
        </a:lnSpc>
        <a:spcBef>
          <a:spcPts val="750"/>
        </a:spcBef>
        <a:buSzPct val="125000"/>
        <a:buFont typeface="Arial" panose="020B0604020202020204" pitchFamily="34" charset="0"/>
        <a:buChar char="•"/>
        <a:defRPr sz="3000" kern="1200">
          <a:solidFill>
            <a:schemeClr val="tx1"/>
          </a:solidFill>
          <a:latin typeface="+mn-lt"/>
          <a:ea typeface="+mn-ea"/>
          <a:cs typeface="+mn-cs"/>
        </a:defRPr>
      </a:lvl2pPr>
      <a:lvl3pPr marL="1714500" indent="-342900" algn="l" defTabSz="1371600" rtl="0" eaLnBrk="1" latinLnBrk="0" hangingPunct="1">
        <a:lnSpc>
          <a:spcPct val="120000"/>
        </a:lnSpc>
        <a:spcBef>
          <a:spcPts val="750"/>
        </a:spcBef>
        <a:buSzPct val="125000"/>
        <a:buFont typeface="Arial" panose="020B0604020202020204" pitchFamily="34" charset="0"/>
        <a:buChar char="•"/>
        <a:defRPr sz="2700" kern="1200">
          <a:solidFill>
            <a:schemeClr val="tx1"/>
          </a:solidFill>
          <a:latin typeface="+mn-lt"/>
          <a:ea typeface="+mn-ea"/>
          <a:cs typeface="+mn-cs"/>
        </a:defRPr>
      </a:lvl3pPr>
      <a:lvl4pPr marL="2400300" indent="-342900" algn="l" defTabSz="1371600" rtl="0" eaLnBrk="1" latinLnBrk="0" hangingPunct="1">
        <a:lnSpc>
          <a:spcPct val="120000"/>
        </a:lnSpc>
        <a:spcBef>
          <a:spcPts val="750"/>
        </a:spcBef>
        <a:buSzPct val="125000"/>
        <a:buFont typeface="Arial" panose="020B0604020202020204" pitchFamily="34" charset="0"/>
        <a:buChar char="•"/>
        <a:defRPr sz="2400" kern="1200">
          <a:solidFill>
            <a:schemeClr val="tx1"/>
          </a:solidFill>
          <a:latin typeface="+mn-lt"/>
          <a:ea typeface="+mn-ea"/>
          <a:cs typeface="+mn-cs"/>
        </a:defRPr>
      </a:lvl4pPr>
      <a:lvl5pPr marL="3086100" indent="-342900" algn="l" defTabSz="1371600" rtl="0" eaLnBrk="1" latinLnBrk="0" hangingPunct="1">
        <a:lnSpc>
          <a:spcPct val="120000"/>
        </a:lnSpc>
        <a:spcBef>
          <a:spcPts val="750"/>
        </a:spcBef>
        <a:buSzPct val="125000"/>
        <a:buFont typeface="Arial" panose="020B0604020202020204" pitchFamily="34" charset="0"/>
        <a:buChar char="•"/>
        <a:defRPr sz="2400" kern="1200">
          <a:solidFill>
            <a:schemeClr val="tx1"/>
          </a:solidFill>
          <a:latin typeface="+mn-lt"/>
          <a:ea typeface="+mn-ea"/>
          <a:cs typeface="+mn-cs"/>
        </a:defRPr>
      </a:lvl5pPr>
      <a:lvl6pPr marL="37719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6pPr>
      <a:lvl7pPr marL="44577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7pPr>
      <a:lvl8pPr marL="51435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8pPr>
      <a:lvl9pPr marL="58293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F5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419850" cy="10287000"/>
            <a:chOff x="0" y="0"/>
            <a:chExt cx="1690825" cy="2709333"/>
          </a:xfrm>
        </p:grpSpPr>
        <p:sp>
          <p:nvSpPr>
            <p:cNvPr id="3" name="Freeform 3"/>
            <p:cNvSpPr/>
            <p:nvPr/>
          </p:nvSpPr>
          <p:spPr>
            <a:xfrm>
              <a:off x="0" y="0"/>
              <a:ext cx="1690825" cy="2709333"/>
            </a:xfrm>
            <a:custGeom>
              <a:avLst/>
              <a:gdLst/>
              <a:ahLst/>
              <a:cxnLst/>
              <a:rect l="l" t="t" r="r" b="b"/>
              <a:pathLst>
                <a:path w="1690825" h="2709333">
                  <a:moveTo>
                    <a:pt x="0" y="0"/>
                  </a:moveTo>
                  <a:lnTo>
                    <a:pt x="1690825" y="0"/>
                  </a:lnTo>
                  <a:lnTo>
                    <a:pt x="1690825" y="2709333"/>
                  </a:lnTo>
                  <a:lnTo>
                    <a:pt x="0" y="2709333"/>
                  </a:lnTo>
                  <a:close/>
                </a:path>
              </a:pathLst>
            </a:custGeom>
            <a:solidFill>
              <a:srgbClr val="CBD4DE"/>
            </a:solidFill>
          </p:spPr>
          <p:txBody>
            <a:bodyPr/>
            <a:lstStyle/>
            <a:p>
              <a:endParaRPr lang="en-US"/>
            </a:p>
          </p:txBody>
        </p:sp>
        <p:sp>
          <p:nvSpPr>
            <p:cNvPr id="4" name="TextBox 4"/>
            <p:cNvSpPr txBox="1"/>
            <p:nvPr/>
          </p:nvSpPr>
          <p:spPr>
            <a:xfrm>
              <a:off x="0" y="-47625"/>
              <a:ext cx="1690825" cy="2756958"/>
            </a:xfrm>
            <a:prstGeom prst="rect">
              <a:avLst/>
            </a:prstGeom>
          </p:spPr>
          <p:txBody>
            <a:bodyPr lIns="50800" tIns="50800" rIns="50800" bIns="50800" rtlCol="0" anchor="ctr"/>
            <a:lstStyle/>
            <a:p>
              <a:pPr marL="0" lvl="0" indent="0" algn="ctr">
                <a:lnSpc>
                  <a:spcPts val="3359"/>
                </a:lnSpc>
              </a:pPr>
              <a:endParaRPr/>
            </a:p>
          </p:txBody>
        </p:sp>
      </p:grpSp>
      <p:grpSp>
        <p:nvGrpSpPr>
          <p:cNvPr id="5" name="Group 5"/>
          <p:cNvGrpSpPr/>
          <p:nvPr/>
        </p:nvGrpSpPr>
        <p:grpSpPr>
          <a:xfrm>
            <a:off x="666750" y="666750"/>
            <a:ext cx="7191375" cy="8966200"/>
            <a:chOff x="0" y="0"/>
            <a:chExt cx="1614733" cy="2013248"/>
          </a:xfrm>
        </p:grpSpPr>
        <p:sp>
          <p:nvSpPr>
            <p:cNvPr id="6" name="Freeform 6"/>
            <p:cNvSpPr/>
            <p:nvPr/>
          </p:nvSpPr>
          <p:spPr>
            <a:xfrm>
              <a:off x="0" y="0"/>
              <a:ext cx="1614733" cy="2013248"/>
            </a:xfrm>
            <a:custGeom>
              <a:avLst/>
              <a:gdLst/>
              <a:ahLst/>
              <a:cxnLst/>
              <a:rect l="l" t="t" r="r" b="b"/>
              <a:pathLst>
                <a:path w="1614733" h="2013248">
                  <a:moveTo>
                    <a:pt x="0" y="0"/>
                  </a:moveTo>
                  <a:lnTo>
                    <a:pt x="1614733" y="0"/>
                  </a:lnTo>
                  <a:lnTo>
                    <a:pt x="1614733" y="2013248"/>
                  </a:lnTo>
                  <a:lnTo>
                    <a:pt x="0" y="2013248"/>
                  </a:lnTo>
                  <a:close/>
                </a:path>
              </a:pathLst>
            </a:custGeom>
            <a:blipFill>
              <a:blip r:embed="rId2"/>
              <a:stretch>
                <a:fillRect t="-128" b="-128"/>
              </a:stretch>
            </a:blipFill>
          </p:spPr>
          <p:txBody>
            <a:bodyPr/>
            <a:lstStyle/>
            <a:p>
              <a:endParaRPr lang="en-US"/>
            </a:p>
          </p:txBody>
        </p:sp>
      </p:grpSp>
      <p:grpSp>
        <p:nvGrpSpPr>
          <p:cNvPr id="7" name="Group 7"/>
          <p:cNvGrpSpPr/>
          <p:nvPr/>
        </p:nvGrpSpPr>
        <p:grpSpPr>
          <a:xfrm>
            <a:off x="18097862" y="0"/>
            <a:ext cx="190138" cy="10287000"/>
            <a:chOff x="0" y="0"/>
            <a:chExt cx="50077" cy="2709333"/>
          </a:xfrm>
        </p:grpSpPr>
        <p:sp>
          <p:nvSpPr>
            <p:cNvPr id="8" name="Freeform 8"/>
            <p:cNvSpPr/>
            <p:nvPr/>
          </p:nvSpPr>
          <p:spPr>
            <a:xfrm>
              <a:off x="0" y="0"/>
              <a:ext cx="50077" cy="2709333"/>
            </a:xfrm>
            <a:custGeom>
              <a:avLst/>
              <a:gdLst/>
              <a:ahLst/>
              <a:cxnLst/>
              <a:rect l="l" t="t" r="r" b="b"/>
              <a:pathLst>
                <a:path w="50077" h="2709333">
                  <a:moveTo>
                    <a:pt x="0" y="0"/>
                  </a:moveTo>
                  <a:lnTo>
                    <a:pt x="50077" y="0"/>
                  </a:lnTo>
                  <a:lnTo>
                    <a:pt x="50077" y="2709333"/>
                  </a:lnTo>
                  <a:lnTo>
                    <a:pt x="0" y="2709333"/>
                  </a:lnTo>
                  <a:close/>
                </a:path>
              </a:pathLst>
            </a:custGeom>
            <a:solidFill>
              <a:srgbClr val="CBD4DE"/>
            </a:solidFill>
          </p:spPr>
          <p:txBody>
            <a:bodyPr/>
            <a:lstStyle/>
            <a:p>
              <a:endParaRPr lang="en-US"/>
            </a:p>
          </p:txBody>
        </p:sp>
        <p:sp>
          <p:nvSpPr>
            <p:cNvPr id="9" name="TextBox 9"/>
            <p:cNvSpPr txBox="1"/>
            <p:nvPr/>
          </p:nvSpPr>
          <p:spPr>
            <a:xfrm>
              <a:off x="0" y="-47625"/>
              <a:ext cx="50077" cy="2756958"/>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10" name="Group 10"/>
          <p:cNvGrpSpPr/>
          <p:nvPr/>
        </p:nvGrpSpPr>
        <p:grpSpPr>
          <a:xfrm>
            <a:off x="9296400" y="1562100"/>
            <a:ext cx="6886575" cy="5344160"/>
            <a:chOff x="0" y="0"/>
            <a:chExt cx="9182100" cy="7125547"/>
          </a:xfrm>
        </p:grpSpPr>
        <p:sp>
          <p:nvSpPr>
            <p:cNvPr id="11" name="TextBox 11"/>
            <p:cNvSpPr txBox="1"/>
            <p:nvPr/>
          </p:nvSpPr>
          <p:spPr>
            <a:xfrm>
              <a:off x="0" y="4365202"/>
              <a:ext cx="9182100" cy="2760345"/>
            </a:xfrm>
            <a:prstGeom prst="rect">
              <a:avLst/>
            </a:prstGeom>
          </p:spPr>
          <p:txBody>
            <a:bodyPr lIns="0" tIns="0" rIns="0" bIns="0" rtlCol="0" anchor="t">
              <a:spAutoFit/>
            </a:bodyPr>
            <a:lstStyle/>
            <a:p>
              <a:pPr marL="0" lvl="0" indent="0" algn="l">
                <a:lnSpc>
                  <a:spcPts val="3359"/>
                </a:lnSpc>
              </a:pPr>
              <a:r>
                <a:rPr lang="en-US" sz="2400">
                  <a:solidFill>
                    <a:srgbClr val="FFFFFF"/>
                  </a:solidFill>
                  <a:latin typeface="Fira Sans Light"/>
                  <a:ea typeface="Fira Sans Light"/>
                  <a:cs typeface="Fira Sans Light"/>
                  <a:sym typeface="Fira Sans Light"/>
                </a:rPr>
                <a:t>This executive workshop will explore best practices and advancements in securing and privatizing AI applications within robotics, aimed at empowering senior leaders to make informed decisions.</a:t>
              </a:r>
            </a:p>
          </p:txBody>
        </p:sp>
        <p:sp>
          <p:nvSpPr>
            <p:cNvPr id="12" name="TextBox 12"/>
            <p:cNvSpPr txBox="1"/>
            <p:nvPr/>
          </p:nvSpPr>
          <p:spPr>
            <a:xfrm>
              <a:off x="0" y="28575"/>
              <a:ext cx="9182100" cy="3689985"/>
            </a:xfrm>
            <a:prstGeom prst="rect">
              <a:avLst/>
            </a:prstGeom>
          </p:spPr>
          <p:txBody>
            <a:bodyPr lIns="0" tIns="0" rIns="0" bIns="0" rtlCol="0" anchor="t">
              <a:spAutoFit/>
            </a:bodyPr>
            <a:lstStyle/>
            <a:p>
              <a:pPr marL="0" lvl="0" indent="0" algn="l">
                <a:lnSpc>
                  <a:spcPts val="10560"/>
                </a:lnSpc>
              </a:pPr>
              <a:r>
                <a:rPr lang="en-US" sz="9600">
                  <a:solidFill>
                    <a:srgbClr val="FFFFFF"/>
                  </a:solidFill>
                  <a:latin typeface="Helios Extended"/>
                  <a:ea typeface="Helios Extended"/>
                  <a:cs typeface="Helios Extended"/>
                  <a:sym typeface="Helios Extended"/>
                </a:rPr>
                <a:t>Secure &amp; Private AI</a:t>
              </a:r>
            </a:p>
          </p:txBody>
        </p:sp>
      </p:grpSp>
      <p:sp>
        <p:nvSpPr>
          <p:cNvPr id="13" name="TextBox 13"/>
          <p:cNvSpPr txBox="1"/>
          <p:nvPr/>
        </p:nvSpPr>
        <p:spPr>
          <a:xfrm>
            <a:off x="9296400" y="8677275"/>
            <a:ext cx="6886575" cy="422275"/>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CBD4DE"/>
                </a:solidFill>
                <a:latin typeface="Fira Sans Bold"/>
                <a:ea typeface="Fira Sans Bold"/>
                <a:cs typeface="Fira Sans Bold"/>
                <a:sym typeface="Fira Sans Bold"/>
              </a:rPr>
              <a:t>BY NAIGAM BHATT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A2A3E"/>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6886575" cy="5691482"/>
            <a:chOff x="0" y="0"/>
            <a:chExt cx="9182100" cy="7588643"/>
          </a:xfrm>
        </p:grpSpPr>
        <p:sp>
          <p:nvSpPr>
            <p:cNvPr id="3" name="TextBox 3"/>
            <p:cNvSpPr txBox="1"/>
            <p:nvPr/>
          </p:nvSpPr>
          <p:spPr>
            <a:xfrm>
              <a:off x="0" y="1576251"/>
              <a:ext cx="9182100" cy="6012391"/>
            </a:xfrm>
            <a:prstGeom prst="rect">
              <a:avLst/>
            </a:prstGeom>
          </p:spPr>
          <p:txBody>
            <a:bodyPr lIns="0" tIns="0" rIns="0" bIns="0" rtlCol="0" anchor="t">
              <a:spAutoFit/>
            </a:bodyPr>
            <a:lstStyle/>
            <a:p>
              <a:pPr marL="0" marR="0" lvl="0" indent="0" algn="l" defTabSz="914400" rtl="0" eaLnBrk="1" fontAlgn="auto" latinLnBrk="0" hangingPunct="1">
                <a:lnSpc>
                  <a:spcPts val="3250"/>
                </a:lnSpc>
                <a:spcBef>
                  <a:spcPts val="0"/>
                </a:spcBef>
                <a:spcAft>
                  <a:spcPts val="0"/>
                </a:spcAft>
                <a:buClrTx/>
                <a:buSzTx/>
                <a:buFontTx/>
                <a:buNone/>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The integration of AI in robotics presents </a:t>
              </a:r>
              <a:r>
                <a:rPr kumimoji="0" lang="en-US" sz="2500" b="1" i="0" u="none" strike="noStrike" kern="1200" cap="none" spc="-25" normalizeH="0" baseline="0" noProof="0">
                  <a:ln>
                    <a:noFill/>
                  </a:ln>
                  <a:solidFill>
                    <a:srgbClr val="D6D9E6"/>
                  </a:solidFill>
                  <a:effectLst/>
                  <a:uLnTx/>
                  <a:uFillTx/>
                  <a:latin typeface="Telegraf Bold"/>
                  <a:ea typeface="Telegraf Bold"/>
                  <a:cs typeface="Telegraf Bold"/>
                  <a:sym typeface="Telegraf Bold"/>
                </a:rPr>
                <a:t>vast opportunities</a:t>
              </a: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 that can transform industries.</a:t>
              </a:r>
            </a:p>
            <a:p>
              <a:pPr marL="539753" marR="0" lvl="1" indent="-269876" algn="l" defTabSz="914400" rtl="0" eaLnBrk="1" fontAlgn="auto" latinLnBrk="0" hangingPunct="1">
                <a:lnSpc>
                  <a:spcPts val="3250"/>
                </a:lnSpc>
                <a:spcBef>
                  <a:spcPts val="0"/>
                </a:spcBef>
                <a:spcAft>
                  <a:spcPts val="0"/>
                </a:spcAft>
                <a:buClrTx/>
                <a:buSzTx/>
                <a:buFont typeface="Arial"/>
                <a:buChar char="•"/>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Automation: Robots can take on complex tasks autonomously, enhancing productivity.</a:t>
              </a:r>
            </a:p>
            <a:p>
              <a:pPr marL="539753" marR="0" lvl="1" indent="-269876" algn="l" defTabSz="914400" rtl="0" eaLnBrk="1" fontAlgn="auto" latinLnBrk="0" hangingPunct="1">
                <a:lnSpc>
                  <a:spcPts val="3250"/>
                </a:lnSpc>
                <a:spcBef>
                  <a:spcPts val="0"/>
                </a:spcBef>
                <a:spcAft>
                  <a:spcPts val="0"/>
                </a:spcAft>
                <a:buClrTx/>
                <a:buSzTx/>
                <a:buFont typeface="Arial"/>
                <a:buChar char="•"/>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Efficiency: The speed and precision of operations improve significantly, leading to cost savings.</a:t>
              </a:r>
            </a:p>
            <a:p>
              <a:pPr marL="539753" marR="0" lvl="1" indent="-269876" algn="l" defTabSz="914400" rtl="0" eaLnBrk="1" fontAlgn="auto" latinLnBrk="0" hangingPunct="1">
                <a:lnSpc>
                  <a:spcPts val="3250"/>
                </a:lnSpc>
                <a:spcBef>
                  <a:spcPts val="0"/>
                </a:spcBef>
                <a:spcAft>
                  <a:spcPts val="0"/>
                </a:spcAft>
                <a:buClrTx/>
                <a:buSzTx/>
                <a:buFont typeface="Arial"/>
                <a:buChar char="•"/>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Innovation: AI-powered robotics introduce new capabilities, creating fresh business models.</a:t>
              </a:r>
            </a:p>
          </p:txBody>
        </p:sp>
        <p:sp>
          <p:nvSpPr>
            <p:cNvPr id="4" name="TextBox 4"/>
            <p:cNvSpPr txBox="1"/>
            <p:nvPr/>
          </p:nvSpPr>
          <p:spPr>
            <a:xfrm>
              <a:off x="0" y="-19050"/>
              <a:ext cx="9182100" cy="11874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ts val="0"/>
                </a:spcBef>
                <a:spcAft>
                  <a:spcPts val="0"/>
                </a:spcAft>
                <a:buClrTx/>
                <a:buSzTx/>
                <a:buFontTx/>
                <a:buNone/>
                <a:tabLst/>
                <a:defRPr/>
              </a:pPr>
              <a:r>
                <a:rPr kumimoji="0" lang="en-US" sz="3000" b="1" i="0" u="none" strike="noStrike" kern="1200" cap="none" spc="-30" normalizeH="0" baseline="0" noProof="0">
                  <a:ln>
                    <a:noFill/>
                  </a:ln>
                  <a:solidFill>
                    <a:srgbClr val="8AB4F8"/>
                  </a:solidFill>
                  <a:effectLst/>
                  <a:uLnTx/>
                  <a:uFillTx/>
                  <a:latin typeface="Telegraf Bold"/>
                  <a:ea typeface="Telegraf Bold"/>
                  <a:cs typeface="Telegraf Bold"/>
                  <a:sym typeface="Telegraf Bold"/>
                </a:rPr>
                <a:t>Understanding the balance of opportunities and risks in AI robotics</a:t>
              </a:r>
            </a:p>
          </p:txBody>
        </p:sp>
      </p:grpSp>
      <p:grpSp>
        <p:nvGrpSpPr>
          <p:cNvPr id="5" name="Group 5"/>
          <p:cNvGrpSpPr/>
          <p:nvPr/>
        </p:nvGrpSpPr>
        <p:grpSpPr>
          <a:xfrm>
            <a:off x="9296400" y="666750"/>
            <a:ext cx="6886575" cy="4881857"/>
            <a:chOff x="0" y="0"/>
            <a:chExt cx="9182100" cy="6509143"/>
          </a:xfrm>
        </p:grpSpPr>
        <p:sp>
          <p:nvSpPr>
            <p:cNvPr id="6" name="TextBox 6"/>
            <p:cNvSpPr txBox="1"/>
            <p:nvPr/>
          </p:nvSpPr>
          <p:spPr>
            <a:xfrm>
              <a:off x="0" y="2135051"/>
              <a:ext cx="9182100" cy="4374091"/>
            </a:xfrm>
            <a:prstGeom prst="rect">
              <a:avLst/>
            </a:prstGeom>
          </p:spPr>
          <p:txBody>
            <a:bodyPr lIns="0" tIns="0" rIns="0" bIns="0" rtlCol="0" anchor="t">
              <a:spAutoFit/>
            </a:bodyPr>
            <a:lstStyle/>
            <a:p>
              <a:pPr marL="0" marR="0" lvl="0" indent="0" algn="l" defTabSz="914400" rtl="0" eaLnBrk="1" fontAlgn="auto" latinLnBrk="0" hangingPunct="1">
                <a:lnSpc>
                  <a:spcPts val="3250"/>
                </a:lnSpc>
                <a:spcBef>
                  <a:spcPts val="0"/>
                </a:spcBef>
                <a:spcAft>
                  <a:spcPts val="0"/>
                </a:spcAft>
                <a:buClrTx/>
                <a:buSzTx/>
                <a:buFontTx/>
                <a:buNone/>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While the potential is great, there are risks that must be managed.</a:t>
              </a:r>
            </a:p>
            <a:p>
              <a:pPr marL="539753" marR="0" lvl="1" indent="-269876" algn="l" defTabSz="914400" rtl="0" eaLnBrk="1" fontAlgn="auto" latinLnBrk="0" hangingPunct="1">
                <a:lnSpc>
                  <a:spcPts val="3250"/>
                </a:lnSpc>
                <a:spcBef>
                  <a:spcPts val="0"/>
                </a:spcBef>
                <a:spcAft>
                  <a:spcPts val="0"/>
                </a:spcAft>
                <a:buClrTx/>
                <a:buSzTx/>
                <a:buFont typeface="Arial"/>
                <a:buChar char="•"/>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Data misuse can arise, leading to exposure of sensitive information.</a:t>
              </a:r>
            </a:p>
            <a:p>
              <a:pPr marL="539753" marR="0" lvl="1" indent="-269876" algn="l" defTabSz="914400" rtl="0" eaLnBrk="1" fontAlgn="auto" latinLnBrk="0" hangingPunct="1">
                <a:lnSpc>
                  <a:spcPts val="3250"/>
                </a:lnSpc>
                <a:spcBef>
                  <a:spcPts val="0"/>
                </a:spcBef>
                <a:spcAft>
                  <a:spcPts val="0"/>
                </a:spcAft>
                <a:buClrTx/>
                <a:buSzTx/>
                <a:buFont typeface="Arial"/>
                <a:buChar char="•"/>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Compliance fines may result from breaches of safety regulations.</a:t>
              </a:r>
            </a:p>
            <a:p>
              <a:pPr marL="539753" marR="0" lvl="1" indent="-269876" algn="l" defTabSz="914400" rtl="0" eaLnBrk="1" fontAlgn="auto" latinLnBrk="0" hangingPunct="1">
                <a:lnSpc>
                  <a:spcPts val="3250"/>
                </a:lnSpc>
                <a:spcBef>
                  <a:spcPts val="0"/>
                </a:spcBef>
                <a:spcAft>
                  <a:spcPts val="0"/>
                </a:spcAft>
                <a:buClrTx/>
                <a:buSzTx/>
                <a:buFont typeface="Arial"/>
                <a:buChar char="•"/>
                <a:tabLst/>
                <a:defRPr/>
              </a:pPr>
              <a:r>
                <a:rPr kumimoji="0" lang="en-US" sz="2500" b="0" i="0" u="none" strike="noStrike" kern="1200" cap="none" spc="-25" normalizeH="0" baseline="0" noProof="0">
                  <a:ln>
                    <a:noFill/>
                  </a:ln>
                  <a:solidFill>
                    <a:srgbClr val="D6D9E6"/>
                  </a:solidFill>
                  <a:effectLst/>
                  <a:uLnTx/>
                  <a:uFillTx/>
                  <a:latin typeface="Telegraf"/>
                  <a:ea typeface="Telegraf"/>
                  <a:cs typeface="Telegraf"/>
                  <a:sym typeface="Telegraf"/>
                </a:rPr>
                <a:t>Loss of trust can occur if AI systems fail or are misused, damaging reputations.</a:t>
              </a:r>
            </a:p>
          </p:txBody>
        </p:sp>
        <p:sp>
          <p:nvSpPr>
            <p:cNvPr id="7" name="TextBox 7"/>
            <p:cNvSpPr txBox="1"/>
            <p:nvPr/>
          </p:nvSpPr>
          <p:spPr>
            <a:xfrm>
              <a:off x="0" y="-19050"/>
              <a:ext cx="9182100" cy="17462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ts val="0"/>
                </a:spcBef>
                <a:spcAft>
                  <a:spcPts val="0"/>
                </a:spcAft>
                <a:buClrTx/>
                <a:buSzTx/>
                <a:buFontTx/>
                <a:buNone/>
                <a:tabLst/>
                <a:defRPr/>
              </a:pPr>
              <a:r>
                <a:rPr kumimoji="0" lang="en-US" sz="3000" b="1" i="0" u="none" strike="noStrike" kern="1200" cap="none" spc="-30" normalizeH="0" baseline="0" noProof="0">
                  <a:ln>
                    <a:noFill/>
                  </a:ln>
                  <a:solidFill>
                    <a:srgbClr val="8AB4F8"/>
                  </a:solidFill>
                  <a:effectLst/>
                  <a:uLnTx/>
                  <a:uFillTx/>
                  <a:latin typeface="Telegraf Bold"/>
                  <a:ea typeface="Telegraf Bold"/>
                  <a:cs typeface="Telegraf Bold"/>
                  <a:sym typeface="Telegraf Bold"/>
                </a:rPr>
                <a:t>Recognizing the critical risks associated with AI in robotics is essential</a:t>
              </a:r>
            </a:p>
          </p:txBody>
        </p:sp>
      </p:grpSp>
      <p:sp>
        <p:nvSpPr>
          <p:cNvPr id="8" name="AutoShape 8"/>
          <p:cNvSpPr/>
          <p:nvPr/>
        </p:nvSpPr>
        <p:spPr>
          <a:xfrm>
            <a:off x="666750" y="9620250"/>
            <a:ext cx="16954500" cy="0"/>
          </a:xfrm>
          <a:prstGeom prst="line">
            <a:avLst/>
          </a:prstGeom>
          <a:ln w="9525" cap="flat">
            <a:solidFill>
              <a:srgbClr val="D6D9E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p:cNvSpPr txBox="1"/>
          <p:nvPr/>
        </p:nvSpPr>
        <p:spPr>
          <a:xfrm>
            <a:off x="666750" y="9571680"/>
            <a:ext cx="2571750" cy="426720"/>
          </a:xfrm>
          <a:prstGeom prst="rect">
            <a:avLst/>
          </a:prstGeom>
        </p:spPr>
        <p:txBody>
          <a:bodyPr lIns="0" tIns="0" rIns="0" bIns="0" rtlCol="0" anchor="t">
            <a:spAutoFit/>
          </a:bodyPr>
          <a:lstStyle/>
          <a:p>
            <a:pPr marL="0" marR="0" lvl="0" indent="0" algn="l" defTabSz="914400" rtl="0" eaLnBrk="1" fontAlgn="auto" latinLnBrk="0" hangingPunct="1">
              <a:lnSpc>
                <a:spcPts val="1679"/>
              </a:lnSpc>
              <a:spcBef>
                <a:spcPct val="0"/>
              </a:spcBef>
              <a:spcAft>
                <a:spcPts val="0"/>
              </a:spcAft>
              <a:buClrTx/>
              <a:buSzTx/>
              <a:buFontTx/>
              <a:buNone/>
              <a:tabLst/>
              <a:defRPr/>
            </a:pPr>
            <a:r>
              <a:rPr kumimoji="0" lang="en-US" sz="1200" b="1" i="0" u="none" strike="noStrike" kern="1200" cap="none" spc="-12" normalizeH="0" baseline="0" noProof="0">
                <a:ln>
                  <a:noFill/>
                </a:ln>
                <a:solidFill>
                  <a:srgbClr val="D6D9E6"/>
                </a:solidFill>
                <a:effectLst/>
                <a:uLnTx/>
                <a:uFillTx/>
                <a:latin typeface="Telegraf Bold"/>
                <a:ea typeface="Telegraf Bold"/>
                <a:cs typeface="Telegraf Bold"/>
                <a:sym typeface="Telegraf Bold"/>
              </a:rPr>
              <a:t>OVERVIEW OF OPPORTUNITIES AND RISKS</a:t>
            </a:r>
          </a:p>
        </p:txBody>
      </p:sp>
      <p:sp>
        <p:nvSpPr>
          <p:cNvPr id="10" name="TextBox 10"/>
          <p:cNvSpPr txBox="1"/>
          <p:nvPr/>
        </p:nvSpPr>
        <p:spPr>
          <a:xfrm>
            <a:off x="17415597" y="9676442"/>
            <a:ext cx="152400" cy="190500"/>
          </a:xfrm>
          <a:prstGeom prst="rect">
            <a:avLst/>
          </a:prstGeom>
        </p:spPr>
        <p:txBody>
          <a:bodyPr wrap="none" lIns="0" tIns="0" rIns="0" bIns="0" rtlCol="0" anchor="t">
            <a:spAutoFit/>
          </a:bodyPr>
          <a:lstStyle/>
          <a:p>
            <a:pPr marL="0" marR="0" lvl="0" indent="0" algn="r" defTabSz="914400" rtl="0" eaLnBrk="1" fontAlgn="auto" latinLnBrk="0" hangingPunct="1">
              <a:lnSpc>
                <a:spcPts val="1679"/>
              </a:lnSpc>
              <a:spcBef>
                <a:spcPct val="0"/>
              </a:spcBef>
              <a:spcAft>
                <a:spcPts val="0"/>
              </a:spcAft>
              <a:buClrTx/>
              <a:buSzTx/>
              <a:buFontTx/>
              <a:buNone/>
              <a:tabLst/>
              <a:defRPr/>
            </a:pPr>
            <a:r>
              <a:rPr kumimoji="0" lang="en-US" sz="1200" b="1" i="0" u="none" strike="noStrike" kern="1200" cap="none" spc="0" normalizeH="0" baseline="0" noProof="0">
                <a:ln>
                  <a:noFill/>
                </a:ln>
                <a:solidFill>
                  <a:srgbClr val="D6D9E6"/>
                </a:solidFill>
                <a:effectLst/>
                <a:uLnTx/>
                <a:uFillTx/>
                <a:latin typeface="Telegraf Bold"/>
                <a:ea typeface="Telegraf Bold"/>
                <a:cs typeface="Telegraf Bold"/>
                <a:sym typeface="Telegraf Bold"/>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342"/>
        </a:solidFill>
        <a:effectLst/>
      </p:bgPr>
    </p:bg>
    <p:spTree>
      <p:nvGrpSpPr>
        <p:cNvPr id="1" name=""/>
        <p:cNvGrpSpPr/>
        <p:nvPr/>
      </p:nvGrpSpPr>
      <p:grpSpPr>
        <a:xfrm>
          <a:off x="0" y="0"/>
          <a:ext cx="0" cy="0"/>
          <a:chOff x="0" y="0"/>
          <a:chExt cx="0" cy="0"/>
        </a:xfrm>
      </p:grpSpPr>
      <p:grpSp>
        <p:nvGrpSpPr>
          <p:cNvPr id="2" name="Group 2"/>
          <p:cNvGrpSpPr/>
          <p:nvPr/>
        </p:nvGrpSpPr>
        <p:grpSpPr>
          <a:xfrm>
            <a:off x="666750" y="5619750"/>
            <a:ext cx="4010025" cy="3057525"/>
            <a:chOff x="0" y="0"/>
            <a:chExt cx="5346700" cy="4076700"/>
          </a:xfrm>
        </p:grpSpPr>
        <p:sp>
          <p:nvSpPr>
            <p:cNvPr id="3" name="TextBox 3"/>
            <p:cNvSpPr txBox="1"/>
            <p:nvPr/>
          </p:nvSpPr>
          <p:spPr>
            <a:xfrm>
              <a:off x="0" y="0"/>
              <a:ext cx="5346700" cy="546100"/>
            </a:xfrm>
            <a:prstGeom prst="rect">
              <a:avLst/>
            </a:prstGeom>
          </p:spPr>
          <p:txBody>
            <a:bodyPr lIns="0" tIns="0" rIns="0" bIns="0" rtlCol="0" anchor="t">
              <a:spAutoFit/>
            </a:bodyPr>
            <a:lstStyle/>
            <a:p>
              <a:pPr marL="0" marR="0" lvl="0" indent="0" algn="l" defTabSz="914400" rtl="0" eaLnBrk="1" fontAlgn="auto" latinLnBrk="0" hangingPunct="1">
                <a:lnSpc>
                  <a:spcPts val="3296"/>
                </a:lnSpc>
                <a:spcBef>
                  <a:spcPct val="0"/>
                </a:spcBef>
                <a:spcAft>
                  <a:spcPts val="0"/>
                </a:spcAft>
                <a:buClrTx/>
                <a:buSzTx/>
                <a:buFontTx/>
                <a:buNone/>
                <a:tabLst/>
                <a:defRPr/>
              </a:pPr>
              <a:r>
                <a:rPr kumimoji="0" lang="en-US" sz="2747" b="1" i="0" u="none" strike="noStrike" kern="1200" cap="none" spc="0" normalizeH="0" baseline="0" noProof="0">
                  <a:ln>
                    <a:noFill/>
                  </a:ln>
                  <a:solidFill>
                    <a:srgbClr val="FFFFFF"/>
                  </a:solidFill>
                  <a:effectLst/>
                  <a:uLnTx/>
                  <a:uFillTx/>
                  <a:latin typeface="HK Grotesk Semi-Bold"/>
                  <a:ea typeface="HK Grotesk Semi-Bold"/>
                  <a:cs typeface="HK Grotesk Semi-Bold"/>
                  <a:sym typeface="HK Grotesk Semi-Bold"/>
                </a:rPr>
                <a:t>What Is Prompt Injection?</a:t>
              </a:r>
            </a:p>
          </p:txBody>
        </p:sp>
        <p:sp>
          <p:nvSpPr>
            <p:cNvPr id="4" name="TextBox 4"/>
            <p:cNvSpPr txBox="1"/>
            <p:nvPr/>
          </p:nvSpPr>
          <p:spPr>
            <a:xfrm>
              <a:off x="0" y="1231900"/>
              <a:ext cx="5346700" cy="2844800"/>
            </a:xfrm>
            <a:prstGeom prst="rect">
              <a:avLst/>
            </a:prstGeom>
          </p:spPr>
          <p:txBody>
            <a:bodyPr lIns="0" tIns="0" rIns="0" bIns="0" rtlCol="0" anchor="t">
              <a:spAutoFit/>
            </a:bodyPr>
            <a:lstStyle/>
            <a:p>
              <a:pPr marL="0" marR="0" lvl="0" indent="0" algn="l" defTabSz="914400" rtl="0" eaLnBrk="1" fontAlgn="auto" latinLnBrk="0" hangingPunct="1">
                <a:lnSpc>
                  <a:spcPts val="2151"/>
                </a:lnSpc>
                <a:spcBef>
                  <a:spcPct val="0"/>
                </a:spcBef>
                <a:spcAft>
                  <a:spcPts val="0"/>
                </a:spcAft>
                <a:buClrTx/>
                <a:buSzTx/>
                <a:buFontTx/>
                <a:buNone/>
                <a:tabLst/>
                <a:defRPr/>
              </a:pPr>
              <a:r>
                <a:rPr kumimoji="0" lang="en-US" sz="1792" b="0" i="0" u="none" strike="noStrike" kern="1200" cap="none" spc="0" normalizeH="0" baseline="0" noProof="0">
                  <a:ln>
                    <a:noFill/>
                  </a:ln>
                  <a:solidFill>
                    <a:srgbClr val="FFFFFF"/>
                  </a:solidFill>
                  <a:effectLst/>
                  <a:uLnTx/>
                  <a:uFillTx/>
                  <a:latin typeface="HK Grotesk"/>
                  <a:ea typeface="HK Grotesk"/>
                  <a:cs typeface="HK Grotesk"/>
                  <a:sym typeface="HK Grotesk"/>
                </a:rPr>
                <a:t>Prompt injection is a </a:t>
              </a:r>
              <a:r>
                <a:rPr kumimoji="0" lang="en-US" sz="1792" b="1" i="0" u="none" strike="noStrike" kern="1200" cap="none" spc="0" normalizeH="0" baseline="0" noProof="0">
                  <a:ln>
                    <a:noFill/>
                  </a:ln>
                  <a:solidFill>
                    <a:srgbClr val="FFFFFF"/>
                  </a:solidFill>
                  <a:effectLst/>
                  <a:uLnTx/>
                  <a:uFillTx/>
                  <a:latin typeface="HK Grotesk Bold"/>
                  <a:ea typeface="HK Grotesk Bold"/>
                  <a:cs typeface="HK Grotesk Bold"/>
                  <a:sym typeface="HK Grotesk Bold"/>
                </a:rPr>
                <a:t>security vulnerability</a:t>
              </a:r>
              <a:r>
                <a:rPr kumimoji="0" lang="en-US" sz="1792" b="0" i="0" u="none" strike="noStrike" kern="1200" cap="none" spc="0" normalizeH="0" baseline="0" noProof="0">
                  <a:ln>
                    <a:noFill/>
                  </a:ln>
                  <a:solidFill>
                    <a:srgbClr val="FFFFFF"/>
                  </a:solidFill>
                  <a:effectLst/>
                  <a:uLnTx/>
                  <a:uFillTx/>
                  <a:latin typeface="HK Grotesk"/>
                  <a:ea typeface="HK Grotesk"/>
                  <a:cs typeface="HK Grotesk"/>
                  <a:sym typeface="HK Grotesk"/>
                </a:rPr>
                <a:t> where malicious or unintended instructions are inserted into AI prompts, leading to unpredictable or dangerous robot behavior. This vulnerability can arise from external actors or faulty inputs that manipulate the actions of robotic systems.</a:t>
              </a:r>
            </a:p>
          </p:txBody>
        </p:sp>
      </p:grpSp>
      <p:grpSp>
        <p:nvGrpSpPr>
          <p:cNvPr id="5" name="Group 5"/>
          <p:cNvGrpSpPr/>
          <p:nvPr/>
        </p:nvGrpSpPr>
        <p:grpSpPr>
          <a:xfrm>
            <a:off x="6419850" y="5619750"/>
            <a:ext cx="4010025" cy="3086100"/>
            <a:chOff x="0" y="0"/>
            <a:chExt cx="5346700" cy="4114800"/>
          </a:xfrm>
        </p:grpSpPr>
        <p:sp>
          <p:nvSpPr>
            <p:cNvPr id="6" name="TextBox 6"/>
            <p:cNvSpPr txBox="1"/>
            <p:nvPr/>
          </p:nvSpPr>
          <p:spPr>
            <a:xfrm>
              <a:off x="0" y="0"/>
              <a:ext cx="5346700" cy="546100"/>
            </a:xfrm>
            <a:prstGeom prst="rect">
              <a:avLst/>
            </a:prstGeom>
          </p:spPr>
          <p:txBody>
            <a:bodyPr lIns="0" tIns="0" rIns="0" bIns="0" rtlCol="0" anchor="t">
              <a:spAutoFit/>
            </a:bodyPr>
            <a:lstStyle/>
            <a:p>
              <a:pPr marL="0" marR="0" lvl="0" indent="0" algn="l" defTabSz="914400" rtl="0" eaLnBrk="1" fontAlgn="auto" latinLnBrk="0" hangingPunct="1">
                <a:lnSpc>
                  <a:spcPts val="3296"/>
                </a:lnSpc>
                <a:spcBef>
                  <a:spcPct val="0"/>
                </a:spcBef>
                <a:spcAft>
                  <a:spcPts val="0"/>
                </a:spcAft>
                <a:buClrTx/>
                <a:buSzTx/>
                <a:buFontTx/>
                <a:buNone/>
                <a:tabLst/>
                <a:defRPr/>
              </a:pPr>
              <a:r>
                <a:rPr kumimoji="0" lang="en-US" sz="2747" b="1" i="0" u="none" strike="noStrike" kern="1200" cap="none" spc="0" normalizeH="0" baseline="0" noProof="0">
                  <a:ln>
                    <a:noFill/>
                  </a:ln>
                  <a:solidFill>
                    <a:srgbClr val="FFFFFF"/>
                  </a:solidFill>
                  <a:effectLst/>
                  <a:uLnTx/>
                  <a:uFillTx/>
                  <a:latin typeface="HK Grotesk Semi-Bold"/>
                  <a:ea typeface="HK Grotesk Semi-Bold"/>
                  <a:cs typeface="HK Grotesk Semi-Bold"/>
                  <a:sym typeface="HK Grotesk Semi-Bold"/>
                </a:rPr>
                <a:t>Impact on Robotics</a:t>
              </a:r>
            </a:p>
          </p:txBody>
        </p:sp>
        <p:sp>
          <p:nvSpPr>
            <p:cNvPr id="7" name="TextBox 7"/>
            <p:cNvSpPr txBox="1"/>
            <p:nvPr/>
          </p:nvSpPr>
          <p:spPr>
            <a:xfrm>
              <a:off x="0" y="1270000"/>
              <a:ext cx="5346700" cy="2844800"/>
            </a:xfrm>
            <a:prstGeom prst="rect">
              <a:avLst/>
            </a:prstGeom>
          </p:spPr>
          <p:txBody>
            <a:bodyPr lIns="0" tIns="0" rIns="0" bIns="0" rtlCol="0" anchor="t">
              <a:spAutoFit/>
            </a:bodyPr>
            <a:lstStyle/>
            <a:p>
              <a:pPr marL="0" marR="0" lvl="0" indent="0" algn="l" defTabSz="914400" rtl="0" eaLnBrk="1" fontAlgn="auto" latinLnBrk="0" hangingPunct="1">
                <a:lnSpc>
                  <a:spcPts val="2151"/>
                </a:lnSpc>
                <a:spcBef>
                  <a:spcPct val="0"/>
                </a:spcBef>
                <a:spcAft>
                  <a:spcPts val="0"/>
                </a:spcAft>
                <a:buClrTx/>
                <a:buSzTx/>
                <a:buFontTx/>
                <a:buNone/>
                <a:tabLst/>
                <a:defRPr/>
              </a:pPr>
              <a:r>
                <a:rPr kumimoji="0" lang="en-US" sz="1792" b="0" i="0" u="none" strike="noStrike" kern="1200" cap="none" spc="0" normalizeH="0" baseline="0" noProof="0">
                  <a:ln>
                    <a:noFill/>
                  </a:ln>
                  <a:solidFill>
                    <a:srgbClr val="FFFFFF"/>
                  </a:solidFill>
                  <a:effectLst/>
                  <a:uLnTx/>
                  <a:uFillTx/>
                  <a:latin typeface="HK Grotesk"/>
                  <a:ea typeface="HK Grotesk"/>
                  <a:cs typeface="HK Grotesk"/>
                  <a:sym typeface="HK Grotesk"/>
                </a:rPr>
                <a:t>The risks of prompt injection include unintended or unsafe actions that can jeopardize safety and operational integrity. Consequences may involve data breaches, physical harm, and disruption of critical processes—ultimately eroding trust among executives in AI-driven robotic solutions.</a:t>
              </a:r>
            </a:p>
          </p:txBody>
        </p:sp>
      </p:grpSp>
      <p:grpSp>
        <p:nvGrpSpPr>
          <p:cNvPr id="8" name="Group 8"/>
          <p:cNvGrpSpPr/>
          <p:nvPr/>
        </p:nvGrpSpPr>
        <p:grpSpPr>
          <a:xfrm>
            <a:off x="12172950" y="5619750"/>
            <a:ext cx="4010025" cy="2790825"/>
            <a:chOff x="0" y="0"/>
            <a:chExt cx="5346700" cy="3721100"/>
          </a:xfrm>
        </p:grpSpPr>
        <p:sp>
          <p:nvSpPr>
            <p:cNvPr id="9" name="TextBox 9"/>
            <p:cNvSpPr txBox="1"/>
            <p:nvPr/>
          </p:nvSpPr>
          <p:spPr>
            <a:xfrm>
              <a:off x="0" y="0"/>
              <a:ext cx="5346700" cy="546100"/>
            </a:xfrm>
            <a:prstGeom prst="rect">
              <a:avLst/>
            </a:prstGeom>
          </p:spPr>
          <p:txBody>
            <a:bodyPr lIns="0" tIns="0" rIns="0" bIns="0" rtlCol="0" anchor="t">
              <a:spAutoFit/>
            </a:bodyPr>
            <a:lstStyle/>
            <a:p>
              <a:pPr marL="0" marR="0" lvl="0" indent="0" algn="l" defTabSz="914400" rtl="0" eaLnBrk="1" fontAlgn="auto" latinLnBrk="0" hangingPunct="1">
                <a:lnSpc>
                  <a:spcPts val="3296"/>
                </a:lnSpc>
                <a:spcBef>
                  <a:spcPct val="0"/>
                </a:spcBef>
                <a:spcAft>
                  <a:spcPts val="0"/>
                </a:spcAft>
                <a:buClrTx/>
                <a:buSzTx/>
                <a:buFontTx/>
                <a:buNone/>
                <a:tabLst/>
                <a:defRPr/>
              </a:pPr>
              <a:r>
                <a:rPr kumimoji="0" lang="en-US" sz="2747" b="1" i="0" u="none" strike="noStrike" kern="1200" cap="none" spc="0" normalizeH="0" baseline="0" noProof="0">
                  <a:ln>
                    <a:noFill/>
                  </a:ln>
                  <a:solidFill>
                    <a:srgbClr val="FFFFFF"/>
                  </a:solidFill>
                  <a:effectLst/>
                  <a:uLnTx/>
                  <a:uFillTx/>
                  <a:latin typeface="HK Grotesk Semi-Bold"/>
                  <a:ea typeface="HK Grotesk Semi-Bold"/>
                  <a:cs typeface="HK Grotesk Semi-Bold"/>
                  <a:sym typeface="HK Grotesk Semi-Bold"/>
                </a:rPr>
                <a:t>Mitigation Strategies</a:t>
              </a:r>
            </a:p>
          </p:txBody>
        </p:sp>
        <p:sp>
          <p:nvSpPr>
            <p:cNvPr id="10" name="TextBox 10"/>
            <p:cNvSpPr txBox="1"/>
            <p:nvPr/>
          </p:nvSpPr>
          <p:spPr>
            <a:xfrm>
              <a:off x="0" y="1231900"/>
              <a:ext cx="5346700" cy="2489200"/>
            </a:xfrm>
            <a:prstGeom prst="rect">
              <a:avLst/>
            </a:prstGeom>
          </p:spPr>
          <p:txBody>
            <a:bodyPr lIns="0" tIns="0" rIns="0" bIns="0" rtlCol="0" anchor="t">
              <a:spAutoFit/>
            </a:bodyPr>
            <a:lstStyle/>
            <a:p>
              <a:pPr marL="0" marR="0" lvl="0" indent="0" algn="l" defTabSz="914400" rtl="0" eaLnBrk="1" fontAlgn="auto" latinLnBrk="0" hangingPunct="1">
                <a:lnSpc>
                  <a:spcPts val="2151"/>
                </a:lnSpc>
                <a:spcBef>
                  <a:spcPct val="0"/>
                </a:spcBef>
                <a:spcAft>
                  <a:spcPts val="0"/>
                </a:spcAft>
                <a:buClrTx/>
                <a:buSzTx/>
                <a:buFontTx/>
                <a:buNone/>
                <a:tabLst/>
                <a:defRPr/>
              </a:pPr>
              <a:r>
                <a:rPr kumimoji="0" lang="en-US" sz="1792" b="0" i="0" u="none" strike="noStrike" kern="1200" cap="none" spc="0" normalizeH="0" baseline="0" noProof="0">
                  <a:ln>
                    <a:noFill/>
                  </a:ln>
                  <a:solidFill>
                    <a:srgbClr val="FFFFFF"/>
                  </a:solidFill>
                  <a:effectLst/>
                  <a:uLnTx/>
                  <a:uFillTx/>
                  <a:latin typeface="HK Grotesk"/>
                  <a:ea typeface="HK Grotesk"/>
                  <a:cs typeface="HK Grotesk"/>
                  <a:sym typeface="HK Grotesk"/>
                </a:rPr>
                <a:t>High-level strategies to mitigate these risks include implementing strict input validation, strong access controls, and conducting ongoing audits. Additionally, educating staff on these risks and best practices is crucial to maintaining a secure robotic environment.</a:t>
              </a:r>
            </a:p>
          </p:txBody>
        </p:sp>
      </p:grpSp>
      <p:grpSp>
        <p:nvGrpSpPr>
          <p:cNvPr id="11" name="Group 11"/>
          <p:cNvGrpSpPr/>
          <p:nvPr/>
        </p:nvGrpSpPr>
        <p:grpSpPr>
          <a:xfrm>
            <a:off x="654718" y="1697831"/>
            <a:ext cx="16966532" cy="3378994"/>
            <a:chOff x="-16043" y="180975"/>
            <a:chExt cx="22622043" cy="4505325"/>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marR="0" lvl="0" indent="0" algn="l" defTabSz="914400" rtl="0" eaLnBrk="1" fontAlgn="auto" latinLnBrk="0" hangingPunct="1">
                <a:lnSpc>
                  <a:spcPts val="9600"/>
                </a:lnSpc>
                <a:spcBef>
                  <a:spcPts val="0"/>
                </a:spcBef>
                <a:spcAft>
                  <a:spcPts val="0"/>
                </a:spcAft>
                <a:buClrTx/>
                <a:buSzTx/>
                <a:buFontTx/>
                <a:buNone/>
                <a:tabLst/>
                <a:defRPr/>
              </a:pPr>
              <a:r>
                <a:rPr kumimoji="0" lang="en-US" sz="9600" b="0" i="0" u="none" strike="noStrike" kern="1200" cap="none" spc="-192" normalizeH="0" baseline="0" noProof="0">
                  <a:ln>
                    <a:noFill/>
                  </a:ln>
                  <a:solidFill>
                    <a:srgbClr val="FFFFFF"/>
                  </a:solidFill>
                  <a:effectLst/>
                  <a:uLnTx/>
                  <a:uFillTx/>
                  <a:latin typeface="Noto Serif Display ExtraCondensed Light"/>
                  <a:ea typeface="Noto Serif Display ExtraCondensed Light"/>
                  <a:cs typeface="Noto Serif Display ExtraCondensed Light"/>
                  <a:sym typeface="Noto Serif Display ExtraCondensed Light"/>
                </a:rPr>
                <a:t>Understanding AI Risk: Prompt Injection</a:t>
              </a:r>
            </a:p>
          </p:txBody>
        </p:sp>
        <p:sp>
          <p:nvSpPr>
            <p:cNvPr id="13" name="TextBox 13"/>
            <p:cNvSpPr txBox="1"/>
            <p:nvPr/>
          </p:nvSpPr>
          <p:spPr>
            <a:xfrm>
              <a:off x="-16043" y="4140200"/>
              <a:ext cx="22606000" cy="546100"/>
            </a:xfrm>
            <a:prstGeom prst="rect">
              <a:avLst/>
            </a:prstGeom>
          </p:spPr>
          <p:txBody>
            <a:bodyPr lIns="0" tIns="0" rIns="0" bIns="0" rtlCol="0" anchor="t">
              <a:spAutoFit/>
            </a:bodyPr>
            <a:lstStyle/>
            <a:p>
              <a:pPr marL="0" marR="0" lvl="0" indent="0" algn="l" defTabSz="914400" rtl="0" eaLnBrk="1" fontAlgn="auto" latinLnBrk="0" hangingPunct="1">
                <a:lnSpc>
                  <a:spcPts val="3296"/>
                </a:lnSpc>
                <a:spcBef>
                  <a:spcPts val="0"/>
                </a:spcBef>
                <a:spcAft>
                  <a:spcPts val="0"/>
                </a:spcAft>
                <a:buClrTx/>
                <a:buSzTx/>
                <a:buFontTx/>
                <a:buNone/>
                <a:tabLst/>
                <a:defRPr/>
              </a:pPr>
              <a:r>
                <a:rPr kumimoji="0" lang="en-US" sz="2747" b="1" i="0" u="none" strike="noStrike" kern="1200" cap="none" spc="0" normalizeH="0" baseline="0" noProof="0" dirty="0">
                  <a:ln>
                    <a:noFill/>
                  </a:ln>
                  <a:solidFill>
                    <a:srgbClr val="FFFFFF"/>
                  </a:solidFill>
                  <a:effectLst/>
                  <a:uLnTx/>
                  <a:uFillTx/>
                  <a:latin typeface="HK Grotesk Semi-Bold"/>
                  <a:ea typeface="HK Grotesk Semi-Bold"/>
                  <a:cs typeface="HK Grotesk Semi-Bold"/>
                  <a:sym typeface="HK Grotesk Semi-Bold"/>
                </a:rPr>
                <a:t>Key Risks and Mitigation Strategies</a:t>
              </a:r>
            </a:p>
          </p:txBody>
        </p:sp>
      </p:grpSp>
      <p:sp>
        <p:nvSpPr>
          <p:cNvPr id="14" name="AutoShape 14"/>
          <p:cNvSpPr/>
          <p:nvPr/>
        </p:nvSpPr>
        <p:spPr>
          <a:xfrm>
            <a:off x="0" y="676275"/>
            <a:ext cx="18288000" cy="0"/>
          </a:xfrm>
          <a:prstGeom prst="line">
            <a:avLst/>
          </a:prstGeom>
          <a:ln w="19050" cap="flat">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AutoShape 15"/>
          <p:cNvSpPr/>
          <p:nvPr/>
        </p:nvSpPr>
        <p:spPr>
          <a:xfrm>
            <a:off x="0" y="9629775"/>
            <a:ext cx="18288000" cy="0"/>
          </a:xfrm>
          <a:prstGeom prst="line">
            <a:avLst/>
          </a:prstGeom>
          <a:ln w="19050" cap="flat">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A26"/>
        </a:solidFill>
        <a:effectLst/>
      </p:bgPr>
    </p:bg>
    <p:spTree>
      <p:nvGrpSpPr>
        <p:cNvPr id="1" name=""/>
        <p:cNvGrpSpPr/>
        <p:nvPr/>
      </p:nvGrpSpPr>
      <p:grpSpPr>
        <a:xfrm>
          <a:off x="0" y="0"/>
          <a:ext cx="0" cy="0"/>
          <a:chOff x="0" y="0"/>
          <a:chExt cx="0" cy="0"/>
        </a:xfrm>
      </p:grpSpPr>
      <p:sp>
        <p:nvSpPr>
          <p:cNvPr id="2" name="TextBox 2"/>
          <p:cNvSpPr txBox="1"/>
          <p:nvPr/>
        </p:nvSpPr>
        <p:spPr>
          <a:xfrm>
            <a:off x="666750" y="800100"/>
            <a:ext cx="5448300" cy="4473575"/>
          </a:xfrm>
          <a:prstGeom prst="rect">
            <a:avLst/>
          </a:prstGeom>
        </p:spPr>
        <p:txBody>
          <a:bodyPr lIns="0" tIns="0" rIns="0" bIns="0" rtlCol="0" anchor="t">
            <a:spAutoFit/>
          </a:bodyPr>
          <a:lstStyle/>
          <a:p>
            <a:pPr marL="0" marR="0" lvl="0" indent="0" algn="l" defTabSz="914400" rtl="0" eaLnBrk="1" fontAlgn="auto" latinLnBrk="0" hangingPunct="1">
              <a:lnSpc>
                <a:spcPts val="6999"/>
              </a:lnSpc>
              <a:spcBef>
                <a:spcPts val="0"/>
              </a:spcBef>
              <a:spcAft>
                <a:spcPts val="0"/>
              </a:spcAft>
              <a:buClrTx/>
              <a:buSzTx/>
              <a:buFontTx/>
              <a:buNone/>
              <a:tabLst/>
              <a:defRPr/>
            </a:pPr>
            <a:r>
              <a:rPr kumimoji="0" lang="en-US" sz="6999" b="1" i="0" u="none" strike="noStrike" kern="1200" cap="none" spc="0" normalizeH="0" baseline="0" noProof="0">
                <a:ln>
                  <a:noFill/>
                </a:ln>
                <a:solidFill>
                  <a:srgbClr val="D1E0F0"/>
                </a:solidFill>
                <a:effectLst/>
                <a:uLnTx/>
                <a:uFillTx/>
                <a:latin typeface="Bricolage Grotesque Bold"/>
                <a:ea typeface="Bricolage Grotesque Bold"/>
                <a:cs typeface="Bricolage Grotesque Bold"/>
                <a:sym typeface="Bricolage Grotesque Bold"/>
              </a:rPr>
              <a:t>Training Data Leakage in Robotics AI Overview</a:t>
            </a:r>
          </a:p>
        </p:txBody>
      </p:sp>
      <p:grpSp>
        <p:nvGrpSpPr>
          <p:cNvPr id="3" name="Group 3"/>
          <p:cNvGrpSpPr/>
          <p:nvPr/>
        </p:nvGrpSpPr>
        <p:grpSpPr>
          <a:xfrm>
            <a:off x="7858467" y="1562100"/>
            <a:ext cx="854762" cy="373310"/>
            <a:chOff x="0" y="0"/>
            <a:chExt cx="769424" cy="336039"/>
          </a:xfrm>
        </p:grpSpPr>
        <p:sp>
          <p:nvSpPr>
            <p:cNvPr id="4" name="Freeform 4"/>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D1A26"/>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2872519" y="6038850"/>
            <a:ext cx="854762" cy="373310"/>
            <a:chOff x="0" y="0"/>
            <a:chExt cx="769424" cy="336039"/>
          </a:xfrm>
        </p:grpSpPr>
        <p:sp>
          <p:nvSpPr>
            <p:cNvPr id="7" name="Freeform 7"/>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D1A26"/>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7858467" y="6038850"/>
            <a:ext cx="854762" cy="373310"/>
            <a:chOff x="0" y="0"/>
            <a:chExt cx="769424" cy="336039"/>
          </a:xfrm>
        </p:grpSpPr>
        <p:sp>
          <p:nvSpPr>
            <p:cNvPr id="10" name="Freeform 10"/>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D1A26"/>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p:cNvGrpSpPr/>
          <p:nvPr/>
        </p:nvGrpSpPr>
        <p:grpSpPr>
          <a:xfrm>
            <a:off x="12872519" y="1562100"/>
            <a:ext cx="854762" cy="373310"/>
            <a:chOff x="0" y="0"/>
            <a:chExt cx="769424" cy="336039"/>
          </a:xfrm>
        </p:grpSpPr>
        <p:sp>
          <p:nvSpPr>
            <p:cNvPr id="13" name="Freeform 13"/>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0D1A26"/>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p:cNvGrpSpPr/>
          <p:nvPr/>
        </p:nvGrpSpPr>
        <p:grpSpPr>
          <a:xfrm>
            <a:off x="12872519" y="2456180"/>
            <a:ext cx="4748731" cy="2294220"/>
            <a:chOff x="0" y="0"/>
            <a:chExt cx="6331641" cy="3058960"/>
          </a:xfrm>
        </p:grpSpPr>
        <p:sp>
          <p:nvSpPr>
            <p:cNvPr id="16" name="TextBox 16"/>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D1E0F0"/>
                  </a:solidFill>
                  <a:effectLst/>
                  <a:uLnTx/>
                  <a:uFillTx/>
                  <a:latin typeface="Bricolage Grotesque Bold"/>
                  <a:ea typeface="Bricolage Grotesque Bold"/>
                  <a:cs typeface="Bricolage Grotesque Bold"/>
                  <a:sym typeface="Bricolage Grotesque Bold"/>
                </a:rPr>
                <a:t>Impact</a:t>
              </a:r>
            </a:p>
          </p:txBody>
        </p:sp>
        <p:sp>
          <p:nvSpPr>
            <p:cNvPr id="17" name="TextBox 17"/>
            <p:cNvSpPr txBox="1"/>
            <p:nvPr/>
          </p:nvSpPr>
          <p:spPr>
            <a:xfrm>
              <a:off x="0" y="863600"/>
              <a:ext cx="6331641" cy="21953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D1E0F0"/>
                  </a:solidFill>
                  <a:effectLst/>
                  <a:uLnTx/>
                  <a:uFillTx/>
                  <a:latin typeface="HK Grotesk"/>
                  <a:ea typeface="HK Grotesk"/>
                  <a:cs typeface="HK Grotesk"/>
                  <a:sym typeface="HK Grotesk"/>
                </a:rPr>
                <a:t>Leakage can severely undermine model accuracy and safety, resulting in operational failures, security breaches, and potential regulatory penalties that may damage both reputation and trust in AI systems.</a:t>
              </a:r>
            </a:p>
          </p:txBody>
        </p:sp>
      </p:grpSp>
      <p:grpSp>
        <p:nvGrpSpPr>
          <p:cNvPr id="18" name="Group 18"/>
          <p:cNvGrpSpPr/>
          <p:nvPr/>
        </p:nvGrpSpPr>
        <p:grpSpPr>
          <a:xfrm>
            <a:off x="7858125" y="2457450"/>
            <a:ext cx="4748731" cy="2294220"/>
            <a:chOff x="0" y="0"/>
            <a:chExt cx="6331641" cy="3058960"/>
          </a:xfrm>
        </p:grpSpPr>
        <p:sp>
          <p:nvSpPr>
            <p:cNvPr id="19" name="TextBox 19"/>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D1E0F0"/>
                  </a:solidFill>
                  <a:effectLst/>
                  <a:uLnTx/>
                  <a:uFillTx/>
                  <a:latin typeface="Bricolage Grotesque Bold"/>
                  <a:ea typeface="Bricolage Grotesque Bold"/>
                  <a:cs typeface="Bricolage Grotesque Bold"/>
                  <a:sym typeface="Bricolage Grotesque Bold"/>
                </a:rPr>
                <a:t>Leaders Must Know</a:t>
              </a:r>
            </a:p>
          </p:txBody>
        </p:sp>
        <p:sp>
          <p:nvSpPr>
            <p:cNvPr id="20" name="TextBox 20"/>
            <p:cNvSpPr txBox="1"/>
            <p:nvPr/>
          </p:nvSpPr>
          <p:spPr>
            <a:xfrm>
              <a:off x="0" y="863600"/>
              <a:ext cx="6331641" cy="21953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D1E0F0"/>
                  </a:solidFill>
                  <a:effectLst/>
                  <a:uLnTx/>
                  <a:uFillTx/>
                  <a:latin typeface="HK Grotesk"/>
                  <a:ea typeface="HK Grotesk"/>
                  <a:cs typeface="HK Grotesk"/>
                  <a:sym typeface="HK Grotesk"/>
                </a:rPr>
                <a:t>Training data leakage occurs when outside information improperly influences robotics AI models, leading to </a:t>
              </a:r>
              <a:r>
                <a:rPr kumimoji="0" lang="en-US" sz="1926" b="1" i="0" u="none" strike="noStrike" kern="1200" cap="none" spc="0" normalizeH="0" baseline="0" noProof="0">
                  <a:ln>
                    <a:noFill/>
                  </a:ln>
                  <a:solidFill>
                    <a:srgbClr val="D1E0F0"/>
                  </a:solidFill>
                  <a:effectLst/>
                  <a:uLnTx/>
                  <a:uFillTx/>
                  <a:latin typeface="HK Grotesk Bold"/>
                  <a:ea typeface="HK Grotesk Bold"/>
                  <a:cs typeface="HK Grotesk Bold"/>
                  <a:sym typeface="HK Grotesk Bold"/>
                </a:rPr>
                <a:t>overfitting and unreliable performance</a:t>
              </a:r>
              <a:r>
                <a:rPr kumimoji="0" lang="en-US" sz="1926" b="0" i="0" u="none" strike="noStrike" kern="1200" cap="none" spc="0" normalizeH="0" baseline="0" noProof="0">
                  <a:ln>
                    <a:noFill/>
                  </a:ln>
                  <a:solidFill>
                    <a:srgbClr val="D1E0F0"/>
                  </a:solidFill>
                  <a:effectLst/>
                  <a:uLnTx/>
                  <a:uFillTx/>
                  <a:latin typeface="HK Grotesk"/>
                  <a:ea typeface="HK Grotesk"/>
                  <a:cs typeface="HK Grotesk"/>
                  <a:sym typeface="HK Grotesk"/>
                </a:rPr>
                <a:t> that can compromise decision-making processes.</a:t>
              </a:r>
            </a:p>
          </p:txBody>
        </p:sp>
      </p:grpSp>
      <p:grpSp>
        <p:nvGrpSpPr>
          <p:cNvPr id="21" name="Group 21"/>
          <p:cNvGrpSpPr/>
          <p:nvPr/>
        </p:nvGrpSpPr>
        <p:grpSpPr>
          <a:xfrm>
            <a:off x="7858467" y="6932930"/>
            <a:ext cx="4748731" cy="2294220"/>
            <a:chOff x="0" y="0"/>
            <a:chExt cx="6331641" cy="3058960"/>
          </a:xfrm>
        </p:grpSpPr>
        <p:sp>
          <p:nvSpPr>
            <p:cNvPr id="22" name="TextBox 22"/>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D1E0F0"/>
                  </a:solidFill>
                  <a:effectLst/>
                  <a:uLnTx/>
                  <a:uFillTx/>
                  <a:latin typeface="Bricolage Grotesque Bold"/>
                  <a:ea typeface="Bricolage Grotesque Bold"/>
                  <a:cs typeface="Bricolage Grotesque Bold"/>
                  <a:sym typeface="Bricolage Grotesque Bold"/>
                </a:rPr>
                <a:t>Real-world Relevance</a:t>
              </a:r>
            </a:p>
          </p:txBody>
        </p:sp>
        <p:sp>
          <p:nvSpPr>
            <p:cNvPr id="23" name="TextBox 23"/>
            <p:cNvSpPr txBox="1"/>
            <p:nvPr/>
          </p:nvSpPr>
          <p:spPr>
            <a:xfrm>
              <a:off x="0" y="863600"/>
              <a:ext cx="6331641" cy="21953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D1E0F0"/>
                  </a:solidFill>
                  <a:effectLst/>
                  <a:uLnTx/>
                  <a:uFillTx/>
                  <a:latin typeface="HK Grotesk"/>
                  <a:ea typeface="HK Grotesk"/>
                  <a:cs typeface="HK Grotesk"/>
                  <a:sym typeface="HK Grotesk"/>
                </a:rPr>
                <a:t>Numerous incidents have shown that even minor data leaks can lead to significant consequences, emphasizing the critical need for vigilance in data handling practices within robotics AI.</a:t>
              </a:r>
            </a:p>
          </p:txBody>
        </p:sp>
      </p:grpSp>
      <p:grpSp>
        <p:nvGrpSpPr>
          <p:cNvPr id="24" name="Group 24"/>
          <p:cNvGrpSpPr/>
          <p:nvPr/>
        </p:nvGrpSpPr>
        <p:grpSpPr>
          <a:xfrm>
            <a:off x="12872519" y="6932930"/>
            <a:ext cx="4748731" cy="2294220"/>
            <a:chOff x="0" y="0"/>
            <a:chExt cx="6331641" cy="3058960"/>
          </a:xfrm>
        </p:grpSpPr>
        <p:sp>
          <p:nvSpPr>
            <p:cNvPr id="25" name="TextBox 25"/>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D1E0F0"/>
                  </a:solidFill>
                  <a:effectLst/>
                  <a:uLnTx/>
                  <a:uFillTx/>
                  <a:latin typeface="Bricolage Grotesque Bold"/>
                  <a:ea typeface="Bricolage Grotesque Bold"/>
                  <a:cs typeface="Bricolage Grotesque Bold"/>
                  <a:sym typeface="Bricolage Grotesque Bold"/>
                </a:rPr>
                <a:t>Mitigation</a:t>
              </a:r>
            </a:p>
          </p:txBody>
        </p:sp>
        <p:sp>
          <p:nvSpPr>
            <p:cNvPr id="26" name="TextBox 26"/>
            <p:cNvSpPr txBox="1"/>
            <p:nvPr/>
          </p:nvSpPr>
          <p:spPr>
            <a:xfrm>
              <a:off x="0" y="863600"/>
              <a:ext cx="6331641" cy="21953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D1E0F0"/>
                  </a:solidFill>
                  <a:effectLst/>
                  <a:uLnTx/>
                  <a:uFillTx/>
                  <a:latin typeface="HK Grotesk"/>
                  <a:ea typeface="HK Grotesk"/>
                  <a:cs typeface="HK Grotesk"/>
                  <a:sym typeface="HK Grotesk"/>
                </a:rPr>
                <a:t>Implementing strict data access controls, regular audits, and robust monitoring will significantly reduce the risk of leakage, alongside comprehensive staff training on best practices for incident response.</a:t>
              </a:r>
            </a:p>
          </p:txBody>
        </p:sp>
      </p:grpSp>
      <p:grpSp>
        <p:nvGrpSpPr>
          <p:cNvPr id="27" name="Group 27"/>
          <p:cNvGrpSpPr/>
          <p:nvPr/>
        </p:nvGrpSpPr>
        <p:grpSpPr>
          <a:xfrm rot="-10800000">
            <a:off x="-1034932" y="6996006"/>
            <a:ext cx="3403364" cy="4524588"/>
            <a:chOff x="0" y="0"/>
            <a:chExt cx="4537818" cy="6032784"/>
          </a:xfrm>
        </p:grpSpPr>
        <p:grpSp>
          <p:nvGrpSpPr>
            <p:cNvPr id="28" name="Group 28"/>
            <p:cNvGrpSpPr/>
            <p:nvPr/>
          </p:nvGrpSpPr>
          <p:grpSpPr>
            <a:xfrm rot="-2700000">
              <a:off x="-52688" y="3019154"/>
              <a:ext cx="4441804" cy="1690832"/>
              <a:chOff x="0" y="0"/>
              <a:chExt cx="882773" cy="336039"/>
            </a:xfrm>
          </p:grpSpPr>
          <p:sp>
            <p:nvSpPr>
              <p:cNvPr id="29" name="Freeform 29"/>
              <p:cNvSpPr/>
              <p:nvPr/>
            </p:nvSpPr>
            <p:spPr>
              <a:xfrm>
                <a:off x="0" y="0"/>
                <a:ext cx="882773" cy="336039"/>
              </a:xfrm>
              <a:custGeom>
                <a:avLst/>
                <a:gdLst/>
                <a:ahLst/>
                <a:cxnLst/>
                <a:rect l="l" t="t" r="r" b="b"/>
                <a:pathLst>
                  <a:path w="882773" h="336039">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Box 30"/>
              <p:cNvSpPr txBox="1"/>
              <p:nvPr/>
            </p:nvSpPr>
            <p:spPr>
              <a:xfrm>
                <a:off x="0" y="-19050"/>
                <a:ext cx="882773" cy="355089"/>
              </a:xfrm>
              <a:prstGeom prst="rect">
                <a:avLst/>
              </a:prstGeom>
            </p:spPr>
            <p:txBody>
              <a:bodyPr lIns="152526" tIns="152526" rIns="152526" bIns="152526" rtlCol="0" anchor="ctr"/>
              <a:lstStyle/>
              <a:p>
                <a:pPr marL="0" marR="0" lvl="0" indent="0" algn="ctr" defTabSz="914400" rtl="0" eaLnBrk="1" fontAlgn="auto" latinLnBrk="0" hangingPunct="1">
                  <a:lnSpc>
                    <a:spcPts val="189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31"/>
            <p:cNvGrpSpPr/>
            <p:nvPr/>
          </p:nvGrpSpPr>
          <p:grpSpPr>
            <a:xfrm rot="-2700000">
              <a:off x="119378" y="1331636"/>
              <a:ext cx="4471480" cy="1702128"/>
              <a:chOff x="0" y="0"/>
              <a:chExt cx="882773" cy="336039"/>
            </a:xfrm>
          </p:grpSpPr>
          <p:sp>
            <p:nvSpPr>
              <p:cNvPr id="32" name="Freeform 32"/>
              <p:cNvSpPr/>
              <p:nvPr/>
            </p:nvSpPr>
            <p:spPr>
              <a:xfrm>
                <a:off x="0" y="0"/>
                <a:ext cx="882773" cy="336039"/>
              </a:xfrm>
              <a:custGeom>
                <a:avLst/>
                <a:gdLst/>
                <a:ahLst/>
                <a:cxnLst/>
                <a:rect l="l" t="t" r="r" b="b"/>
                <a:pathLst>
                  <a:path w="882773" h="336039">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D1E0F0"/>
              </a:solidFill>
              <a:ln cap="sq">
                <a:noFill/>
                <a:prstDash val="lg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Box 33"/>
              <p:cNvSpPr txBox="1"/>
              <p:nvPr/>
            </p:nvSpPr>
            <p:spPr>
              <a:xfrm>
                <a:off x="0" y="-28575"/>
                <a:ext cx="882773" cy="364614"/>
              </a:xfrm>
              <a:prstGeom prst="rect">
                <a:avLst/>
              </a:prstGeom>
            </p:spPr>
            <p:txBody>
              <a:bodyPr lIns="55712" tIns="55712" rIns="55712" bIns="55712" rtlCol="0" anchor="ctr"/>
              <a:lstStyle/>
              <a:p>
                <a:pPr marL="0" marR="0" lvl="0" indent="0" algn="ctr" defTabSz="914400" rtl="0" eaLnBrk="1" fontAlgn="auto" latinLnBrk="0" hangingPunct="1">
                  <a:lnSpc>
                    <a:spcPts val="1685"/>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A2B"/>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10287000"/>
            <a:chOff x="0" y="0"/>
            <a:chExt cx="1393034" cy="1593725"/>
          </a:xfrm>
        </p:grpSpPr>
        <p:sp>
          <p:nvSpPr>
            <p:cNvPr id="3" name="Freeform 3"/>
            <p:cNvSpPr/>
            <p:nvPr/>
          </p:nvSpPr>
          <p:spPr>
            <a:xfrm>
              <a:off x="0" y="0"/>
              <a:ext cx="1393034" cy="1593725"/>
            </a:xfrm>
            <a:custGeom>
              <a:avLst/>
              <a:gdLst/>
              <a:ahLst/>
              <a:cxnLst/>
              <a:rect l="l" t="t" r="r" b="b"/>
              <a:pathLst>
                <a:path w="1393034" h="1593725">
                  <a:moveTo>
                    <a:pt x="0" y="0"/>
                  </a:moveTo>
                  <a:lnTo>
                    <a:pt x="1393034" y="0"/>
                  </a:lnTo>
                  <a:lnTo>
                    <a:pt x="1393034" y="1593725"/>
                  </a:lnTo>
                  <a:lnTo>
                    <a:pt x="0" y="1593725"/>
                  </a:lnTo>
                  <a:close/>
                </a:path>
              </a:pathLst>
            </a:custGeom>
            <a:blipFill>
              <a:blip r:embed="rId2"/>
              <a:stretch>
                <a:fillRect t="-378" b="-378"/>
              </a:stretch>
            </a:blipFill>
          </p:spPr>
          <p:txBody>
            <a:bodyPr/>
            <a:lstStyle/>
            <a:p>
              <a:endParaRPr lang="en-US"/>
            </a:p>
          </p:txBody>
        </p:sp>
      </p:grpSp>
      <p:sp>
        <p:nvSpPr>
          <p:cNvPr id="4" name="TextBox 4"/>
          <p:cNvSpPr txBox="1"/>
          <p:nvPr/>
        </p:nvSpPr>
        <p:spPr>
          <a:xfrm>
            <a:off x="666750" y="1638300"/>
            <a:ext cx="6886575" cy="508635"/>
          </a:xfrm>
          <a:prstGeom prst="rect">
            <a:avLst/>
          </a:prstGeom>
        </p:spPr>
        <p:txBody>
          <a:bodyPr lIns="0" tIns="0" rIns="0" bIns="0" rtlCol="0" anchor="t">
            <a:spAutoFit/>
          </a:bodyPr>
          <a:lstStyle/>
          <a:p>
            <a:pPr marL="0" marR="0" lvl="0" indent="0" algn="l" defTabSz="914400" rtl="0" eaLnBrk="1" fontAlgn="auto" latinLnBrk="0" hangingPunct="1">
              <a:lnSpc>
                <a:spcPts val="3899"/>
              </a:lnSpc>
              <a:spcBef>
                <a:spcPts val="0"/>
              </a:spcBef>
              <a:spcAft>
                <a:spcPts val="0"/>
              </a:spcAft>
              <a:buClrTx/>
              <a:buSzTx/>
              <a:buFontTx/>
              <a:buNone/>
              <a:tabLst/>
              <a:defRPr/>
            </a:pPr>
            <a:r>
              <a:rPr kumimoji="0" lang="en-US" sz="3899" b="1" i="0" u="none" strike="noStrike" kern="1200" cap="none" spc="0" normalizeH="0" baseline="0" noProof="0">
                <a:ln>
                  <a:noFill/>
                </a:ln>
                <a:solidFill>
                  <a:srgbClr val="FFFFFF"/>
                </a:solidFill>
                <a:effectLst/>
                <a:uLnTx/>
                <a:uFillTx/>
                <a:latin typeface="HK Grotesk Semi-Bold"/>
                <a:ea typeface="HK Grotesk Semi-Bold"/>
                <a:cs typeface="HK Grotesk Semi-Bold"/>
                <a:sym typeface="HK Grotesk Semi-Bold"/>
              </a:rPr>
              <a:t>Understanding Shadow AI Risks</a:t>
            </a:r>
          </a:p>
        </p:txBody>
      </p:sp>
      <p:grpSp>
        <p:nvGrpSpPr>
          <p:cNvPr id="5" name="Group 5"/>
          <p:cNvGrpSpPr/>
          <p:nvPr/>
        </p:nvGrpSpPr>
        <p:grpSpPr>
          <a:xfrm>
            <a:off x="666750" y="4136231"/>
            <a:ext cx="6886575" cy="5426869"/>
            <a:chOff x="0" y="409575"/>
            <a:chExt cx="9182100" cy="7235825"/>
          </a:xfrm>
        </p:grpSpPr>
        <p:sp>
          <p:nvSpPr>
            <p:cNvPr id="6" name="TextBox 6"/>
            <p:cNvSpPr txBox="1"/>
            <p:nvPr/>
          </p:nvSpPr>
          <p:spPr>
            <a:xfrm>
              <a:off x="0" y="5969000"/>
              <a:ext cx="9182100" cy="1676400"/>
            </a:xfrm>
            <a:prstGeom prst="rect">
              <a:avLst/>
            </a:prstGeom>
          </p:spPr>
          <p:txBody>
            <a:bodyPr lIns="0" tIns="0" rIns="0" bIns="0" rtlCol="0" anchor="t">
              <a:spAutoFit/>
            </a:bodyPr>
            <a:lstStyle/>
            <a:p>
              <a:pPr marL="0" marR="0" lvl="0" indent="0" algn="l" defTabSz="914400" rtl="0" eaLnBrk="1" fontAlgn="auto" latinLnBrk="0" hangingPunct="1">
                <a:lnSpc>
                  <a:spcPts val="3359"/>
                </a:lnSpc>
                <a:spcBef>
                  <a:spcPct val="0"/>
                </a:spcBef>
                <a:spcAft>
                  <a:spcPts val="0"/>
                </a:spcAft>
                <a:buClrTx/>
                <a:buSzTx/>
                <a:buFontTx/>
                <a:buNone/>
                <a:tabLst/>
                <a:defRPr/>
              </a:pPr>
              <a:r>
                <a:rPr kumimoji="0" lang="en-US" sz="2799" b="0" i="0" u="none" strike="noStrike" kern="1200" cap="none" spc="0" normalizeH="0" baseline="0" noProof="0">
                  <a:ln>
                    <a:noFill/>
                  </a:ln>
                  <a:solidFill>
                    <a:srgbClr val="FFFFFF"/>
                  </a:solidFill>
                  <a:effectLst/>
                  <a:uLnTx/>
                  <a:uFillTx/>
                  <a:latin typeface="HK Grotesk"/>
                  <a:ea typeface="HK Grotesk"/>
                  <a:cs typeface="HK Grotesk"/>
                  <a:sym typeface="HK Grotesk"/>
                </a:rPr>
                <a:t>Exploring hidden artificial intelligence use and its potential consequences in robotics systems</a:t>
              </a:r>
            </a:p>
          </p:txBody>
        </p:sp>
        <p:sp>
          <p:nvSpPr>
            <p:cNvPr id="7" name="TextBox 7"/>
            <p:cNvSpPr txBox="1"/>
            <p:nvPr/>
          </p:nvSpPr>
          <p:spPr>
            <a:xfrm>
              <a:off x="0" y="409575"/>
              <a:ext cx="9182100" cy="4279377"/>
            </a:xfrm>
            <a:prstGeom prst="rect">
              <a:avLst/>
            </a:prstGeom>
          </p:spPr>
          <p:txBody>
            <a:bodyPr lIns="0" tIns="0" rIns="0" bIns="0" rtlCol="0" anchor="t">
              <a:spAutoFit/>
            </a:bodyPr>
            <a:lstStyle/>
            <a:p>
              <a:pPr marL="0" marR="0" lvl="0" indent="0" algn="l" defTabSz="914400" rtl="0" eaLnBrk="1" fontAlgn="auto" latinLnBrk="0" hangingPunct="1">
                <a:lnSpc>
                  <a:spcPts val="12960"/>
                </a:lnSpc>
                <a:spcBef>
                  <a:spcPts val="0"/>
                </a:spcBef>
                <a:spcAft>
                  <a:spcPts val="0"/>
                </a:spcAft>
                <a:buClrTx/>
                <a:buSzTx/>
                <a:buFontTx/>
                <a:buNone/>
                <a:tabLst/>
                <a:defRPr/>
              </a:pPr>
              <a:r>
                <a:rPr kumimoji="0" lang="en-US" sz="9600" b="0" i="0" u="none" strike="noStrike" kern="1200" cap="none" spc="-288" normalizeH="0" baseline="0" noProof="0" dirty="0">
                  <a:ln>
                    <a:noFill/>
                  </a:ln>
                  <a:solidFill>
                    <a:srgbClr val="FFFFFF"/>
                  </a:solidFill>
                  <a:effectLst/>
                  <a:uLnTx/>
                  <a:uFillTx/>
                  <a:latin typeface="Noto Serif Display ExtraCondensed Light"/>
                  <a:ea typeface="Noto Serif Display ExtraCondensed Light"/>
                  <a:cs typeface="Noto Serif Display ExtraCondensed Light"/>
                  <a:sym typeface="Noto Serif Display ExtraCondensed Light"/>
                </a:rPr>
                <a:t>Shadow AI in Robotics</a:t>
              </a:r>
            </a:p>
          </p:txBody>
        </p:sp>
      </p:grpSp>
      <p:sp>
        <p:nvSpPr>
          <p:cNvPr id="8" name="AutoShape 8"/>
          <p:cNvSpPr/>
          <p:nvPr/>
        </p:nvSpPr>
        <p:spPr>
          <a:xfrm>
            <a:off x="0" y="676275"/>
            <a:ext cx="9296400" cy="0"/>
          </a:xfrm>
          <a:prstGeom prst="line">
            <a:avLst/>
          </a:prstGeom>
          <a:ln w="19050" cap="flat">
            <a:solidFill>
              <a:srgbClr val="FFFFFF"/>
            </a:solidFill>
            <a:prstDash val="solid"/>
            <a:headEnd type="none" w="sm" len="sm"/>
            <a:tailEnd type="none" w="sm" len="sm"/>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A2A"/>
        </a:solidFill>
        <a:effectLst/>
      </p:bgPr>
    </p:bg>
    <p:spTree>
      <p:nvGrpSpPr>
        <p:cNvPr id="1" name=""/>
        <p:cNvGrpSpPr/>
        <p:nvPr/>
      </p:nvGrpSpPr>
      <p:grpSpPr>
        <a:xfrm>
          <a:off x="0" y="0"/>
          <a:ext cx="0" cy="0"/>
          <a:chOff x="0" y="0"/>
          <a:chExt cx="0" cy="0"/>
        </a:xfrm>
      </p:grpSpPr>
      <p:grpSp>
        <p:nvGrpSpPr>
          <p:cNvPr id="2" name="Group 2"/>
          <p:cNvGrpSpPr/>
          <p:nvPr/>
        </p:nvGrpSpPr>
        <p:grpSpPr>
          <a:xfrm>
            <a:off x="9296400" y="7826375"/>
            <a:ext cx="873125" cy="879670"/>
            <a:chOff x="0" y="0"/>
            <a:chExt cx="812800" cy="818893"/>
          </a:xfrm>
        </p:grpSpPr>
        <p:sp>
          <p:nvSpPr>
            <p:cNvPr id="3" name="Freeform 3"/>
            <p:cNvSpPr/>
            <p:nvPr/>
          </p:nvSpPr>
          <p:spPr>
            <a:xfrm>
              <a:off x="0" y="0"/>
              <a:ext cx="812800" cy="818893"/>
            </a:xfrm>
            <a:custGeom>
              <a:avLst/>
              <a:gdLst/>
              <a:ahLst/>
              <a:cxnLst/>
              <a:rect l="l" t="t" r="r" b="b"/>
              <a:pathLst>
                <a:path w="812800" h="818893">
                  <a:moveTo>
                    <a:pt x="406400" y="0"/>
                  </a:moveTo>
                  <a:cubicBezTo>
                    <a:pt x="181951" y="0"/>
                    <a:pt x="0" y="183316"/>
                    <a:pt x="0" y="409447"/>
                  </a:cubicBezTo>
                  <a:cubicBezTo>
                    <a:pt x="0" y="635578"/>
                    <a:pt x="181951" y="818893"/>
                    <a:pt x="406400" y="818893"/>
                  </a:cubicBezTo>
                  <a:cubicBezTo>
                    <a:pt x="630849" y="818893"/>
                    <a:pt x="812800" y="635578"/>
                    <a:pt x="812800" y="409447"/>
                  </a:cubicBezTo>
                  <a:cubicBezTo>
                    <a:pt x="812800" y="183316"/>
                    <a:pt x="630849" y="0"/>
                    <a:pt x="406400" y="0"/>
                  </a:cubicBezTo>
                  <a:close/>
                </a:path>
              </a:pathLst>
            </a:custGeom>
            <a:solidFill>
              <a:srgbClr val="E6394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76200" y="29146"/>
              <a:ext cx="660400" cy="712976"/>
            </a:xfrm>
            <a:prstGeom prst="rect">
              <a:avLst/>
            </a:prstGeom>
          </p:spPr>
          <p:txBody>
            <a:bodyPr lIns="50800" tIns="50800" rIns="50800" bIns="50800" rtlCol="0" anchor="ctr"/>
            <a:lstStyle/>
            <a:p>
              <a:pPr marL="0" marR="0" lvl="0" indent="0" algn="ctr" defTabSz="914400" rtl="0" eaLnBrk="1" fontAlgn="auto" latinLnBrk="0" hangingPunct="1">
                <a:lnSpc>
                  <a:spcPts val="331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p:cNvSpPr txBox="1"/>
          <p:nvPr/>
        </p:nvSpPr>
        <p:spPr>
          <a:xfrm>
            <a:off x="666750" y="742950"/>
            <a:ext cx="6886575" cy="5306695"/>
          </a:xfrm>
          <a:prstGeom prst="rect">
            <a:avLst/>
          </a:prstGeom>
        </p:spPr>
        <p:txBody>
          <a:bodyPr lIns="0" tIns="0" rIns="0" bIns="0" rtlCol="0" anchor="t">
            <a:spAutoFit/>
          </a:bodyPr>
          <a:lstStyle/>
          <a:p>
            <a:pPr marL="0" marR="0" lvl="0" indent="0" algn="l" defTabSz="914400" rtl="0" eaLnBrk="1" fontAlgn="auto" latinLnBrk="0" hangingPunct="1">
              <a:lnSpc>
                <a:spcPts val="8359"/>
              </a:lnSpc>
              <a:spcBef>
                <a:spcPts val="0"/>
              </a:spcBef>
              <a:spcAft>
                <a:spcPts val="0"/>
              </a:spcAft>
              <a:buClrTx/>
              <a:buSzTx/>
              <a:buFontTx/>
              <a:buNone/>
              <a:tabLst/>
              <a:defRPr/>
            </a:pPr>
            <a:r>
              <a:rPr kumimoji="0" lang="en-US" sz="7599" b="1" i="0" u="none" strike="noStrike" kern="1200" cap="none" spc="-189" normalizeH="0" baseline="0" noProof="0">
                <a:ln>
                  <a:noFill/>
                </a:ln>
                <a:solidFill>
                  <a:srgbClr val="F1FAEE"/>
                </a:solidFill>
                <a:effectLst/>
                <a:uLnTx/>
                <a:uFillTx/>
                <a:latin typeface="Garet Bold"/>
                <a:ea typeface="Garet Bold"/>
                <a:cs typeface="Garet Bold"/>
                <a:sym typeface="Garet Bold"/>
              </a:rPr>
              <a:t>Shadow AI Risk in Robotics: Executive Overview</a:t>
            </a:r>
          </a:p>
        </p:txBody>
      </p:sp>
      <p:grpSp>
        <p:nvGrpSpPr>
          <p:cNvPr id="6" name="Group 6"/>
          <p:cNvGrpSpPr/>
          <p:nvPr/>
        </p:nvGrpSpPr>
        <p:grpSpPr>
          <a:xfrm>
            <a:off x="10734675" y="7834312"/>
            <a:ext cx="6886575" cy="1797782"/>
            <a:chOff x="0" y="0"/>
            <a:chExt cx="9182100" cy="2397042"/>
          </a:xfrm>
        </p:grpSpPr>
        <p:sp>
          <p:nvSpPr>
            <p:cNvPr id="7" name="TextBox 7"/>
            <p:cNvSpPr txBox="1"/>
            <p:nvPr/>
          </p:nvSpPr>
          <p:spPr>
            <a:xfrm>
              <a:off x="0" y="-47625"/>
              <a:ext cx="9182100" cy="564261"/>
            </a:xfrm>
            <a:prstGeom prst="rect">
              <a:avLst/>
            </a:prstGeom>
          </p:spPr>
          <p:txBody>
            <a:bodyPr lIns="0" tIns="0" rIns="0" bIns="0" rtlCol="0" anchor="t">
              <a:spAutoFit/>
            </a:bodyPr>
            <a:lstStyle/>
            <a:p>
              <a:pPr marL="0" marR="0" lvl="0" indent="0" algn="l" defTabSz="914400" rtl="0" eaLnBrk="1" fontAlgn="auto" latinLnBrk="0" hangingPunct="1">
                <a:lnSpc>
                  <a:spcPts val="3318"/>
                </a:lnSpc>
                <a:spcBef>
                  <a:spcPts val="0"/>
                </a:spcBef>
                <a:spcAft>
                  <a:spcPts val="0"/>
                </a:spcAft>
                <a:buClrTx/>
                <a:buSzTx/>
                <a:buFontTx/>
                <a:buNone/>
                <a:tabLst/>
                <a:defRPr/>
              </a:pPr>
              <a:r>
                <a:rPr kumimoji="0" lang="en-US" sz="2370" b="1" i="0" u="none" strike="noStrike" kern="1200" cap="none" spc="0" normalizeH="0" baseline="0" noProof="0">
                  <a:ln>
                    <a:noFill/>
                  </a:ln>
                  <a:solidFill>
                    <a:srgbClr val="A8DADC"/>
                  </a:solidFill>
                  <a:effectLst/>
                  <a:uLnTx/>
                  <a:uFillTx/>
                  <a:latin typeface="Helvetica World Bold"/>
                  <a:ea typeface="Helvetica World Bold"/>
                  <a:cs typeface="Helvetica World Bold"/>
                  <a:sym typeface="Helvetica World Bold"/>
                </a:rPr>
                <a:t>Mitigation Strategies</a:t>
              </a:r>
            </a:p>
          </p:txBody>
        </p:sp>
        <p:sp>
          <p:nvSpPr>
            <p:cNvPr id="8" name="TextBox 8"/>
            <p:cNvSpPr txBox="1"/>
            <p:nvPr/>
          </p:nvSpPr>
          <p:spPr>
            <a:xfrm>
              <a:off x="0" y="742696"/>
              <a:ext cx="9182100" cy="1654346"/>
            </a:xfrm>
            <a:prstGeom prst="rect">
              <a:avLst/>
            </a:prstGeom>
          </p:spPr>
          <p:txBody>
            <a:bodyPr lIns="0" tIns="0" rIns="0" bIns="0" rtlCol="0" anchor="t">
              <a:spAutoFit/>
            </a:bodyPr>
            <a:lstStyle/>
            <a:p>
              <a:pPr marL="0" marR="0" lvl="0" indent="0" algn="l" defTabSz="914400" rtl="0" eaLnBrk="1" fontAlgn="auto" latinLnBrk="0" hangingPunct="1">
                <a:lnSpc>
                  <a:spcPts val="2486"/>
                </a:lnSpc>
                <a:spcBef>
                  <a:spcPts val="0"/>
                </a:spcBef>
                <a:spcAft>
                  <a:spcPts val="0"/>
                </a:spcAft>
                <a:buClrTx/>
                <a:buSzTx/>
                <a:buFontTx/>
                <a:buNone/>
                <a:tabLst/>
                <a:defRPr/>
              </a:pPr>
              <a:r>
                <a:rPr kumimoji="0" lang="en-US" sz="1776" b="0" i="0" u="none" strike="noStrike" kern="1200" cap="none" spc="0" normalizeH="0" baseline="0" noProof="0">
                  <a:ln>
                    <a:noFill/>
                  </a:ln>
                  <a:solidFill>
                    <a:srgbClr val="F1FAEE"/>
                  </a:solidFill>
                  <a:effectLst/>
                  <a:uLnTx/>
                  <a:uFillTx/>
                  <a:latin typeface="Helvetica World"/>
                  <a:ea typeface="Helvetica World"/>
                  <a:cs typeface="Helvetica World"/>
                  <a:sym typeface="Helvetica World"/>
                </a:rPr>
                <a:t>Effective mitigation strategies involve implementing robust AI governance, conducting regular audits, providing employee training, and establishing automated monitoring systems to detect unauthorized AI usage in robotics.</a:t>
              </a:r>
            </a:p>
          </p:txBody>
        </p:sp>
      </p:grpSp>
      <p:grpSp>
        <p:nvGrpSpPr>
          <p:cNvPr id="9" name="Group 9"/>
          <p:cNvGrpSpPr/>
          <p:nvPr/>
        </p:nvGrpSpPr>
        <p:grpSpPr>
          <a:xfrm>
            <a:off x="9296400" y="5140325"/>
            <a:ext cx="873125" cy="879670"/>
            <a:chOff x="0" y="0"/>
            <a:chExt cx="812800" cy="818893"/>
          </a:xfrm>
        </p:grpSpPr>
        <p:sp>
          <p:nvSpPr>
            <p:cNvPr id="10" name="Freeform 10"/>
            <p:cNvSpPr/>
            <p:nvPr/>
          </p:nvSpPr>
          <p:spPr>
            <a:xfrm>
              <a:off x="0" y="0"/>
              <a:ext cx="812800" cy="818893"/>
            </a:xfrm>
            <a:custGeom>
              <a:avLst/>
              <a:gdLst/>
              <a:ahLst/>
              <a:cxnLst/>
              <a:rect l="l" t="t" r="r" b="b"/>
              <a:pathLst>
                <a:path w="812800" h="818893">
                  <a:moveTo>
                    <a:pt x="406400" y="0"/>
                  </a:moveTo>
                  <a:cubicBezTo>
                    <a:pt x="181951" y="0"/>
                    <a:pt x="0" y="183316"/>
                    <a:pt x="0" y="409447"/>
                  </a:cubicBezTo>
                  <a:cubicBezTo>
                    <a:pt x="0" y="635578"/>
                    <a:pt x="181951" y="818893"/>
                    <a:pt x="406400" y="818893"/>
                  </a:cubicBezTo>
                  <a:cubicBezTo>
                    <a:pt x="630849" y="818893"/>
                    <a:pt x="812800" y="635578"/>
                    <a:pt x="812800" y="409447"/>
                  </a:cubicBezTo>
                  <a:cubicBezTo>
                    <a:pt x="812800" y="183316"/>
                    <a:pt x="630849" y="0"/>
                    <a:pt x="406400" y="0"/>
                  </a:cubicBezTo>
                  <a:close/>
                </a:path>
              </a:pathLst>
            </a:custGeom>
            <a:solidFill>
              <a:srgbClr val="E6394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76200" y="29146"/>
              <a:ext cx="660400" cy="712976"/>
            </a:xfrm>
            <a:prstGeom prst="rect">
              <a:avLst/>
            </a:prstGeom>
          </p:spPr>
          <p:txBody>
            <a:bodyPr lIns="50800" tIns="50800" rIns="50800" bIns="50800" rtlCol="0" anchor="ctr"/>
            <a:lstStyle/>
            <a:p>
              <a:pPr marL="0" marR="0" lvl="0" indent="0" algn="ctr" defTabSz="914400" rtl="0" eaLnBrk="1" fontAlgn="auto" latinLnBrk="0" hangingPunct="1">
                <a:lnSpc>
                  <a:spcPts val="331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p:cNvGrpSpPr/>
          <p:nvPr/>
        </p:nvGrpSpPr>
        <p:grpSpPr>
          <a:xfrm>
            <a:off x="10734675" y="5148262"/>
            <a:ext cx="6886575" cy="1797782"/>
            <a:chOff x="0" y="0"/>
            <a:chExt cx="9182100" cy="2397042"/>
          </a:xfrm>
        </p:grpSpPr>
        <p:sp>
          <p:nvSpPr>
            <p:cNvPr id="13" name="TextBox 13"/>
            <p:cNvSpPr txBox="1"/>
            <p:nvPr/>
          </p:nvSpPr>
          <p:spPr>
            <a:xfrm>
              <a:off x="0" y="-47625"/>
              <a:ext cx="9182100" cy="564261"/>
            </a:xfrm>
            <a:prstGeom prst="rect">
              <a:avLst/>
            </a:prstGeom>
          </p:spPr>
          <p:txBody>
            <a:bodyPr lIns="0" tIns="0" rIns="0" bIns="0" rtlCol="0" anchor="t">
              <a:spAutoFit/>
            </a:bodyPr>
            <a:lstStyle/>
            <a:p>
              <a:pPr marL="0" marR="0" lvl="0" indent="0" algn="l" defTabSz="914400" rtl="0" eaLnBrk="1" fontAlgn="auto" latinLnBrk="0" hangingPunct="1">
                <a:lnSpc>
                  <a:spcPts val="3318"/>
                </a:lnSpc>
                <a:spcBef>
                  <a:spcPts val="0"/>
                </a:spcBef>
                <a:spcAft>
                  <a:spcPts val="0"/>
                </a:spcAft>
                <a:buClrTx/>
                <a:buSzTx/>
                <a:buFontTx/>
                <a:buNone/>
                <a:tabLst/>
                <a:defRPr/>
              </a:pPr>
              <a:r>
                <a:rPr kumimoji="0" lang="en-US" sz="2370" b="1" i="0" u="none" strike="noStrike" kern="1200" cap="none" spc="0" normalizeH="0" baseline="0" noProof="0">
                  <a:ln>
                    <a:noFill/>
                  </a:ln>
                  <a:solidFill>
                    <a:srgbClr val="A8DADC"/>
                  </a:solidFill>
                  <a:effectLst/>
                  <a:uLnTx/>
                  <a:uFillTx/>
                  <a:latin typeface="Helvetica World Bold"/>
                  <a:ea typeface="Helvetica World Bold"/>
                  <a:cs typeface="Helvetica World Bold"/>
                  <a:sym typeface="Helvetica World Bold"/>
                </a:rPr>
                <a:t>Key Risks Identified</a:t>
              </a:r>
            </a:p>
          </p:txBody>
        </p:sp>
        <p:sp>
          <p:nvSpPr>
            <p:cNvPr id="14" name="TextBox 14"/>
            <p:cNvSpPr txBox="1"/>
            <p:nvPr/>
          </p:nvSpPr>
          <p:spPr>
            <a:xfrm>
              <a:off x="0" y="742696"/>
              <a:ext cx="9182100" cy="1654346"/>
            </a:xfrm>
            <a:prstGeom prst="rect">
              <a:avLst/>
            </a:prstGeom>
          </p:spPr>
          <p:txBody>
            <a:bodyPr lIns="0" tIns="0" rIns="0" bIns="0" rtlCol="0" anchor="t">
              <a:spAutoFit/>
            </a:bodyPr>
            <a:lstStyle/>
            <a:p>
              <a:pPr marL="0" marR="0" lvl="0" indent="0" algn="l" defTabSz="914400" rtl="0" eaLnBrk="1" fontAlgn="auto" latinLnBrk="0" hangingPunct="1">
                <a:lnSpc>
                  <a:spcPts val="2486"/>
                </a:lnSpc>
                <a:spcBef>
                  <a:spcPts val="0"/>
                </a:spcBef>
                <a:spcAft>
                  <a:spcPts val="0"/>
                </a:spcAft>
                <a:buClrTx/>
                <a:buSzTx/>
                <a:buFontTx/>
                <a:buNone/>
                <a:tabLst/>
                <a:defRPr/>
              </a:pPr>
              <a:r>
                <a:rPr kumimoji="0" lang="en-US" sz="1776" b="0" i="0" u="none" strike="noStrike" kern="1200" cap="none" spc="0" normalizeH="0" baseline="0" noProof="0">
                  <a:ln>
                    <a:noFill/>
                  </a:ln>
                  <a:solidFill>
                    <a:srgbClr val="F1FAEE"/>
                  </a:solidFill>
                  <a:effectLst/>
                  <a:uLnTx/>
                  <a:uFillTx/>
                  <a:latin typeface="Helvetica World"/>
                  <a:ea typeface="Helvetica World"/>
                  <a:cs typeface="Helvetica World"/>
                  <a:sym typeface="Helvetica World"/>
                </a:rPr>
                <a:t>The risks associated with Shadow AI include data security breaches, compliance violations, operational instability, and reputational damage, each posing serious threats to organizational integrity and trustworthiness.</a:t>
              </a:r>
            </a:p>
          </p:txBody>
        </p:sp>
      </p:grpSp>
      <p:grpSp>
        <p:nvGrpSpPr>
          <p:cNvPr id="15" name="Group 15"/>
          <p:cNvGrpSpPr/>
          <p:nvPr/>
        </p:nvGrpSpPr>
        <p:grpSpPr>
          <a:xfrm>
            <a:off x="9296400" y="2457450"/>
            <a:ext cx="873125" cy="879670"/>
            <a:chOff x="0" y="0"/>
            <a:chExt cx="812800" cy="818893"/>
          </a:xfrm>
        </p:grpSpPr>
        <p:sp>
          <p:nvSpPr>
            <p:cNvPr id="16" name="Freeform 16"/>
            <p:cNvSpPr/>
            <p:nvPr/>
          </p:nvSpPr>
          <p:spPr>
            <a:xfrm>
              <a:off x="0" y="0"/>
              <a:ext cx="812800" cy="818893"/>
            </a:xfrm>
            <a:custGeom>
              <a:avLst/>
              <a:gdLst/>
              <a:ahLst/>
              <a:cxnLst/>
              <a:rect l="l" t="t" r="r" b="b"/>
              <a:pathLst>
                <a:path w="812800" h="818893">
                  <a:moveTo>
                    <a:pt x="406400" y="0"/>
                  </a:moveTo>
                  <a:cubicBezTo>
                    <a:pt x="181951" y="0"/>
                    <a:pt x="0" y="183316"/>
                    <a:pt x="0" y="409447"/>
                  </a:cubicBezTo>
                  <a:cubicBezTo>
                    <a:pt x="0" y="635578"/>
                    <a:pt x="181951" y="818893"/>
                    <a:pt x="406400" y="818893"/>
                  </a:cubicBezTo>
                  <a:cubicBezTo>
                    <a:pt x="630849" y="818893"/>
                    <a:pt x="812800" y="635578"/>
                    <a:pt x="812800" y="409447"/>
                  </a:cubicBezTo>
                  <a:cubicBezTo>
                    <a:pt x="812800" y="183316"/>
                    <a:pt x="630849" y="0"/>
                    <a:pt x="406400" y="0"/>
                  </a:cubicBezTo>
                  <a:close/>
                </a:path>
              </a:pathLst>
            </a:custGeom>
            <a:solidFill>
              <a:srgbClr val="E6394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Box 17"/>
            <p:cNvSpPr txBox="1"/>
            <p:nvPr/>
          </p:nvSpPr>
          <p:spPr>
            <a:xfrm>
              <a:off x="76200" y="29146"/>
              <a:ext cx="660400" cy="712976"/>
            </a:xfrm>
            <a:prstGeom prst="rect">
              <a:avLst/>
            </a:prstGeom>
          </p:spPr>
          <p:txBody>
            <a:bodyPr lIns="50800" tIns="50800" rIns="50800" bIns="50800" rtlCol="0" anchor="ctr"/>
            <a:lstStyle/>
            <a:p>
              <a:pPr marL="0" marR="0" lvl="0" indent="0" algn="ctr" defTabSz="914400" rtl="0" eaLnBrk="1" fontAlgn="auto" latinLnBrk="0" hangingPunct="1">
                <a:lnSpc>
                  <a:spcPts val="331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18"/>
          <p:cNvGrpSpPr/>
          <p:nvPr/>
        </p:nvGrpSpPr>
        <p:grpSpPr>
          <a:xfrm>
            <a:off x="10734675" y="2465388"/>
            <a:ext cx="6886575" cy="1826357"/>
            <a:chOff x="0" y="0"/>
            <a:chExt cx="9182100" cy="2435142"/>
          </a:xfrm>
        </p:grpSpPr>
        <p:sp>
          <p:nvSpPr>
            <p:cNvPr id="19" name="TextBox 19"/>
            <p:cNvSpPr txBox="1"/>
            <p:nvPr/>
          </p:nvSpPr>
          <p:spPr>
            <a:xfrm>
              <a:off x="0" y="-47625"/>
              <a:ext cx="9182100" cy="564261"/>
            </a:xfrm>
            <a:prstGeom prst="rect">
              <a:avLst/>
            </a:prstGeom>
          </p:spPr>
          <p:txBody>
            <a:bodyPr lIns="0" tIns="0" rIns="0" bIns="0" rtlCol="0" anchor="t">
              <a:spAutoFit/>
            </a:bodyPr>
            <a:lstStyle/>
            <a:p>
              <a:pPr marL="0" marR="0" lvl="0" indent="0" algn="l" defTabSz="914400" rtl="0" eaLnBrk="1" fontAlgn="auto" latinLnBrk="0" hangingPunct="1">
                <a:lnSpc>
                  <a:spcPts val="3318"/>
                </a:lnSpc>
                <a:spcBef>
                  <a:spcPts val="0"/>
                </a:spcBef>
                <a:spcAft>
                  <a:spcPts val="0"/>
                </a:spcAft>
                <a:buClrTx/>
                <a:buSzTx/>
                <a:buFontTx/>
                <a:buNone/>
                <a:tabLst/>
                <a:defRPr/>
              </a:pPr>
              <a:r>
                <a:rPr kumimoji="0" lang="en-US" sz="2370" b="1" i="0" u="none" strike="noStrike" kern="1200" cap="none" spc="0" normalizeH="0" baseline="0" noProof="0">
                  <a:ln>
                    <a:noFill/>
                  </a:ln>
                  <a:solidFill>
                    <a:srgbClr val="A8DADC"/>
                  </a:solidFill>
                  <a:effectLst/>
                  <a:uLnTx/>
                  <a:uFillTx/>
                  <a:latin typeface="Helvetica World Bold"/>
                  <a:ea typeface="Helvetica World Bold"/>
                  <a:cs typeface="Helvetica World Bold"/>
                  <a:sym typeface="Helvetica World Bold"/>
                </a:rPr>
                <a:t>Definition of Shadow AI</a:t>
              </a:r>
            </a:p>
          </p:txBody>
        </p:sp>
        <p:sp>
          <p:nvSpPr>
            <p:cNvPr id="20" name="TextBox 20"/>
            <p:cNvSpPr txBox="1"/>
            <p:nvPr/>
          </p:nvSpPr>
          <p:spPr>
            <a:xfrm>
              <a:off x="0" y="742696"/>
              <a:ext cx="9182100" cy="1692446"/>
            </a:xfrm>
            <a:prstGeom prst="rect">
              <a:avLst/>
            </a:prstGeom>
          </p:spPr>
          <p:txBody>
            <a:bodyPr lIns="0" tIns="0" rIns="0" bIns="0" rtlCol="0" anchor="t">
              <a:spAutoFit/>
            </a:bodyPr>
            <a:lstStyle/>
            <a:p>
              <a:pPr marL="0" marR="0" lvl="0" indent="0" algn="l" defTabSz="914400" rtl="0" eaLnBrk="1" fontAlgn="auto" latinLnBrk="0" hangingPunct="1">
                <a:lnSpc>
                  <a:spcPts val="2486"/>
                </a:lnSpc>
                <a:spcBef>
                  <a:spcPts val="0"/>
                </a:spcBef>
                <a:spcAft>
                  <a:spcPts val="0"/>
                </a:spcAft>
                <a:buClrTx/>
                <a:buSzTx/>
                <a:buFontTx/>
                <a:buNone/>
                <a:tabLst/>
                <a:defRPr/>
              </a:pPr>
              <a:r>
                <a:rPr kumimoji="0" lang="en-US" sz="1776" b="1" i="0" u="none" strike="noStrike" kern="1200" cap="none" spc="0" normalizeH="0" baseline="0" noProof="0">
                  <a:ln>
                    <a:noFill/>
                  </a:ln>
                  <a:solidFill>
                    <a:srgbClr val="F1FAEE"/>
                  </a:solidFill>
                  <a:effectLst/>
                  <a:uLnTx/>
                  <a:uFillTx/>
                  <a:latin typeface="Helvetica World Bold"/>
                  <a:ea typeface="Helvetica World Bold"/>
                  <a:cs typeface="Helvetica World Bold"/>
                  <a:sym typeface="Helvetica World Bold"/>
                </a:rPr>
                <a:t>Shadow AI</a:t>
              </a:r>
              <a:r>
                <a:rPr kumimoji="0" lang="en-US" sz="1776" b="0" i="0" u="none" strike="noStrike" kern="1200" cap="none" spc="0" normalizeH="0" baseline="0" noProof="0">
                  <a:ln>
                    <a:noFill/>
                  </a:ln>
                  <a:solidFill>
                    <a:srgbClr val="F1FAEE"/>
                  </a:solidFill>
                  <a:effectLst/>
                  <a:uLnTx/>
                  <a:uFillTx/>
                  <a:latin typeface="Helvetica World"/>
                  <a:ea typeface="Helvetica World"/>
                  <a:cs typeface="Helvetica World"/>
                  <a:sym typeface="Helvetica World"/>
                </a:rPr>
                <a:t> refers to the hidden or unapproved use of artificial intelligence systems within robotics, often operating outside established governance frameworks, leading to significant regulatory and operational concerns.</a:t>
              </a:r>
            </a:p>
          </p:txBody>
        </p:sp>
      </p:grpSp>
      <p:sp>
        <p:nvSpPr>
          <p:cNvPr id="21" name="TextBox 21"/>
          <p:cNvSpPr txBox="1"/>
          <p:nvPr/>
        </p:nvSpPr>
        <p:spPr>
          <a:xfrm>
            <a:off x="9490911" y="2651540"/>
            <a:ext cx="484102" cy="435102"/>
          </a:xfrm>
          <a:prstGeom prst="rect">
            <a:avLst/>
          </a:prstGeom>
        </p:spPr>
        <p:txBody>
          <a:bodyPr lIns="0" tIns="0" rIns="0" bIns="0" rtlCol="0" anchor="t">
            <a:spAutoFit/>
          </a:bodyPr>
          <a:lstStyle/>
          <a:p>
            <a:pPr marL="0" marR="0" lvl="0" indent="0" algn="ctr" defTabSz="914400" rtl="0" eaLnBrk="1" fontAlgn="auto" latinLnBrk="0" hangingPunct="1">
              <a:lnSpc>
                <a:spcPts val="3318"/>
              </a:lnSpc>
              <a:spcBef>
                <a:spcPts val="0"/>
              </a:spcBef>
              <a:spcAft>
                <a:spcPts val="0"/>
              </a:spcAft>
              <a:buClrTx/>
              <a:buSzTx/>
              <a:buFontTx/>
              <a:buNone/>
              <a:tabLst/>
              <a:defRPr/>
            </a:pPr>
            <a:r>
              <a:rPr kumimoji="0" lang="en-US" sz="2370" b="1" i="0" u="none" strike="noStrike" kern="1200" cap="none" spc="0" normalizeH="0" baseline="0" noProof="0">
                <a:ln>
                  <a:noFill/>
                </a:ln>
                <a:solidFill>
                  <a:srgbClr val="A8DADC"/>
                </a:solidFill>
                <a:effectLst/>
                <a:uLnTx/>
                <a:uFillTx/>
                <a:latin typeface="Helvetica World Bold"/>
                <a:ea typeface="Helvetica World Bold"/>
                <a:cs typeface="Helvetica World Bold"/>
                <a:sym typeface="Helvetica World Bold"/>
              </a:rPr>
              <a:t>1</a:t>
            </a:r>
          </a:p>
        </p:txBody>
      </p:sp>
      <p:sp>
        <p:nvSpPr>
          <p:cNvPr id="22" name="TextBox 22"/>
          <p:cNvSpPr txBox="1"/>
          <p:nvPr/>
        </p:nvSpPr>
        <p:spPr>
          <a:xfrm>
            <a:off x="9490911" y="5334415"/>
            <a:ext cx="484102" cy="435102"/>
          </a:xfrm>
          <a:prstGeom prst="rect">
            <a:avLst/>
          </a:prstGeom>
        </p:spPr>
        <p:txBody>
          <a:bodyPr lIns="0" tIns="0" rIns="0" bIns="0" rtlCol="0" anchor="t">
            <a:spAutoFit/>
          </a:bodyPr>
          <a:lstStyle/>
          <a:p>
            <a:pPr marL="0" marR="0" lvl="0" indent="0" algn="ctr" defTabSz="914400" rtl="0" eaLnBrk="1" fontAlgn="auto" latinLnBrk="0" hangingPunct="1">
              <a:lnSpc>
                <a:spcPts val="3318"/>
              </a:lnSpc>
              <a:spcBef>
                <a:spcPts val="0"/>
              </a:spcBef>
              <a:spcAft>
                <a:spcPts val="0"/>
              </a:spcAft>
              <a:buClrTx/>
              <a:buSzTx/>
              <a:buFontTx/>
              <a:buNone/>
              <a:tabLst/>
              <a:defRPr/>
            </a:pPr>
            <a:r>
              <a:rPr kumimoji="0" lang="en-US" sz="2370" b="1" i="0" u="none" strike="noStrike" kern="1200" cap="none" spc="0" normalizeH="0" baseline="0" noProof="0">
                <a:ln>
                  <a:noFill/>
                </a:ln>
                <a:solidFill>
                  <a:srgbClr val="A8DADC"/>
                </a:solidFill>
                <a:effectLst/>
                <a:uLnTx/>
                <a:uFillTx/>
                <a:latin typeface="Helvetica World Bold"/>
                <a:ea typeface="Helvetica World Bold"/>
                <a:cs typeface="Helvetica World Bold"/>
                <a:sym typeface="Helvetica World Bold"/>
              </a:rPr>
              <a:t>2</a:t>
            </a:r>
          </a:p>
        </p:txBody>
      </p:sp>
      <p:sp>
        <p:nvSpPr>
          <p:cNvPr id="23" name="TextBox 23"/>
          <p:cNvSpPr txBox="1"/>
          <p:nvPr/>
        </p:nvSpPr>
        <p:spPr>
          <a:xfrm>
            <a:off x="9490911" y="8020245"/>
            <a:ext cx="484102" cy="435102"/>
          </a:xfrm>
          <a:prstGeom prst="rect">
            <a:avLst/>
          </a:prstGeom>
        </p:spPr>
        <p:txBody>
          <a:bodyPr lIns="0" tIns="0" rIns="0" bIns="0" rtlCol="0" anchor="t">
            <a:spAutoFit/>
          </a:bodyPr>
          <a:lstStyle/>
          <a:p>
            <a:pPr marL="0" marR="0" lvl="0" indent="0" algn="ctr" defTabSz="914400" rtl="0" eaLnBrk="1" fontAlgn="auto" latinLnBrk="0" hangingPunct="1">
              <a:lnSpc>
                <a:spcPts val="3318"/>
              </a:lnSpc>
              <a:spcBef>
                <a:spcPts val="0"/>
              </a:spcBef>
              <a:spcAft>
                <a:spcPts val="0"/>
              </a:spcAft>
              <a:buClrTx/>
              <a:buSzTx/>
              <a:buFontTx/>
              <a:buNone/>
              <a:tabLst/>
              <a:defRPr/>
            </a:pPr>
            <a:r>
              <a:rPr kumimoji="0" lang="en-US" sz="2370" b="1" i="0" u="none" strike="noStrike" kern="1200" cap="none" spc="0" normalizeH="0" baseline="0" noProof="0">
                <a:ln>
                  <a:noFill/>
                </a:ln>
                <a:solidFill>
                  <a:srgbClr val="A8DADC"/>
                </a:solidFill>
                <a:effectLst/>
                <a:uLnTx/>
                <a:uFillTx/>
                <a:latin typeface="Helvetica World Bold"/>
                <a:ea typeface="Helvetica World Bold"/>
                <a:cs typeface="Helvetica World Bold"/>
                <a:sym typeface="Helvetica World Bold"/>
              </a:rPr>
              <a:t>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0067925" cy="7799070"/>
            <a:chOff x="0" y="0"/>
            <a:chExt cx="13423900" cy="10398759"/>
          </a:xfrm>
        </p:grpSpPr>
        <p:sp>
          <p:nvSpPr>
            <p:cNvPr id="3" name="TextBox 3"/>
            <p:cNvSpPr txBox="1"/>
            <p:nvPr/>
          </p:nvSpPr>
          <p:spPr>
            <a:xfrm>
              <a:off x="0" y="28575"/>
              <a:ext cx="13423900" cy="6050496"/>
            </a:xfrm>
            <a:prstGeom prst="rect">
              <a:avLst/>
            </a:prstGeom>
          </p:spPr>
          <p:txBody>
            <a:bodyPr lIns="0" tIns="0" rIns="0" bIns="0" rtlCol="0" anchor="t">
              <a:spAutoFit/>
            </a:bodyPr>
            <a:lstStyle/>
            <a:p>
              <a:pPr marL="0" marR="0" lvl="0" indent="0" algn="l" defTabSz="914400" rtl="0" eaLnBrk="1" fontAlgn="auto" latinLnBrk="0" hangingPunct="1">
                <a:lnSpc>
                  <a:spcPts val="8800"/>
                </a:lnSpc>
                <a:spcBef>
                  <a:spcPct val="0"/>
                </a:spcBef>
                <a:spcAft>
                  <a:spcPts val="0"/>
                </a:spcAft>
                <a:buClrTx/>
                <a:buSzTx/>
                <a:buFontTx/>
                <a:buNone/>
                <a:tabLst/>
                <a:defRPr/>
              </a:pPr>
              <a:r>
                <a:rPr kumimoji="0" lang="en-US" sz="8000" b="0" i="0" u="none" strike="noStrike" kern="1200" cap="none" spc="0" normalizeH="0" baseline="0" noProof="0">
                  <a:ln>
                    <a:noFill/>
                  </a:ln>
                  <a:solidFill>
                    <a:srgbClr val="ECF0F1"/>
                  </a:solidFill>
                  <a:effectLst/>
                  <a:uLnTx/>
                  <a:uFillTx/>
                  <a:latin typeface="Helios Extended"/>
                  <a:ea typeface="Helios Extended"/>
                  <a:cs typeface="Helios Extended"/>
                  <a:sym typeface="Helios Extended"/>
                </a:rPr>
                <a:t>Key Vendor &amp; Integration Risks and Mitigation Strategies</a:t>
              </a:r>
            </a:p>
          </p:txBody>
        </p:sp>
        <p:sp>
          <p:nvSpPr>
            <p:cNvPr id="4" name="TextBox 4"/>
            <p:cNvSpPr txBox="1"/>
            <p:nvPr/>
          </p:nvSpPr>
          <p:spPr>
            <a:xfrm>
              <a:off x="0" y="6543675"/>
              <a:ext cx="13423900" cy="530225"/>
            </a:xfrm>
            <a:prstGeom prst="rect">
              <a:avLst/>
            </a:prstGeom>
          </p:spPr>
          <p:txBody>
            <a:bodyPr lIns="0" tIns="0" rIns="0" bIns="0" rtlCol="0" anchor="t">
              <a:spAutoFit/>
            </a:bodyPr>
            <a:lstStyle/>
            <a:p>
              <a:pPr marL="0" marR="0" lvl="0" indent="0" algn="l" defTabSz="914400" rtl="0" eaLnBrk="1" fontAlgn="auto" latinLnBrk="0" hangingPunct="1">
                <a:lnSpc>
                  <a:spcPts val="3120"/>
                </a:lnSpc>
                <a:spcBef>
                  <a:spcPct val="0"/>
                </a:spcBef>
                <a:spcAft>
                  <a:spcPts val="0"/>
                </a:spcAft>
                <a:buClrTx/>
                <a:buSzTx/>
                <a:buFontTx/>
                <a:buNone/>
                <a:tabLst/>
                <a:defRPr/>
              </a:pPr>
              <a:r>
                <a:rPr kumimoji="0" lang="en-US" sz="2600" b="0" i="0" u="none" strike="noStrike" kern="1200" cap="none" spc="0" normalizeH="0" baseline="0" noProof="0">
                  <a:ln>
                    <a:noFill/>
                  </a:ln>
                  <a:solidFill>
                    <a:srgbClr val="7F8C8D"/>
                  </a:solidFill>
                  <a:effectLst/>
                  <a:uLnTx/>
                  <a:uFillTx/>
                  <a:latin typeface="Fira Sans"/>
                  <a:ea typeface="Fira Sans"/>
                  <a:cs typeface="Fira Sans"/>
                  <a:sym typeface="Fira Sans"/>
                </a:rPr>
                <a:t>Understanding critical factors in AI robotics integration</a:t>
              </a:r>
            </a:p>
          </p:txBody>
        </p:sp>
        <p:sp>
          <p:nvSpPr>
            <p:cNvPr id="5" name="TextBox 5"/>
            <p:cNvSpPr txBox="1"/>
            <p:nvPr/>
          </p:nvSpPr>
          <p:spPr>
            <a:xfrm>
              <a:off x="0" y="7661275"/>
              <a:ext cx="11104668" cy="2737484"/>
            </a:xfrm>
            <a:prstGeom prst="rect">
              <a:avLst/>
            </a:prstGeom>
          </p:spPr>
          <p:txBody>
            <a:bodyPr lIns="0" tIns="0" rIns="0" bIns="0" rtlCol="0" anchor="t">
              <a:spAutoFit/>
            </a:bodyPr>
            <a:lstStyle/>
            <a:p>
              <a:pPr marL="453392" marR="0" lvl="1" indent="-226696" algn="l" defTabSz="914400" rtl="0" eaLnBrk="1" fontAlgn="auto" latinLnBrk="0" hangingPunct="1">
                <a:lnSpc>
                  <a:spcPts val="3360"/>
                </a:lnSpc>
                <a:spcBef>
                  <a:spcPts val="0"/>
                </a:spcBef>
                <a:spcAft>
                  <a:spcPts val="0"/>
                </a:spcAft>
                <a:buClrTx/>
                <a:buSzTx/>
                <a:buFont typeface="Arial"/>
                <a:buChar char="•"/>
                <a:tabLst/>
                <a:defRPr/>
              </a:pPr>
              <a:r>
                <a:rPr kumimoji="0" lang="en-US" sz="2100" b="0" i="0" u="none" strike="noStrike" kern="1200" cap="none" spc="0" normalizeH="0" baseline="0" noProof="0">
                  <a:ln>
                    <a:noFill/>
                  </a:ln>
                  <a:solidFill>
                    <a:srgbClr val="ECF0F1"/>
                  </a:solidFill>
                  <a:effectLst/>
                  <a:uLnTx/>
                  <a:uFillTx/>
                  <a:latin typeface="Fira Sans Light"/>
                  <a:ea typeface="Fira Sans Light"/>
                  <a:cs typeface="Fira Sans Light"/>
                  <a:sym typeface="Fira Sans Light"/>
                </a:rPr>
                <a:t>Vendor lock-in and dependency on single suppliers</a:t>
              </a:r>
            </a:p>
            <a:p>
              <a:pPr marL="453392" marR="0" lvl="1" indent="-226696" algn="l" defTabSz="914400" rtl="0" eaLnBrk="1" fontAlgn="auto" latinLnBrk="0" hangingPunct="1">
                <a:lnSpc>
                  <a:spcPts val="3360"/>
                </a:lnSpc>
                <a:spcBef>
                  <a:spcPts val="0"/>
                </a:spcBef>
                <a:spcAft>
                  <a:spcPts val="0"/>
                </a:spcAft>
                <a:buClrTx/>
                <a:buSzTx/>
                <a:buFont typeface="Arial"/>
                <a:buChar char="•"/>
                <a:tabLst/>
                <a:defRPr/>
              </a:pPr>
              <a:r>
                <a:rPr kumimoji="0" lang="en-US" sz="2100" b="0" i="0" u="none" strike="noStrike" kern="1200" cap="none" spc="0" normalizeH="0" baseline="0" noProof="0">
                  <a:ln>
                    <a:noFill/>
                  </a:ln>
                  <a:solidFill>
                    <a:srgbClr val="ECF0F1"/>
                  </a:solidFill>
                  <a:effectLst/>
                  <a:uLnTx/>
                  <a:uFillTx/>
                  <a:latin typeface="Fira Sans Light"/>
                  <a:ea typeface="Fira Sans Light"/>
                  <a:cs typeface="Fira Sans Light"/>
                  <a:sym typeface="Fira Sans Light"/>
                </a:rPr>
                <a:t>Data privacy and security concerns with sensitive information</a:t>
              </a:r>
            </a:p>
            <a:p>
              <a:pPr marL="453392" marR="0" lvl="1" indent="-226696" algn="l" defTabSz="914400" rtl="0" eaLnBrk="1" fontAlgn="auto" latinLnBrk="0" hangingPunct="1">
                <a:lnSpc>
                  <a:spcPts val="3360"/>
                </a:lnSpc>
                <a:spcBef>
                  <a:spcPts val="0"/>
                </a:spcBef>
                <a:spcAft>
                  <a:spcPts val="0"/>
                </a:spcAft>
                <a:buClrTx/>
                <a:buSzTx/>
                <a:buFont typeface="Arial"/>
                <a:buChar char="•"/>
                <a:tabLst/>
                <a:defRPr/>
              </a:pPr>
              <a:r>
                <a:rPr kumimoji="0" lang="en-US" sz="2100" b="0" i="0" u="none" strike="noStrike" kern="1200" cap="none" spc="0" normalizeH="0" baseline="0" noProof="0">
                  <a:ln>
                    <a:noFill/>
                  </a:ln>
                  <a:solidFill>
                    <a:srgbClr val="ECF0F1"/>
                  </a:solidFill>
                  <a:effectLst/>
                  <a:uLnTx/>
                  <a:uFillTx/>
                  <a:latin typeface="Fira Sans Light"/>
                  <a:ea typeface="Fira Sans Light"/>
                  <a:cs typeface="Fira Sans Light"/>
                  <a:sym typeface="Fira Sans Light"/>
                </a:rPr>
                <a:t>Integration challenges with existing legacy systems</a:t>
              </a:r>
            </a:p>
            <a:p>
              <a:pPr marL="453392" marR="0" lvl="1" indent="-226696" algn="l" defTabSz="914400" rtl="0" eaLnBrk="1" fontAlgn="auto" latinLnBrk="0" hangingPunct="1">
                <a:lnSpc>
                  <a:spcPts val="3360"/>
                </a:lnSpc>
                <a:spcBef>
                  <a:spcPts val="0"/>
                </a:spcBef>
                <a:spcAft>
                  <a:spcPts val="0"/>
                </a:spcAft>
                <a:buClrTx/>
                <a:buSzTx/>
                <a:buFont typeface="Arial"/>
                <a:buChar char="•"/>
                <a:tabLst/>
                <a:defRPr/>
              </a:pPr>
              <a:r>
                <a:rPr kumimoji="0" lang="en-US" sz="2100" b="0" i="0" u="none" strike="noStrike" kern="1200" cap="none" spc="0" normalizeH="0" baseline="0" noProof="0">
                  <a:ln>
                    <a:noFill/>
                  </a:ln>
                  <a:solidFill>
                    <a:srgbClr val="ECF0F1"/>
                  </a:solidFill>
                  <a:effectLst/>
                  <a:uLnTx/>
                  <a:uFillTx/>
                  <a:latin typeface="Fira Sans Light"/>
                  <a:ea typeface="Fira Sans Light"/>
                  <a:cs typeface="Fira Sans Light"/>
                  <a:sym typeface="Fira Sans Light"/>
                </a:rPr>
                <a:t>Compliance and regulatory risks affecting operations</a:t>
              </a:r>
            </a:p>
            <a:p>
              <a:pPr marL="453392" marR="0" lvl="1" indent="-226696" algn="l" defTabSz="914400" rtl="0" eaLnBrk="1" fontAlgn="auto" latinLnBrk="0" hangingPunct="1">
                <a:lnSpc>
                  <a:spcPts val="3360"/>
                </a:lnSpc>
                <a:spcBef>
                  <a:spcPts val="0"/>
                </a:spcBef>
                <a:spcAft>
                  <a:spcPts val="0"/>
                </a:spcAft>
                <a:buClrTx/>
                <a:buSzTx/>
                <a:buFont typeface="Arial"/>
                <a:buChar char="•"/>
                <a:tabLst/>
                <a:defRPr/>
              </a:pPr>
              <a:r>
                <a:rPr kumimoji="0" lang="en-US" sz="2100" b="0" i="0" u="none" strike="noStrike" kern="1200" cap="none" spc="0" normalizeH="0" baseline="0" noProof="0">
                  <a:ln>
                    <a:noFill/>
                  </a:ln>
                  <a:solidFill>
                    <a:srgbClr val="ECF0F1"/>
                  </a:solidFill>
                  <a:effectLst/>
                  <a:uLnTx/>
                  <a:uFillTx/>
                  <a:latin typeface="Fira Sans Light"/>
                  <a:ea typeface="Fira Sans Light"/>
                  <a:cs typeface="Fira Sans Light"/>
                  <a:sym typeface="Fira Sans Light"/>
                </a:rPr>
                <a:t>Reliability and support issues impacting service continuity</a:t>
              </a:r>
            </a:p>
          </p:txBody>
        </p:sp>
      </p:grpSp>
      <p:sp>
        <p:nvSpPr>
          <p:cNvPr id="6" name="AutoShape 6"/>
          <p:cNvSpPr/>
          <p:nvPr/>
        </p:nvSpPr>
        <p:spPr>
          <a:xfrm>
            <a:off x="12172950" y="0"/>
            <a:ext cx="6115050" cy="10287000"/>
          </a:xfrm>
          <a:prstGeom prst="rect">
            <a:avLst/>
          </a:prstGeom>
          <a:solidFill>
            <a:srgbClr val="7F8C8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7" name="Group 7"/>
          <p:cNvGrpSpPr/>
          <p:nvPr/>
        </p:nvGrpSpPr>
        <p:grpSpPr>
          <a:xfrm>
            <a:off x="10734675" y="666750"/>
            <a:ext cx="6886575" cy="8966200"/>
            <a:chOff x="0" y="0"/>
            <a:chExt cx="1546294" cy="2013248"/>
          </a:xfrm>
        </p:grpSpPr>
        <p:sp>
          <p:nvSpPr>
            <p:cNvPr id="8" name="Freeform 8"/>
            <p:cNvSpPr/>
            <p:nvPr/>
          </p:nvSpPr>
          <p:spPr>
            <a:xfrm>
              <a:off x="0" y="0"/>
              <a:ext cx="1546294" cy="2013248"/>
            </a:xfrm>
            <a:custGeom>
              <a:avLst/>
              <a:gdLst/>
              <a:ahLst/>
              <a:cxnLst/>
              <a:rect l="l" t="t" r="r" b="b"/>
              <a:pathLst>
                <a:path w="1546294" h="2013248">
                  <a:moveTo>
                    <a:pt x="0" y="0"/>
                  </a:moveTo>
                  <a:lnTo>
                    <a:pt x="1546294" y="0"/>
                  </a:lnTo>
                  <a:lnTo>
                    <a:pt x="1546294" y="2013248"/>
                  </a:lnTo>
                  <a:lnTo>
                    <a:pt x="0" y="2013248"/>
                  </a:lnTo>
                  <a:close/>
                </a:path>
              </a:pathLst>
            </a:custGeom>
            <a:blipFill>
              <a:blip r:embed="rId2"/>
              <a:stretch>
                <a:fillRect t="-199" b="-19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rot="-10800000">
            <a:off x="0" y="0"/>
            <a:ext cx="189775" cy="10287000"/>
            <a:chOff x="0" y="0"/>
            <a:chExt cx="49982" cy="2709333"/>
          </a:xfrm>
        </p:grpSpPr>
        <p:sp>
          <p:nvSpPr>
            <p:cNvPr id="10" name="Freeform 10"/>
            <p:cNvSpPr/>
            <p:nvPr/>
          </p:nvSpPr>
          <p:spPr>
            <a:xfrm>
              <a:off x="0" y="0"/>
              <a:ext cx="49982" cy="2709333"/>
            </a:xfrm>
            <a:custGeom>
              <a:avLst/>
              <a:gdLst/>
              <a:ahLst/>
              <a:cxnLst/>
              <a:rect l="l" t="t" r="r" b="b"/>
              <a:pathLst>
                <a:path w="49982" h="2709333">
                  <a:moveTo>
                    <a:pt x="0" y="0"/>
                  </a:moveTo>
                  <a:lnTo>
                    <a:pt x="49982" y="0"/>
                  </a:lnTo>
                  <a:lnTo>
                    <a:pt x="49982" y="2709333"/>
                  </a:lnTo>
                  <a:lnTo>
                    <a:pt x="0" y="2709333"/>
                  </a:lnTo>
                  <a:close/>
                </a:path>
              </a:pathLst>
            </a:custGeom>
            <a:solidFill>
              <a:srgbClr val="7F8C8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0" y="-47625"/>
              <a:ext cx="49982" cy="2756958"/>
            </a:xfrm>
            <a:prstGeom prst="rect">
              <a:avLst/>
            </a:prstGeom>
          </p:spPr>
          <p:txBody>
            <a:bodyPr lIns="50800" tIns="50800" rIns="50800" bIns="50800" rtlCol="0" anchor="ctr"/>
            <a:lstStyle/>
            <a:p>
              <a:pPr marL="0" marR="0" lvl="0" indent="0" algn="ctr" defTabSz="914400" rtl="0" eaLnBrk="1" fontAlgn="auto" latinLnBrk="0" hangingPunct="1">
                <a:lnSpc>
                  <a:spcPts val="33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2105025" y="1562100"/>
            <a:ext cx="5448300" cy="6119119"/>
            <a:chOff x="0" y="0"/>
            <a:chExt cx="7264400" cy="8158825"/>
          </a:xfrm>
        </p:grpSpPr>
        <p:sp>
          <p:nvSpPr>
            <p:cNvPr id="3" name="TextBox 3"/>
            <p:cNvSpPr txBox="1"/>
            <p:nvPr/>
          </p:nvSpPr>
          <p:spPr>
            <a:xfrm>
              <a:off x="0" y="2093728"/>
              <a:ext cx="7264400" cy="6065097"/>
            </a:xfrm>
            <a:prstGeom prst="rect">
              <a:avLst/>
            </a:prstGeom>
          </p:spPr>
          <p:txBody>
            <a:bodyPr lIns="0" tIns="0" rIns="0" bIns="0" rtlCol="0" anchor="t">
              <a:spAutoFit/>
            </a:bodyPr>
            <a:lstStyle/>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Implement strong authentication protocols for robotic systems</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Regularly update AI software with security patches</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Conduct vulnerability scans on AI components</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Enable real-time monitoring and alerting for suspicious activities</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Enforce network segmentation for robotic control systems</a:t>
              </a:r>
            </a:p>
          </p:txBody>
        </p:sp>
        <p:sp>
          <p:nvSpPr>
            <p:cNvPr id="4" name="TextBox 4"/>
            <p:cNvSpPr txBox="1"/>
            <p:nvPr/>
          </p:nvSpPr>
          <p:spPr>
            <a:xfrm>
              <a:off x="0" y="-66675"/>
              <a:ext cx="7264400" cy="1409833"/>
            </a:xfrm>
            <a:prstGeom prst="rect">
              <a:avLst/>
            </a:prstGeom>
          </p:spPr>
          <p:txBody>
            <a:bodyPr lIns="0" tIns="0" rIns="0" bIns="0" rtlCol="0" anchor="t">
              <a:spAutoFit/>
            </a:bodyPr>
            <a:lstStyle/>
            <a:p>
              <a:pPr marL="0" lvl="0" indent="0" algn="l">
                <a:lnSpc>
                  <a:spcPts val="4325"/>
                </a:lnSpc>
              </a:pPr>
              <a:r>
                <a:rPr lang="en-US" sz="2800" b="1" spc="247" dirty="0">
                  <a:solidFill>
                    <a:srgbClr val="CAE8FF"/>
                  </a:solidFill>
                  <a:latin typeface="HK Grotesk Bold"/>
                  <a:ea typeface="HK Grotesk Bold"/>
                  <a:cs typeface="HK Grotesk Bold"/>
                  <a:sym typeface="HK Grotesk Bold"/>
                </a:rPr>
                <a:t>IMMEDIATE ACTIONS FOR ENHANCING AI SECURITY</a:t>
              </a:r>
            </a:p>
          </p:txBody>
        </p:sp>
      </p:grpSp>
      <p:grpSp>
        <p:nvGrpSpPr>
          <p:cNvPr id="5" name="Group 5"/>
          <p:cNvGrpSpPr/>
          <p:nvPr/>
        </p:nvGrpSpPr>
        <p:grpSpPr>
          <a:xfrm>
            <a:off x="9351277" y="1537970"/>
            <a:ext cx="5454777" cy="7033519"/>
            <a:chOff x="0" y="0"/>
            <a:chExt cx="7273036" cy="9378025"/>
          </a:xfrm>
        </p:grpSpPr>
        <p:sp>
          <p:nvSpPr>
            <p:cNvPr id="6" name="TextBox 6"/>
            <p:cNvSpPr txBox="1"/>
            <p:nvPr/>
          </p:nvSpPr>
          <p:spPr>
            <a:xfrm>
              <a:off x="0" y="2093728"/>
              <a:ext cx="7273036" cy="7284297"/>
            </a:xfrm>
            <a:prstGeom prst="rect">
              <a:avLst/>
            </a:prstGeom>
          </p:spPr>
          <p:txBody>
            <a:bodyPr lIns="0" tIns="0" rIns="0" bIns="0" rtlCol="0" anchor="t">
              <a:spAutoFit/>
            </a:bodyPr>
            <a:lstStyle/>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Develop AI models robust against adversarial attacks</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Integrate explainable AI for security transparency</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Establish cross-industry cybersecurity standards for robotics</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Invest in AI security research and continuous improvement</a:t>
              </a:r>
            </a:p>
            <a:p>
              <a:pPr marL="561339" lvl="1" indent="-280669" algn="l">
                <a:lnSpc>
                  <a:spcPts val="3639"/>
                </a:lnSpc>
                <a:buFont typeface="Arial"/>
                <a:buChar char="•"/>
              </a:pPr>
              <a:r>
                <a:rPr lang="en-US" sz="2599" b="1">
                  <a:solidFill>
                    <a:srgbClr val="F4F6FC"/>
                  </a:solidFill>
                  <a:latin typeface="HK Grotesk Medium"/>
                  <a:ea typeface="HK Grotesk Medium"/>
                  <a:cs typeface="HK Grotesk Medium"/>
                  <a:sym typeface="HK Grotesk Medium"/>
                </a:rPr>
                <a:t>Design resilient robotic architectures with built-in security by design</a:t>
              </a:r>
            </a:p>
          </p:txBody>
        </p:sp>
        <p:sp>
          <p:nvSpPr>
            <p:cNvPr id="7" name="TextBox 7"/>
            <p:cNvSpPr txBox="1"/>
            <p:nvPr/>
          </p:nvSpPr>
          <p:spPr>
            <a:xfrm>
              <a:off x="0" y="-66675"/>
              <a:ext cx="7273036" cy="1409833"/>
            </a:xfrm>
            <a:prstGeom prst="rect">
              <a:avLst/>
            </a:prstGeom>
          </p:spPr>
          <p:txBody>
            <a:bodyPr lIns="0" tIns="0" rIns="0" bIns="0" rtlCol="0" anchor="t">
              <a:spAutoFit/>
            </a:bodyPr>
            <a:lstStyle/>
            <a:p>
              <a:pPr marL="0" lvl="0" indent="0" algn="l">
                <a:lnSpc>
                  <a:spcPts val="4325"/>
                </a:lnSpc>
              </a:pPr>
              <a:r>
                <a:rPr lang="en-US" sz="2800" b="1" spc="247" dirty="0">
                  <a:solidFill>
                    <a:srgbClr val="CAE8FF"/>
                  </a:solidFill>
                  <a:latin typeface="HK Grotesk Bold"/>
                  <a:ea typeface="HK Grotesk Bold"/>
                  <a:cs typeface="HK Grotesk Bold"/>
                  <a:sym typeface="HK Grotesk Bold"/>
                </a:rPr>
                <a:t>STRATEGIC INITIATIVES FOR ROBUST AI SECURITY</a:t>
              </a:r>
            </a:p>
          </p:txBody>
        </p:sp>
      </p:grpSp>
      <p:grpSp>
        <p:nvGrpSpPr>
          <p:cNvPr id="8" name="Group 8"/>
          <p:cNvGrpSpPr/>
          <p:nvPr/>
        </p:nvGrpSpPr>
        <p:grpSpPr>
          <a:xfrm>
            <a:off x="18096128" y="0"/>
            <a:ext cx="191872" cy="10287000"/>
            <a:chOff x="0" y="0"/>
            <a:chExt cx="50534" cy="2709333"/>
          </a:xfrm>
        </p:grpSpPr>
        <p:sp>
          <p:nvSpPr>
            <p:cNvPr id="9" name="Freeform 9"/>
            <p:cNvSpPr/>
            <p:nvPr/>
          </p:nvSpPr>
          <p:spPr>
            <a:xfrm>
              <a:off x="0" y="0"/>
              <a:ext cx="50534" cy="2709333"/>
            </a:xfrm>
            <a:custGeom>
              <a:avLst/>
              <a:gdLst/>
              <a:ahLst/>
              <a:cxnLst/>
              <a:rect l="l" t="t" r="r" b="b"/>
              <a:pathLst>
                <a:path w="50534" h="2709333">
                  <a:moveTo>
                    <a:pt x="0" y="0"/>
                  </a:moveTo>
                  <a:lnTo>
                    <a:pt x="50534" y="0"/>
                  </a:lnTo>
                  <a:lnTo>
                    <a:pt x="50534" y="2709333"/>
                  </a:lnTo>
                  <a:lnTo>
                    <a:pt x="0" y="2709333"/>
                  </a:lnTo>
                  <a:close/>
                </a:path>
              </a:pathLst>
            </a:custGeom>
            <a:solidFill>
              <a:srgbClr val="CAE8FF"/>
            </a:solidFill>
          </p:spPr>
          <p:txBody>
            <a:bodyPr/>
            <a:lstStyle/>
            <a:p>
              <a:endParaRPr lang="en-US"/>
            </a:p>
          </p:txBody>
        </p:sp>
        <p:sp>
          <p:nvSpPr>
            <p:cNvPr id="10" name="TextBox 10"/>
            <p:cNvSpPr txBox="1"/>
            <p:nvPr/>
          </p:nvSpPr>
          <p:spPr>
            <a:xfrm>
              <a:off x="0" y="-47625"/>
              <a:ext cx="50534" cy="2756958"/>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11" name="TextBox 11"/>
          <p:cNvSpPr txBox="1"/>
          <p:nvPr/>
        </p:nvSpPr>
        <p:spPr>
          <a:xfrm>
            <a:off x="4830187" y="588327"/>
            <a:ext cx="8627626" cy="751552"/>
          </a:xfrm>
          <a:prstGeom prst="rect">
            <a:avLst/>
          </a:prstGeom>
        </p:spPr>
        <p:txBody>
          <a:bodyPr lIns="0" tIns="0" rIns="0" bIns="0" rtlCol="0" anchor="t">
            <a:spAutoFit/>
          </a:bodyPr>
          <a:lstStyle/>
          <a:p>
            <a:pPr algn="ctr">
              <a:lnSpc>
                <a:spcPts val="6579"/>
              </a:lnSpc>
              <a:spcBef>
                <a:spcPct val="0"/>
              </a:spcBef>
            </a:pPr>
            <a:r>
              <a:rPr lang="en-US" sz="4000" b="1" dirty="0">
                <a:solidFill>
                  <a:srgbClr val="CAE8FF"/>
                </a:solidFill>
                <a:latin typeface="HK Grotesk Bold"/>
                <a:ea typeface="HK Grotesk Bold"/>
                <a:cs typeface="HK Grotesk Bold"/>
                <a:sym typeface="HK Grotesk Bold"/>
              </a:rPr>
              <a:t>Quick Wins vs Long-Term Action</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grpSp>
        <p:nvGrpSpPr>
          <p:cNvPr id="2" name="Group 2"/>
          <p:cNvGrpSpPr/>
          <p:nvPr/>
        </p:nvGrpSpPr>
        <p:grpSpPr>
          <a:xfrm>
            <a:off x="666750" y="5619750"/>
            <a:ext cx="4010025" cy="2762250"/>
            <a:chOff x="0" y="0"/>
            <a:chExt cx="5346700" cy="3683000"/>
          </a:xfrm>
        </p:grpSpPr>
        <p:sp>
          <p:nvSpPr>
            <p:cNvPr id="3" name="TextBox 3"/>
            <p:cNvSpPr txBox="1"/>
            <p:nvPr/>
          </p:nvSpPr>
          <p:spPr>
            <a:xfrm>
              <a:off x="0" y="0"/>
              <a:ext cx="5346700" cy="355600"/>
            </a:xfrm>
            <a:prstGeom prst="rect">
              <a:avLst/>
            </a:prstGeom>
          </p:spPr>
          <p:txBody>
            <a:bodyPr lIns="0" tIns="0" rIns="0" bIns="0" rtlCol="0" anchor="t">
              <a:spAutoFit/>
            </a:bodyPr>
            <a:lstStyle/>
            <a:p>
              <a:pPr marL="0" marR="0" lvl="0" indent="0" algn="l" defTabSz="914400" rtl="0" eaLnBrk="1" fontAlgn="auto" latinLnBrk="0" hangingPunct="1">
                <a:lnSpc>
                  <a:spcPts val="2136"/>
                </a:lnSpc>
                <a:spcBef>
                  <a:spcPct val="0"/>
                </a:spcBef>
                <a:spcAft>
                  <a:spcPts val="0"/>
                </a:spcAft>
                <a:buClrTx/>
                <a:buSzTx/>
                <a:buFontTx/>
                <a:buNone/>
                <a:tabLst/>
                <a:defRPr/>
              </a:pPr>
              <a:r>
                <a:rPr kumimoji="0" lang="en-US" sz="1780" b="1" i="0" u="none" strike="noStrike" kern="1200" cap="none" spc="0" normalizeH="0" baseline="0" noProof="0">
                  <a:ln>
                    <a:noFill/>
                  </a:ln>
                  <a:solidFill>
                    <a:srgbClr val="F9FAFB"/>
                  </a:solidFill>
                  <a:effectLst/>
                  <a:uLnTx/>
                  <a:uFillTx/>
                  <a:latin typeface="HK Grotesk Semi-Bold"/>
                  <a:ea typeface="HK Grotesk Semi-Bold"/>
                  <a:cs typeface="HK Grotesk Semi-Bold"/>
                  <a:sym typeface="HK Grotesk Semi-Bold"/>
                </a:rPr>
                <a:t>GDPR’s Relevance to Robotics</a:t>
              </a:r>
            </a:p>
          </p:txBody>
        </p:sp>
        <p:sp>
          <p:nvSpPr>
            <p:cNvPr id="4" name="TextBox 4"/>
            <p:cNvSpPr txBox="1"/>
            <p:nvPr/>
          </p:nvSpPr>
          <p:spPr>
            <a:xfrm>
              <a:off x="0" y="1031875"/>
              <a:ext cx="5346700" cy="2651125"/>
            </a:xfrm>
            <a:prstGeom prst="rect">
              <a:avLst/>
            </a:prstGeom>
          </p:spPr>
          <p:txBody>
            <a:bodyPr lIns="0" tIns="0" rIns="0" bIns="0" rtlCol="0" anchor="t">
              <a:spAutoFit/>
            </a:bodyPr>
            <a:lstStyle/>
            <a:p>
              <a:pPr marL="0" marR="0" lvl="0" indent="0" algn="l" defTabSz="914400" rtl="0" eaLnBrk="1" fontAlgn="auto" latinLnBrk="0" hangingPunct="1">
                <a:lnSpc>
                  <a:spcPts val="1991"/>
                </a:lnSpc>
                <a:spcBef>
                  <a:spcPct val="0"/>
                </a:spcBef>
                <a:spcAft>
                  <a:spcPts val="0"/>
                </a:spcAft>
                <a:buClrTx/>
                <a:buSzTx/>
                <a:buFontTx/>
                <a:buNone/>
                <a:tabLst/>
                <a:defRPr/>
              </a:pPr>
              <a:r>
                <a:rPr kumimoji="0" lang="en-US" sz="1659" b="0" i="0" u="none" strike="noStrike" kern="1200" cap="none" spc="0" normalizeH="0" baseline="0" noProof="0">
                  <a:ln>
                    <a:noFill/>
                  </a:ln>
                  <a:solidFill>
                    <a:srgbClr val="F9FAFB"/>
                  </a:solidFill>
                  <a:effectLst/>
                  <a:uLnTx/>
                  <a:uFillTx/>
                  <a:latin typeface="HK Grotesk"/>
                  <a:ea typeface="HK Grotesk"/>
                  <a:cs typeface="HK Grotesk"/>
                  <a:sym typeface="HK Grotesk"/>
                </a:rPr>
                <a:t>The General Data Protection Regulation (GDPR) is crucial for robotics as it protects personal data within the EU. It mandates user consent, compliance obligations for data controllers, and emphasizes transparency, ensuring that personal data collection, processing, and storage aligns with user rights like access and erasure.</a:t>
              </a:r>
            </a:p>
          </p:txBody>
        </p:sp>
      </p:grpSp>
      <p:grpSp>
        <p:nvGrpSpPr>
          <p:cNvPr id="5" name="Group 5"/>
          <p:cNvGrpSpPr/>
          <p:nvPr/>
        </p:nvGrpSpPr>
        <p:grpSpPr>
          <a:xfrm>
            <a:off x="6419850" y="5619750"/>
            <a:ext cx="4010025" cy="3038475"/>
            <a:chOff x="0" y="0"/>
            <a:chExt cx="5346700" cy="4051300"/>
          </a:xfrm>
        </p:grpSpPr>
        <p:sp>
          <p:nvSpPr>
            <p:cNvPr id="6" name="TextBox 6"/>
            <p:cNvSpPr txBox="1"/>
            <p:nvPr/>
          </p:nvSpPr>
          <p:spPr>
            <a:xfrm>
              <a:off x="0" y="0"/>
              <a:ext cx="5346700" cy="355600"/>
            </a:xfrm>
            <a:prstGeom prst="rect">
              <a:avLst/>
            </a:prstGeom>
          </p:spPr>
          <p:txBody>
            <a:bodyPr lIns="0" tIns="0" rIns="0" bIns="0" rtlCol="0" anchor="t">
              <a:spAutoFit/>
            </a:bodyPr>
            <a:lstStyle/>
            <a:p>
              <a:pPr marL="0" marR="0" lvl="0" indent="0" algn="l" defTabSz="914400" rtl="0" eaLnBrk="1" fontAlgn="auto" latinLnBrk="0" hangingPunct="1">
                <a:lnSpc>
                  <a:spcPts val="2136"/>
                </a:lnSpc>
                <a:spcBef>
                  <a:spcPct val="0"/>
                </a:spcBef>
                <a:spcAft>
                  <a:spcPts val="0"/>
                </a:spcAft>
                <a:buClrTx/>
                <a:buSzTx/>
                <a:buFontTx/>
                <a:buNone/>
                <a:tabLst/>
                <a:defRPr/>
              </a:pPr>
              <a:r>
                <a:rPr kumimoji="0" lang="en-US" sz="1780" b="1" i="0" u="none" strike="noStrike" kern="1200" cap="none" spc="0" normalizeH="0" baseline="0" noProof="0">
                  <a:ln>
                    <a:noFill/>
                  </a:ln>
                  <a:solidFill>
                    <a:srgbClr val="F9FAFB"/>
                  </a:solidFill>
                  <a:effectLst/>
                  <a:uLnTx/>
                  <a:uFillTx/>
                  <a:latin typeface="HK Grotesk Semi-Bold"/>
                  <a:ea typeface="HK Grotesk Semi-Bold"/>
                  <a:cs typeface="HK Grotesk Semi-Bold"/>
                  <a:sym typeface="HK Grotesk Semi-Bold"/>
                </a:rPr>
                <a:t>NIST AI RMF’s Approach</a:t>
              </a:r>
            </a:p>
          </p:txBody>
        </p:sp>
        <p:sp>
          <p:nvSpPr>
            <p:cNvPr id="7" name="TextBox 7"/>
            <p:cNvSpPr txBox="1"/>
            <p:nvPr/>
          </p:nvSpPr>
          <p:spPr>
            <a:xfrm>
              <a:off x="0" y="1069975"/>
              <a:ext cx="5346700" cy="2981325"/>
            </a:xfrm>
            <a:prstGeom prst="rect">
              <a:avLst/>
            </a:prstGeom>
          </p:spPr>
          <p:txBody>
            <a:bodyPr lIns="0" tIns="0" rIns="0" bIns="0" rtlCol="0" anchor="t">
              <a:spAutoFit/>
            </a:bodyPr>
            <a:lstStyle/>
            <a:p>
              <a:pPr marL="0" marR="0" lvl="0" indent="0" algn="l" defTabSz="914400" rtl="0" eaLnBrk="1" fontAlgn="auto" latinLnBrk="0" hangingPunct="1">
                <a:lnSpc>
                  <a:spcPts val="1991"/>
                </a:lnSpc>
                <a:spcBef>
                  <a:spcPct val="0"/>
                </a:spcBef>
                <a:spcAft>
                  <a:spcPts val="0"/>
                </a:spcAft>
                <a:buClrTx/>
                <a:buSzTx/>
                <a:buFontTx/>
                <a:buNone/>
                <a:tabLst/>
                <a:defRPr/>
              </a:pPr>
              <a:r>
                <a:rPr kumimoji="0" lang="en-US" sz="1659" b="0" i="0" u="none" strike="noStrike" kern="1200" cap="none" spc="0" normalizeH="0" baseline="0" noProof="0">
                  <a:ln>
                    <a:noFill/>
                  </a:ln>
                  <a:solidFill>
                    <a:srgbClr val="F9FAFB"/>
                  </a:solidFill>
                  <a:effectLst/>
                  <a:uLnTx/>
                  <a:uFillTx/>
                  <a:latin typeface="HK Grotesk"/>
                  <a:ea typeface="HK Grotesk"/>
                  <a:cs typeface="HK Grotesk"/>
                  <a:sym typeface="HK Grotesk"/>
                </a:rPr>
                <a:t>The NIST AI Risk Management Framework (AI RMF) serves as a voluntary guide to managing AI risks in robotics. It focuses on identifying, assessing, and mitigating these risks, outlining core functions such as Governance, Mapping, Measurement, Management, and Communication to ensure responsible AI deployment in robotic applications.</a:t>
              </a:r>
            </a:p>
          </p:txBody>
        </p:sp>
      </p:grpSp>
      <p:grpSp>
        <p:nvGrpSpPr>
          <p:cNvPr id="8" name="Group 8"/>
          <p:cNvGrpSpPr/>
          <p:nvPr/>
        </p:nvGrpSpPr>
        <p:grpSpPr>
          <a:xfrm>
            <a:off x="12172950" y="5619750"/>
            <a:ext cx="4010025" cy="3257550"/>
            <a:chOff x="0" y="0"/>
            <a:chExt cx="5346700" cy="4343400"/>
          </a:xfrm>
        </p:grpSpPr>
        <p:sp>
          <p:nvSpPr>
            <p:cNvPr id="9" name="TextBox 9"/>
            <p:cNvSpPr txBox="1"/>
            <p:nvPr/>
          </p:nvSpPr>
          <p:spPr>
            <a:xfrm>
              <a:off x="0" y="0"/>
              <a:ext cx="5346700" cy="355600"/>
            </a:xfrm>
            <a:prstGeom prst="rect">
              <a:avLst/>
            </a:prstGeom>
          </p:spPr>
          <p:txBody>
            <a:bodyPr lIns="0" tIns="0" rIns="0" bIns="0" rtlCol="0" anchor="t">
              <a:spAutoFit/>
            </a:bodyPr>
            <a:lstStyle/>
            <a:p>
              <a:pPr marL="0" marR="0" lvl="0" indent="0" algn="l" defTabSz="914400" rtl="0" eaLnBrk="1" fontAlgn="auto" latinLnBrk="0" hangingPunct="1">
                <a:lnSpc>
                  <a:spcPts val="2136"/>
                </a:lnSpc>
                <a:spcBef>
                  <a:spcPct val="0"/>
                </a:spcBef>
                <a:spcAft>
                  <a:spcPts val="0"/>
                </a:spcAft>
                <a:buClrTx/>
                <a:buSzTx/>
                <a:buFontTx/>
                <a:buNone/>
                <a:tabLst/>
                <a:defRPr/>
              </a:pPr>
              <a:r>
                <a:rPr kumimoji="0" lang="en-US" sz="1780" b="1" i="0" u="none" strike="noStrike" kern="1200" cap="none" spc="0" normalizeH="0" baseline="0" noProof="0">
                  <a:ln>
                    <a:noFill/>
                  </a:ln>
                  <a:solidFill>
                    <a:srgbClr val="F9FAFB"/>
                  </a:solidFill>
                  <a:effectLst/>
                  <a:uLnTx/>
                  <a:uFillTx/>
                  <a:latin typeface="HK Grotesk Semi-Bold"/>
                  <a:ea typeface="HK Grotesk Semi-Bold"/>
                  <a:cs typeface="HK Grotesk Semi-Bold"/>
                  <a:sym typeface="HK Grotesk Semi-Bold"/>
                </a:rPr>
                <a:t>Intersections of GDPR and NIST AI RMF</a:t>
              </a:r>
            </a:p>
          </p:txBody>
        </p:sp>
        <p:sp>
          <p:nvSpPr>
            <p:cNvPr id="10" name="TextBox 10"/>
            <p:cNvSpPr txBox="1"/>
            <p:nvPr/>
          </p:nvSpPr>
          <p:spPr>
            <a:xfrm>
              <a:off x="0" y="1031875"/>
              <a:ext cx="5346700" cy="3311525"/>
            </a:xfrm>
            <a:prstGeom prst="rect">
              <a:avLst/>
            </a:prstGeom>
          </p:spPr>
          <p:txBody>
            <a:bodyPr lIns="0" tIns="0" rIns="0" bIns="0" rtlCol="0" anchor="t">
              <a:spAutoFit/>
            </a:bodyPr>
            <a:lstStyle/>
            <a:p>
              <a:pPr marL="0" marR="0" lvl="0" indent="0" algn="l" defTabSz="914400" rtl="0" eaLnBrk="1" fontAlgn="auto" latinLnBrk="0" hangingPunct="1">
                <a:lnSpc>
                  <a:spcPts val="1991"/>
                </a:lnSpc>
                <a:spcBef>
                  <a:spcPct val="0"/>
                </a:spcBef>
                <a:spcAft>
                  <a:spcPts val="0"/>
                </a:spcAft>
                <a:buClrTx/>
                <a:buSzTx/>
                <a:buFontTx/>
                <a:buNone/>
                <a:tabLst/>
                <a:defRPr/>
              </a:pPr>
              <a:r>
                <a:rPr kumimoji="0" lang="en-US" sz="1659" b="0" i="0" u="none" strike="noStrike" kern="1200" cap="none" spc="0" normalizeH="0" baseline="0" noProof="0">
                  <a:ln>
                    <a:noFill/>
                  </a:ln>
                  <a:solidFill>
                    <a:srgbClr val="F9FAFB"/>
                  </a:solidFill>
                  <a:effectLst/>
                  <a:uLnTx/>
                  <a:uFillTx/>
                  <a:latin typeface="HK Grotesk"/>
                  <a:ea typeface="HK Grotesk"/>
                  <a:cs typeface="HK Grotesk"/>
                  <a:sym typeface="HK Grotesk"/>
                </a:rPr>
                <a:t>The principles of GDPR and NIST AI RMF intersect significantly in robotics, advocating for privacy by design, comprehensive risk assessments, and responsible AI deployment. These frameworks collectively promote transparency, accountability, and user trust, essential for ethical robotics integration and compliance with data protection standards.</a:t>
              </a:r>
            </a:p>
          </p:txBody>
        </p:sp>
      </p:grpSp>
      <p:grpSp>
        <p:nvGrpSpPr>
          <p:cNvPr id="11" name="Group 11"/>
          <p:cNvGrpSpPr/>
          <p:nvPr/>
        </p:nvGrpSpPr>
        <p:grpSpPr>
          <a:xfrm>
            <a:off x="634666" y="1697831"/>
            <a:ext cx="16986584" cy="3258177"/>
            <a:chOff x="-42779" y="180975"/>
            <a:chExt cx="22648779" cy="4344236"/>
          </a:xfrm>
        </p:grpSpPr>
        <p:sp>
          <p:nvSpPr>
            <p:cNvPr id="12" name="TextBox 12"/>
            <p:cNvSpPr txBox="1"/>
            <p:nvPr/>
          </p:nvSpPr>
          <p:spPr>
            <a:xfrm>
              <a:off x="0" y="180975"/>
              <a:ext cx="22606000" cy="1769745"/>
            </a:xfrm>
            <a:prstGeom prst="rect">
              <a:avLst/>
            </a:prstGeom>
          </p:spPr>
          <p:txBody>
            <a:bodyPr lIns="0" tIns="0" rIns="0" bIns="0" rtlCol="0" anchor="t">
              <a:spAutoFit/>
            </a:bodyPr>
            <a:lstStyle/>
            <a:p>
              <a:pPr marL="0" marR="0" lvl="0" indent="0" algn="l" defTabSz="914400" rtl="0" eaLnBrk="1" fontAlgn="auto" latinLnBrk="0" hangingPunct="1">
                <a:lnSpc>
                  <a:spcPts val="9600"/>
                </a:lnSpc>
                <a:spcBef>
                  <a:spcPts val="0"/>
                </a:spcBef>
                <a:spcAft>
                  <a:spcPts val="0"/>
                </a:spcAft>
                <a:buClrTx/>
                <a:buSzTx/>
                <a:buFontTx/>
                <a:buNone/>
                <a:tabLst/>
                <a:defRPr/>
              </a:pPr>
              <a:r>
                <a:rPr kumimoji="0" lang="en-US" sz="9600" b="0" i="0" u="none" strike="noStrike" kern="1200" cap="none" spc="-192" normalizeH="0" baseline="0" noProof="0" dirty="0">
                  <a:ln>
                    <a:noFill/>
                  </a:ln>
                  <a:solidFill>
                    <a:srgbClr val="F9FAFB"/>
                  </a:solidFill>
                  <a:effectLst/>
                  <a:uLnTx/>
                  <a:uFillTx/>
                  <a:latin typeface="Noto Serif Display ExtraCondensed Light"/>
                  <a:ea typeface="Noto Serif Display ExtraCondensed Light"/>
                  <a:cs typeface="Noto Serif Display ExtraCondensed Light"/>
                  <a:sym typeface="Noto Serif Display ExtraCondensed Light"/>
                </a:rPr>
                <a:t>Overview of GDPR and NIST AI RMF</a:t>
              </a:r>
            </a:p>
          </p:txBody>
        </p:sp>
        <p:sp>
          <p:nvSpPr>
            <p:cNvPr id="13" name="TextBox 13"/>
            <p:cNvSpPr txBox="1"/>
            <p:nvPr/>
          </p:nvSpPr>
          <p:spPr>
            <a:xfrm>
              <a:off x="-42779" y="4169611"/>
              <a:ext cx="22606000" cy="355600"/>
            </a:xfrm>
            <a:prstGeom prst="rect">
              <a:avLst/>
            </a:prstGeom>
          </p:spPr>
          <p:txBody>
            <a:bodyPr lIns="0" tIns="0" rIns="0" bIns="0" rtlCol="0" anchor="t">
              <a:spAutoFit/>
            </a:bodyPr>
            <a:lstStyle/>
            <a:p>
              <a:pPr marL="0" marR="0" lvl="0" indent="0" algn="l" defTabSz="914400" rtl="0" eaLnBrk="1" fontAlgn="auto" latinLnBrk="0" hangingPunct="1">
                <a:lnSpc>
                  <a:spcPts val="2136"/>
                </a:lnSpc>
                <a:spcBef>
                  <a:spcPts val="0"/>
                </a:spcBef>
                <a:spcAft>
                  <a:spcPts val="0"/>
                </a:spcAft>
                <a:buClrTx/>
                <a:buSzTx/>
                <a:buFontTx/>
                <a:buNone/>
                <a:tabLst/>
                <a:defRPr/>
              </a:pPr>
              <a:r>
                <a:rPr kumimoji="0" lang="en-US" sz="1780" b="1" i="0" u="none" strike="noStrike" kern="1200" cap="none" spc="0" normalizeH="0" baseline="0" noProof="0" dirty="0">
                  <a:ln>
                    <a:noFill/>
                  </a:ln>
                  <a:solidFill>
                    <a:srgbClr val="F9FAFB"/>
                  </a:solidFill>
                  <a:effectLst/>
                  <a:uLnTx/>
                  <a:uFillTx/>
                  <a:latin typeface="HK Grotesk Semi-Bold"/>
                  <a:ea typeface="HK Grotesk Semi-Bold"/>
                  <a:cs typeface="HK Grotesk Semi-Bold"/>
                  <a:sym typeface="HK Grotesk Semi-Bold"/>
                </a:rPr>
                <a:t>Understanding their roles in robotics</a:t>
              </a:r>
            </a:p>
          </p:txBody>
        </p:sp>
      </p:grpSp>
      <p:sp>
        <p:nvSpPr>
          <p:cNvPr id="14" name="AutoShape 14"/>
          <p:cNvSpPr/>
          <p:nvPr/>
        </p:nvSpPr>
        <p:spPr>
          <a:xfrm>
            <a:off x="0" y="676275"/>
            <a:ext cx="18288000" cy="0"/>
          </a:xfrm>
          <a:prstGeom prst="line">
            <a:avLst/>
          </a:prstGeom>
          <a:ln w="19050" cap="flat">
            <a:solidFill>
              <a:srgbClr val="F9FAFB"/>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AutoShape 15"/>
          <p:cNvSpPr/>
          <p:nvPr/>
        </p:nvSpPr>
        <p:spPr>
          <a:xfrm>
            <a:off x="0" y="9629775"/>
            <a:ext cx="18288000" cy="0"/>
          </a:xfrm>
          <a:prstGeom prst="line">
            <a:avLst/>
          </a:prstGeom>
          <a:ln w="19050" cap="flat">
            <a:solidFill>
              <a:srgbClr val="F9FAFB"/>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2A2A2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4816593" cy="69485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AutoShape 5"/>
          <p:cNvSpPr/>
          <p:nvPr/>
        </p:nvSpPr>
        <p:spPr>
          <a:xfrm>
            <a:off x="666750" y="5143500"/>
            <a:ext cx="16954500" cy="0"/>
          </a:xfrm>
          <a:prstGeom prst="line">
            <a:avLst/>
          </a:prstGeom>
          <a:ln w="9525" cap="flat">
            <a:solidFill>
              <a:srgbClr val="2A2A2A"/>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 name="Group 6"/>
          <p:cNvGrpSpPr/>
          <p:nvPr/>
        </p:nvGrpSpPr>
        <p:grpSpPr>
          <a:xfrm>
            <a:off x="666750" y="5008305"/>
            <a:ext cx="270390" cy="27039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4262897" y="5008305"/>
            <a:ext cx="270390" cy="27039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TextBox 12"/>
          <p:cNvSpPr txBox="1"/>
          <p:nvPr/>
        </p:nvSpPr>
        <p:spPr>
          <a:xfrm>
            <a:off x="857250" y="3348846"/>
            <a:ext cx="2876550" cy="8953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ts val="0"/>
              </a:spcBef>
              <a:spcAft>
                <a:spcPts val="0"/>
              </a:spcAft>
              <a:buClrTx/>
              <a:buSzTx/>
              <a:buFontTx/>
              <a:buNone/>
              <a:tabLst/>
              <a:defRPr/>
            </a:pPr>
            <a:r>
              <a:rPr kumimoji="0" lang="en-US" sz="3000" b="1" i="0" u="none" strike="noStrike" kern="1200" cap="none" spc="-30" normalizeH="0" baseline="0" noProof="0">
                <a:ln>
                  <a:noFill/>
                </a:ln>
                <a:solidFill>
                  <a:srgbClr val="FFFFFF"/>
                </a:solidFill>
                <a:effectLst/>
                <a:uLnTx/>
                <a:uFillTx/>
                <a:latin typeface="Telegraf Bold"/>
                <a:ea typeface="Telegraf Bold"/>
                <a:cs typeface="Telegraf Bold"/>
                <a:sym typeface="Telegraf Bold"/>
              </a:rPr>
              <a:t>Stage 1: Collection</a:t>
            </a:r>
          </a:p>
        </p:txBody>
      </p:sp>
      <p:sp>
        <p:nvSpPr>
          <p:cNvPr id="13" name="TextBox 13"/>
          <p:cNvSpPr txBox="1"/>
          <p:nvPr/>
        </p:nvSpPr>
        <p:spPr>
          <a:xfrm>
            <a:off x="666750" y="5957734"/>
            <a:ext cx="2571750" cy="1787525"/>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Data is gathered from sensors and devices ensuring </a:t>
            </a:r>
            <a:r>
              <a:rPr kumimoji="0" lang="en-US" sz="2000" b="1" i="0" u="none" strike="noStrike" kern="1200" cap="none" spc="-20" normalizeH="0" baseline="0" noProof="0">
                <a:ln>
                  <a:noFill/>
                </a:ln>
                <a:solidFill>
                  <a:srgbClr val="2A2A2A"/>
                </a:solidFill>
                <a:effectLst/>
                <a:uLnTx/>
                <a:uFillTx/>
                <a:latin typeface="Telegraf Bold"/>
                <a:ea typeface="Telegraf Bold"/>
                <a:cs typeface="Telegraf Bold"/>
                <a:sym typeface="Telegraf Bold"/>
              </a:rPr>
              <a:t>accuracy</a:t>
            </a: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 for effective decision-making.</a:t>
            </a:r>
          </a:p>
        </p:txBody>
      </p:sp>
      <p:sp>
        <p:nvSpPr>
          <p:cNvPr id="14" name="TextBox 14"/>
          <p:cNvSpPr txBox="1"/>
          <p:nvPr/>
        </p:nvSpPr>
        <p:spPr>
          <a:xfrm>
            <a:off x="4262897" y="5957734"/>
            <a:ext cx="2571750" cy="213995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The collected data is processed through algorithms, enhancing </a:t>
            </a:r>
            <a:r>
              <a:rPr kumimoji="0" lang="en-US" sz="2000" b="1" i="0" u="none" strike="noStrike" kern="1200" cap="none" spc="-20" normalizeH="0" baseline="0" noProof="0">
                <a:ln>
                  <a:noFill/>
                </a:ln>
                <a:solidFill>
                  <a:srgbClr val="2A2A2A"/>
                </a:solidFill>
                <a:effectLst/>
                <a:uLnTx/>
                <a:uFillTx/>
                <a:latin typeface="Telegraf Bold"/>
                <a:ea typeface="Telegraf Bold"/>
                <a:cs typeface="Telegraf Bold"/>
                <a:sym typeface="Telegraf Bold"/>
              </a:rPr>
              <a:t>efficiency</a:t>
            </a: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 and optimizing performance.</a:t>
            </a:r>
          </a:p>
        </p:txBody>
      </p:sp>
      <p:sp>
        <p:nvSpPr>
          <p:cNvPr id="15" name="TextBox 15"/>
          <p:cNvSpPr txBox="1"/>
          <p:nvPr/>
        </p:nvSpPr>
        <p:spPr>
          <a:xfrm>
            <a:off x="4453397" y="3348846"/>
            <a:ext cx="2567447" cy="8953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ct val="0"/>
              </a:spcBef>
              <a:spcAft>
                <a:spcPts val="0"/>
              </a:spcAft>
              <a:buClrTx/>
              <a:buSzTx/>
              <a:buFontTx/>
              <a:buNone/>
              <a:tabLst/>
              <a:defRPr/>
            </a:pPr>
            <a:r>
              <a:rPr kumimoji="0" lang="en-US" sz="3000" b="1" i="0" u="none" strike="noStrike" kern="1200" cap="none" spc="-30" normalizeH="0" baseline="0" noProof="0">
                <a:ln>
                  <a:noFill/>
                </a:ln>
                <a:solidFill>
                  <a:srgbClr val="FFFFFF"/>
                </a:solidFill>
                <a:effectLst/>
                <a:uLnTx/>
                <a:uFillTx/>
                <a:latin typeface="Telegraf Bold"/>
                <a:ea typeface="Telegraf Bold"/>
                <a:cs typeface="Telegraf Bold"/>
                <a:sym typeface="Telegraf Bold"/>
              </a:rPr>
              <a:t>Stage 2: Processing</a:t>
            </a:r>
          </a:p>
        </p:txBody>
      </p:sp>
      <p:sp>
        <p:nvSpPr>
          <p:cNvPr id="16" name="TextBox 16"/>
          <p:cNvSpPr txBox="1"/>
          <p:nvPr/>
        </p:nvSpPr>
        <p:spPr>
          <a:xfrm>
            <a:off x="8049545" y="3348846"/>
            <a:ext cx="2570830" cy="8953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ct val="0"/>
              </a:spcBef>
              <a:spcAft>
                <a:spcPts val="0"/>
              </a:spcAft>
              <a:buClrTx/>
              <a:buSzTx/>
              <a:buFontTx/>
              <a:buNone/>
              <a:tabLst/>
              <a:defRPr/>
            </a:pPr>
            <a:r>
              <a:rPr kumimoji="0" lang="en-US" sz="3000" b="1" i="0" u="none" strike="noStrike" kern="1200" cap="none" spc="-30" normalizeH="0" baseline="0" noProof="0">
                <a:ln>
                  <a:noFill/>
                </a:ln>
                <a:solidFill>
                  <a:srgbClr val="FFFFFF"/>
                </a:solidFill>
                <a:effectLst/>
                <a:uLnTx/>
                <a:uFillTx/>
                <a:latin typeface="Telegraf Bold"/>
                <a:ea typeface="Telegraf Bold"/>
                <a:cs typeface="Telegraf Bold"/>
                <a:sym typeface="Telegraf Bold"/>
              </a:rPr>
              <a:t>Stage 3: Sharing</a:t>
            </a:r>
          </a:p>
        </p:txBody>
      </p:sp>
      <p:sp>
        <p:nvSpPr>
          <p:cNvPr id="17" name="TextBox 17"/>
          <p:cNvSpPr txBox="1"/>
          <p:nvPr/>
        </p:nvSpPr>
        <p:spPr>
          <a:xfrm>
            <a:off x="11643853" y="3348846"/>
            <a:ext cx="2571750" cy="8953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ct val="0"/>
              </a:spcBef>
              <a:spcAft>
                <a:spcPts val="0"/>
              </a:spcAft>
              <a:buClrTx/>
              <a:buSzTx/>
              <a:buFontTx/>
              <a:buNone/>
              <a:tabLst/>
              <a:defRPr/>
            </a:pPr>
            <a:r>
              <a:rPr kumimoji="0" lang="en-US" sz="3000" b="1" i="0" u="none" strike="noStrike" kern="1200" cap="none" spc="-30" normalizeH="0" baseline="0" noProof="0">
                <a:ln>
                  <a:noFill/>
                </a:ln>
                <a:solidFill>
                  <a:srgbClr val="FFFFFF"/>
                </a:solidFill>
                <a:effectLst/>
                <a:uLnTx/>
                <a:uFillTx/>
                <a:latin typeface="Telegraf Bold"/>
                <a:ea typeface="Telegraf Bold"/>
                <a:cs typeface="Telegraf Bold"/>
                <a:sym typeface="Telegraf Bold"/>
              </a:rPr>
              <a:t>Stage 4: Retention</a:t>
            </a:r>
          </a:p>
        </p:txBody>
      </p:sp>
      <p:sp>
        <p:nvSpPr>
          <p:cNvPr id="18" name="TextBox 18"/>
          <p:cNvSpPr txBox="1"/>
          <p:nvPr/>
        </p:nvSpPr>
        <p:spPr>
          <a:xfrm>
            <a:off x="15241887" y="3352800"/>
            <a:ext cx="2569863" cy="895350"/>
          </a:xfrm>
          <a:prstGeom prst="rect">
            <a:avLst/>
          </a:prstGeom>
        </p:spPr>
        <p:txBody>
          <a:bodyPr lIns="0" tIns="0" rIns="0" bIns="0" rtlCol="0" anchor="t">
            <a:spAutoFit/>
          </a:bodyPr>
          <a:lstStyle/>
          <a:p>
            <a:pPr marL="0" marR="0" lvl="0" indent="0" algn="l" defTabSz="914400" rtl="0" eaLnBrk="1" fontAlgn="auto" latinLnBrk="0" hangingPunct="1">
              <a:lnSpc>
                <a:spcPts val="3300"/>
              </a:lnSpc>
              <a:spcBef>
                <a:spcPct val="0"/>
              </a:spcBef>
              <a:spcAft>
                <a:spcPts val="0"/>
              </a:spcAft>
              <a:buClrTx/>
              <a:buSzTx/>
              <a:buFontTx/>
              <a:buNone/>
              <a:tabLst/>
              <a:defRPr/>
            </a:pPr>
            <a:r>
              <a:rPr kumimoji="0" lang="en-US" sz="3000" b="1" i="0" u="none" strike="noStrike" kern="1200" cap="none" spc="-30" normalizeH="0" baseline="0" noProof="0">
                <a:ln>
                  <a:noFill/>
                </a:ln>
                <a:solidFill>
                  <a:srgbClr val="FFFFFF"/>
                </a:solidFill>
                <a:effectLst/>
                <a:uLnTx/>
                <a:uFillTx/>
                <a:latin typeface="Telegraf Bold"/>
                <a:ea typeface="Telegraf Bold"/>
                <a:cs typeface="Telegraf Bold"/>
                <a:sym typeface="Telegraf Bold"/>
              </a:rPr>
              <a:t>Stage 5: Analysis</a:t>
            </a:r>
          </a:p>
        </p:txBody>
      </p:sp>
      <p:sp>
        <p:nvSpPr>
          <p:cNvPr id="19" name="TextBox 19"/>
          <p:cNvSpPr txBox="1"/>
          <p:nvPr/>
        </p:nvSpPr>
        <p:spPr>
          <a:xfrm>
            <a:off x="666750" y="657225"/>
            <a:ext cx="16954500" cy="1069975"/>
          </a:xfrm>
          <a:prstGeom prst="rect">
            <a:avLst/>
          </a:prstGeom>
        </p:spPr>
        <p:txBody>
          <a:bodyPr lIns="0" tIns="0" rIns="0" bIns="0" rtlCol="0" anchor="t">
            <a:spAutoFit/>
          </a:bodyPr>
          <a:lstStyle/>
          <a:p>
            <a:pPr marL="0" marR="0" lvl="0" indent="0" algn="ctr" defTabSz="914400" rtl="0" eaLnBrk="1" fontAlgn="auto" latinLnBrk="0" hangingPunct="1">
              <a:lnSpc>
                <a:spcPts val="7699"/>
              </a:lnSpc>
              <a:spcBef>
                <a:spcPts val="0"/>
              </a:spcBef>
              <a:spcAft>
                <a:spcPts val="0"/>
              </a:spcAft>
              <a:buClrTx/>
              <a:buSzTx/>
              <a:buFontTx/>
              <a:buNone/>
              <a:tabLst/>
              <a:defRPr/>
            </a:pPr>
            <a:r>
              <a:rPr kumimoji="0" lang="en-US" sz="6999" b="1" i="0" u="none" strike="noStrike" kern="1200" cap="none" spc="-69" normalizeH="0" baseline="0" noProof="0">
                <a:ln>
                  <a:noFill/>
                </a:ln>
                <a:solidFill>
                  <a:srgbClr val="FFFFFF"/>
                </a:solidFill>
                <a:effectLst/>
                <a:uLnTx/>
                <a:uFillTx/>
                <a:latin typeface="Telegraf Bold"/>
                <a:ea typeface="Telegraf Bold"/>
                <a:cs typeface="Telegraf Bold"/>
                <a:sym typeface="Telegraf Bold"/>
              </a:rPr>
              <a:t>Robotics Data Lifecycle Overview</a:t>
            </a:r>
          </a:p>
        </p:txBody>
      </p:sp>
      <p:grpSp>
        <p:nvGrpSpPr>
          <p:cNvPr id="20" name="Group 20"/>
          <p:cNvGrpSpPr/>
          <p:nvPr/>
        </p:nvGrpSpPr>
        <p:grpSpPr>
          <a:xfrm>
            <a:off x="7859045" y="5008305"/>
            <a:ext cx="270390" cy="27039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p:cNvGrpSpPr/>
          <p:nvPr/>
        </p:nvGrpSpPr>
        <p:grpSpPr>
          <a:xfrm>
            <a:off x="11455192" y="5008305"/>
            <a:ext cx="270390" cy="27039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p:cNvGrpSpPr/>
          <p:nvPr/>
        </p:nvGrpSpPr>
        <p:grpSpPr>
          <a:xfrm>
            <a:off x="15051340" y="5008305"/>
            <a:ext cx="270390" cy="27039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A2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Box 28"/>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9" name="TextBox 29"/>
          <p:cNvSpPr txBox="1"/>
          <p:nvPr/>
        </p:nvSpPr>
        <p:spPr>
          <a:xfrm>
            <a:off x="7859045" y="5957734"/>
            <a:ext cx="2571750" cy="213995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Processed information is shared securely within systems, promoting </a:t>
            </a:r>
            <a:r>
              <a:rPr kumimoji="0" lang="en-US" sz="2000" b="1" i="0" u="none" strike="noStrike" kern="1200" cap="none" spc="-20" normalizeH="0" baseline="0" noProof="0">
                <a:ln>
                  <a:noFill/>
                </a:ln>
                <a:solidFill>
                  <a:srgbClr val="2A2A2A"/>
                </a:solidFill>
                <a:effectLst/>
                <a:uLnTx/>
                <a:uFillTx/>
                <a:latin typeface="Telegraf Bold"/>
                <a:ea typeface="Telegraf Bold"/>
                <a:cs typeface="Telegraf Bold"/>
                <a:sym typeface="Telegraf Bold"/>
              </a:rPr>
              <a:t>collaboration</a:t>
            </a: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 and operational synergy.</a:t>
            </a:r>
          </a:p>
        </p:txBody>
      </p:sp>
      <p:sp>
        <p:nvSpPr>
          <p:cNvPr id="30" name="TextBox 30"/>
          <p:cNvSpPr txBox="1"/>
          <p:nvPr/>
        </p:nvSpPr>
        <p:spPr>
          <a:xfrm>
            <a:off x="11455192" y="5957734"/>
            <a:ext cx="2571750" cy="1787525"/>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Data is retained in secure storage, ensuring </a:t>
            </a:r>
            <a:r>
              <a:rPr kumimoji="0" lang="en-US" sz="2000" b="1" i="0" u="none" strike="noStrike" kern="1200" cap="none" spc="-20" normalizeH="0" baseline="0" noProof="0">
                <a:ln>
                  <a:noFill/>
                </a:ln>
                <a:solidFill>
                  <a:srgbClr val="2A2A2A"/>
                </a:solidFill>
                <a:effectLst/>
                <a:uLnTx/>
                <a:uFillTx/>
                <a:latin typeface="Telegraf Bold"/>
                <a:ea typeface="Telegraf Bold"/>
                <a:cs typeface="Telegraf Bold"/>
                <a:sym typeface="Telegraf Bold"/>
              </a:rPr>
              <a:t>compliance</a:t>
            </a: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 with regulations and preventing loss.</a:t>
            </a:r>
          </a:p>
        </p:txBody>
      </p:sp>
      <p:sp>
        <p:nvSpPr>
          <p:cNvPr id="31" name="TextBox 31"/>
          <p:cNvSpPr txBox="1"/>
          <p:nvPr/>
        </p:nvSpPr>
        <p:spPr>
          <a:xfrm>
            <a:off x="15051340" y="5957734"/>
            <a:ext cx="2571750" cy="213995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Continuous analysis of data drives </a:t>
            </a:r>
            <a:r>
              <a:rPr kumimoji="0" lang="en-US" sz="2000" b="1" i="0" u="none" strike="noStrike" kern="1200" cap="none" spc="-20" normalizeH="0" baseline="0" noProof="0">
                <a:ln>
                  <a:noFill/>
                </a:ln>
                <a:solidFill>
                  <a:srgbClr val="2A2A2A"/>
                </a:solidFill>
                <a:effectLst/>
                <a:uLnTx/>
                <a:uFillTx/>
                <a:latin typeface="Telegraf Bold"/>
                <a:ea typeface="Telegraf Bold"/>
                <a:cs typeface="Telegraf Bold"/>
                <a:sym typeface="Telegraf Bold"/>
              </a:rPr>
              <a:t>insights</a:t>
            </a:r>
            <a:r>
              <a:rPr kumimoji="0" lang="en-US" sz="2000" b="0" i="0" u="none" strike="noStrike" kern="1200" cap="none" spc="-20" normalizeH="0" baseline="0" noProof="0">
                <a:ln>
                  <a:noFill/>
                </a:ln>
                <a:solidFill>
                  <a:srgbClr val="2A2A2A"/>
                </a:solidFill>
                <a:effectLst/>
                <a:uLnTx/>
                <a:uFillTx/>
                <a:latin typeface="Telegraf"/>
                <a:ea typeface="Telegraf"/>
                <a:cs typeface="Telegraf"/>
                <a:sym typeface="Telegraf"/>
              </a:rPr>
              <a:t> that inform future robotics improvements and strategies.</a:t>
            </a:r>
          </a:p>
        </p:txBody>
      </p:sp>
      <p:sp>
        <p:nvSpPr>
          <p:cNvPr id="32" name="AutoShape 32"/>
          <p:cNvSpPr/>
          <p:nvPr/>
        </p:nvSpPr>
        <p:spPr>
          <a:xfrm>
            <a:off x="666750" y="9620250"/>
            <a:ext cx="16954500" cy="0"/>
          </a:xfrm>
          <a:prstGeom prst="line">
            <a:avLst/>
          </a:prstGeom>
          <a:ln w="9525" cap="flat">
            <a:solidFill>
              <a:srgbClr val="2A2A2A"/>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Box 33"/>
          <p:cNvSpPr txBox="1"/>
          <p:nvPr/>
        </p:nvSpPr>
        <p:spPr>
          <a:xfrm>
            <a:off x="666750" y="9676455"/>
            <a:ext cx="2571750" cy="217170"/>
          </a:xfrm>
          <a:prstGeom prst="rect">
            <a:avLst/>
          </a:prstGeom>
        </p:spPr>
        <p:txBody>
          <a:bodyPr lIns="0" tIns="0" rIns="0" bIns="0" rtlCol="0" anchor="t">
            <a:spAutoFit/>
          </a:bodyPr>
          <a:lstStyle/>
          <a:p>
            <a:pPr marL="0" marR="0" lvl="0" indent="0" algn="l" defTabSz="914400" rtl="0" eaLnBrk="1" fontAlgn="auto" latinLnBrk="0" hangingPunct="1">
              <a:lnSpc>
                <a:spcPts val="1679"/>
              </a:lnSpc>
              <a:spcBef>
                <a:spcPct val="0"/>
              </a:spcBef>
              <a:spcAft>
                <a:spcPts val="0"/>
              </a:spcAft>
              <a:buClrTx/>
              <a:buSzTx/>
              <a:buFontTx/>
              <a:buNone/>
              <a:tabLst/>
              <a:defRPr/>
            </a:pPr>
            <a:r>
              <a:rPr kumimoji="0" lang="en-US" sz="1200" b="1" i="0" u="none" strike="noStrike" kern="1200" cap="none" spc="-12" normalizeH="0" baseline="0" noProof="0">
                <a:ln>
                  <a:noFill/>
                </a:ln>
                <a:solidFill>
                  <a:srgbClr val="2A2A2A"/>
                </a:solidFill>
                <a:effectLst/>
                <a:uLnTx/>
                <a:uFillTx/>
                <a:latin typeface="Telegraf Bold"/>
                <a:ea typeface="Telegraf Bold"/>
                <a:cs typeface="Telegraf Bold"/>
                <a:sym typeface="Telegraf Bold"/>
              </a:rPr>
              <a:t>LIFECYCLE SUMMARY</a:t>
            </a:r>
          </a:p>
        </p:txBody>
      </p:sp>
      <p:sp>
        <p:nvSpPr>
          <p:cNvPr id="34" name="TextBox 34"/>
          <p:cNvSpPr txBox="1"/>
          <p:nvPr/>
        </p:nvSpPr>
        <p:spPr>
          <a:xfrm>
            <a:off x="17526744" y="9676442"/>
            <a:ext cx="152400" cy="190500"/>
          </a:xfrm>
          <a:prstGeom prst="rect">
            <a:avLst/>
          </a:prstGeom>
        </p:spPr>
        <p:txBody>
          <a:bodyPr wrap="none" lIns="0" tIns="0" rIns="0" bIns="0" rtlCol="0" anchor="t">
            <a:spAutoFit/>
          </a:bodyPr>
          <a:lstStyle/>
          <a:p>
            <a:pPr marL="0" marR="0" lvl="0" indent="0" algn="r" defTabSz="914400" rtl="0" eaLnBrk="1" fontAlgn="auto" latinLnBrk="0" hangingPunct="1">
              <a:lnSpc>
                <a:spcPts val="1679"/>
              </a:lnSpc>
              <a:spcBef>
                <a:spcPct val="0"/>
              </a:spcBef>
              <a:spcAft>
                <a:spcPts val="0"/>
              </a:spcAft>
              <a:buClrTx/>
              <a:buSzTx/>
              <a:buFontTx/>
              <a:buNone/>
              <a:tabLst/>
              <a:defRPr/>
            </a:pPr>
            <a:r>
              <a:rPr kumimoji="0" lang="en-US" sz="1200" b="1" i="0" u="none" strike="noStrike" kern="1200" cap="none" spc="0" normalizeH="0" baseline="0" noProof="0">
                <a:ln>
                  <a:noFill/>
                </a:ln>
                <a:solidFill>
                  <a:srgbClr val="2A2A2A"/>
                </a:solidFill>
                <a:effectLst/>
                <a:uLnTx/>
                <a:uFillTx/>
                <a:latin typeface="Telegraf Bold"/>
                <a:ea typeface="Telegraf Bold"/>
                <a:cs typeface="Telegraf Bold"/>
                <a:sym typeface="Telegraf Bold"/>
              </a:rPr>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4010025" cy="1790700"/>
            <a:chOff x="0" y="0"/>
            <a:chExt cx="1108711" cy="495101"/>
          </a:xfrm>
        </p:grpSpPr>
        <p:sp>
          <p:nvSpPr>
            <p:cNvPr id="3" name="Freeform 3"/>
            <p:cNvSpPr/>
            <p:nvPr/>
          </p:nvSpPr>
          <p:spPr>
            <a:xfrm>
              <a:off x="0" y="0"/>
              <a:ext cx="1108711" cy="495101"/>
            </a:xfrm>
            <a:custGeom>
              <a:avLst/>
              <a:gdLst/>
              <a:ahLst/>
              <a:cxnLst/>
              <a:rect l="l" t="t" r="r" b="b"/>
              <a:pathLst>
                <a:path w="1108711" h="495101">
                  <a:moveTo>
                    <a:pt x="57919" y="0"/>
                  </a:moveTo>
                  <a:lnTo>
                    <a:pt x="1050791" y="0"/>
                  </a:lnTo>
                  <a:cubicBezTo>
                    <a:pt x="1066152" y="0"/>
                    <a:pt x="1080884" y="6102"/>
                    <a:pt x="1091746" y="16964"/>
                  </a:cubicBezTo>
                  <a:cubicBezTo>
                    <a:pt x="1102608" y="27826"/>
                    <a:pt x="1108711" y="42558"/>
                    <a:pt x="1108711" y="57919"/>
                  </a:cubicBezTo>
                  <a:lnTo>
                    <a:pt x="1108711" y="437182"/>
                  </a:lnTo>
                  <a:cubicBezTo>
                    <a:pt x="1108711" y="469170"/>
                    <a:pt x="1082779" y="495101"/>
                    <a:pt x="1050791" y="495101"/>
                  </a:cubicBezTo>
                  <a:lnTo>
                    <a:pt x="57919" y="495101"/>
                  </a:lnTo>
                  <a:cubicBezTo>
                    <a:pt x="42558" y="495101"/>
                    <a:pt x="27826" y="488999"/>
                    <a:pt x="16964" y="478137"/>
                  </a:cubicBezTo>
                  <a:cubicBezTo>
                    <a:pt x="6102" y="467275"/>
                    <a:pt x="0" y="452543"/>
                    <a:pt x="0" y="437182"/>
                  </a:cubicBezTo>
                  <a:lnTo>
                    <a:pt x="0" y="57919"/>
                  </a:lnTo>
                  <a:cubicBezTo>
                    <a:pt x="0" y="42558"/>
                    <a:pt x="6102" y="27826"/>
                    <a:pt x="16964" y="16964"/>
                  </a:cubicBezTo>
                  <a:cubicBezTo>
                    <a:pt x="27826" y="6102"/>
                    <a:pt x="42558" y="0"/>
                    <a:pt x="57919" y="0"/>
                  </a:cubicBezTo>
                  <a:close/>
                </a:path>
              </a:pathLst>
            </a:custGeom>
            <a:blipFill>
              <a:blip r:embed="rId2"/>
              <a:stretch>
                <a:fillRect l="-174" r="-17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 name="Group 4"/>
          <p:cNvGrpSpPr/>
          <p:nvPr/>
        </p:nvGrpSpPr>
        <p:grpSpPr>
          <a:xfrm>
            <a:off x="666750" y="5143500"/>
            <a:ext cx="4010025" cy="1790700"/>
            <a:chOff x="0" y="0"/>
            <a:chExt cx="1108711" cy="495101"/>
          </a:xfrm>
        </p:grpSpPr>
        <p:sp>
          <p:nvSpPr>
            <p:cNvPr id="5" name="Freeform 5"/>
            <p:cNvSpPr/>
            <p:nvPr/>
          </p:nvSpPr>
          <p:spPr>
            <a:xfrm>
              <a:off x="0" y="0"/>
              <a:ext cx="1108711" cy="495101"/>
            </a:xfrm>
            <a:custGeom>
              <a:avLst/>
              <a:gdLst/>
              <a:ahLst/>
              <a:cxnLst/>
              <a:rect l="l" t="t" r="r" b="b"/>
              <a:pathLst>
                <a:path w="1108711" h="495101">
                  <a:moveTo>
                    <a:pt x="57919" y="0"/>
                  </a:moveTo>
                  <a:lnTo>
                    <a:pt x="1050791" y="0"/>
                  </a:lnTo>
                  <a:cubicBezTo>
                    <a:pt x="1066152" y="0"/>
                    <a:pt x="1080884" y="6102"/>
                    <a:pt x="1091746" y="16964"/>
                  </a:cubicBezTo>
                  <a:cubicBezTo>
                    <a:pt x="1102608" y="27826"/>
                    <a:pt x="1108711" y="42558"/>
                    <a:pt x="1108711" y="57919"/>
                  </a:cubicBezTo>
                  <a:lnTo>
                    <a:pt x="1108711" y="437182"/>
                  </a:lnTo>
                  <a:cubicBezTo>
                    <a:pt x="1108711" y="469170"/>
                    <a:pt x="1082779" y="495101"/>
                    <a:pt x="1050791" y="495101"/>
                  </a:cubicBezTo>
                  <a:lnTo>
                    <a:pt x="57919" y="495101"/>
                  </a:lnTo>
                  <a:cubicBezTo>
                    <a:pt x="42558" y="495101"/>
                    <a:pt x="27826" y="488999"/>
                    <a:pt x="16964" y="478137"/>
                  </a:cubicBezTo>
                  <a:cubicBezTo>
                    <a:pt x="6102" y="467275"/>
                    <a:pt x="0" y="452543"/>
                    <a:pt x="0" y="437182"/>
                  </a:cubicBezTo>
                  <a:lnTo>
                    <a:pt x="0" y="57919"/>
                  </a:lnTo>
                  <a:cubicBezTo>
                    <a:pt x="0" y="42558"/>
                    <a:pt x="6102" y="27826"/>
                    <a:pt x="16964" y="16964"/>
                  </a:cubicBezTo>
                  <a:cubicBezTo>
                    <a:pt x="27826" y="6102"/>
                    <a:pt x="42558" y="0"/>
                    <a:pt x="57919" y="0"/>
                  </a:cubicBezTo>
                  <a:close/>
                </a:path>
              </a:pathLst>
            </a:custGeom>
            <a:blipFill>
              <a:blip r:embed="rId3"/>
              <a:stretch>
                <a:fillRect l="-174" r="-17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666750" y="7829550"/>
            <a:ext cx="4010025" cy="1790700"/>
            <a:chOff x="0" y="0"/>
            <a:chExt cx="1108711" cy="495101"/>
          </a:xfrm>
        </p:grpSpPr>
        <p:sp>
          <p:nvSpPr>
            <p:cNvPr id="7" name="Freeform 7"/>
            <p:cNvSpPr/>
            <p:nvPr/>
          </p:nvSpPr>
          <p:spPr>
            <a:xfrm>
              <a:off x="0" y="0"/>
              <a:ext cx="1108711" cy="495101"/>
            </a:xfrm>
            <a:custGeom>
              <a:avLst/>
              <a:gdLst/>
              <a:ahLst/>
              <a:cxnLst/>
              <a:rect l="l" t="t" r="r" b="b"/>
              <a:pathLst>
                <a:path w="1108711" h="495101">
                  <a:moveTo>
                    <a:pt x="57919" y="0"/>
                  </a:moveTo>
                  <a:lnTo>
                    <a:pt x="1050791" y="0"/>
                  </a:lnTo>
                  <a:cubicBezTo>
                    <a:pt x="1066152" y="0"/>
                    <a:pt x="1080884" y="6102"/>
                    <a:pt x="1091746" y="16964"/>
                  </a:cubicBezTo>
                  <a:cubicBezTo>
                    <a:pt x="1102608" y="27826"/>
                    <a:pt x="1108711" y="42558"/>
                    <a:pt x="1108711" y="57919"/>
                  </a:cubicBezTo>
                  <a:lnTo>
                    <a:pt x="1108711" y="437182"/>
                  </a:lnTo>
                  <a:cubicBezTo>
                    <a:pt x="1108711" y="469170"/>
                    <a:pt x="1082779" y="495101"/>
                    <a:pt x="1050791" y="495101"/>
                  </a:cubicBezTo>
                  <a:lnTo>
                    <a:pt x="57919" y="495101"/>
                  </a:lnTo>
                  <a:cubicBezTo>
                    <a:pt x="42558" y="495101"/>
                    <a:pt x="27826" y="488999"/>
                    <a:pt x="16964" y="478137"/>
                  </a:cubicBezTo>
                  <a:cubicBezTo>
                    <a:pt x="6102" y="467275"/>
                    <a:pt x="0" y="452543"/>
                    <a:pt x="0" y="437182"/>
                  </a:cubicBezTo>
                  <a:lnTo>
                    <a:pt x="0" y="57919"/>
                  </a:lnTo>
                  <a:cubicBezTo>
                    <a:pt x="0" y="42558"/>
                    <a:pt x="6102" y="27826"/>
                    <a:pt x="16964" y="16964"/>
                  </a:cubicBezTo>
                  <a:cubicBezTo>
                    <a:pt x="27826" y="6102"/>
                    <a:pt x="42558" y="0"/>
                    <a:pt x="57919" y="0"/>
                  </a:cubicBezTo>
                  <a:close/>
                </a:path>
              </a:pathLst>
            </a:custGeom>
            <a:blipFill>
              <a:blip r:embed="rId4"/>
              <a:stretch>
                <a:fillRect l="-174" r="-17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9296400" y="2457450"/>
            <a:ext cx="4010025" cy="1790700"/>
            <a:chOff x="0" y="0"/>
            <a:chExt cx="1108711" cy="495101"/>
          </a:xfrm>
        </p:grpSpPr>
        <p:sp>
          <p:nvSpPr>
            <p:cNvPr id="9" name="Freeform 9"/>
            <p:cNvSpPr/>
            <p:nvPr/>
          </p:nvSpPr>
          <p:spPr>
            <a:xfrm>
              <a:off x="0" y="0"/>
              <a:ext cx="1108711" cy="495101"/>
            </a:xfrm>
            <a:custGeom>
              <a:avLst/>
              <a:gdLst/>
              <a:ahLst/>
              <a:cxnLst/>
              <a:rect l="l" t="t" r="r" b="b"/>
              <a:pathLst>
                <a:path w="1108711" h="495101">
                  <a:moveTo>
                    <a:pt x="57919" y="0"/>
                  </a:moveTo>
                  <a:lnTo>
                    <a:pt x="1050791" y="0"/>
                  </a:lnTo>
                  <a:cubicBezTo>
                    <a:pt x="1066152" y="0"/>
                    <a:pt x="1080884" y="6102"/>
                    <a:pt x="1091746" y="16964"/>
                  </a:cubicBezTo>
                  <a:cubicBezTo>
                    <a:pt x="1102608" y="27826"/>
                    <a:pt x="1108711" y="42558"/>
                    <a:pt x="1108711" y="57919"/>
                  </a:cubicBezTo>
                  <a:lnTo>
                    <a:pt x="1108711" y="437182"/>
                  </a:lnTo>
                  <a:cubicBezTo>
                    <a:pt x="1108711" y="469170"/>
                    <a:pt x="1082779" y="495101"/>
                    <a:pt x="1050791" y="495101"/>
                  </a:cubicBezTo>
                  <a:lnTo>
                    <a:pt x="57919" y="495101"/>
                  </a:lnTo>
                  <a:cubicBezTo>
                    <a:pt x="42558" y="495101"/>
                    <a:pt x="27826" y="488999"/>
                    <a:pt x="16964" y="478137"/>
                  </a:cubicBezTo>
                  <a:cubicBezTo>
                    <a:pt x="6102" y="467275"/>
                    <a:pt x="0" y="452543"/>
                    <a:pt x="0" y="437182"/>
                  </a:cubicBezTo>
                  <a:lnTo>
                    <a:pt x="0" y="57919"/>
                  </a:lnTo>
                  <a:cubicBezTo>
                    <a:pt x="0" y="42558"/>
                    <a:pt x="6102" y="27826"/>
                    <a:pt x="16964" y="16964"/>
                  </a:cubicBezTo>
                  <a:cubicBezTo>
                    <a:pt x="27826" y="6102"/>
                    <a:pt x="42558" y="0"/>
                    <a:pt x="57919" y="0"/>
                  </a:cubicBezTo>
                  <a:close/>
                </a:path>
              </a:pathLst>
            </a:custGeom>
            <a:blipFill>
              <a:blip r:embed="rId5"/>
              <a:stretch>
                <a:fillRect l="-174" r="-17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10"/>
          <p:cNvGrpSpPr/>
          <p:nvPr/>
        </p:nvGrpSpPr>
        <p:grpSpPr>
          <a:xfrm>
            <a:off x="9296400" y="5143500"/>
            <a:ext cx="4010025" cy="1790700"/>
            <a:chOff x="0" y="0"/>
            <a:chExt cx="1108711" cy="495101"/>
          </a:xfrm>
        </p:grpSpPr>
        <p:sp>
          <p:nvSpPr>
            <p:cNvPr id="11" name="Freeform 11"/>
            <p:cNvSpPr/>
            <p:nvPr/>
          </p:nvSpPr>
          <p:spPr>
            <a:xfrm>
              <a:off x="0" y="0"/>
              <a:ext cx="1108711" cy="495101"/>
            </a:xfrm>
            <a:custGeom>
              <a:avLst/>
              <a:gdLst/>
              <a:ahLst/>
              <a:cxnLst/>
              <a:rect l="l" t="t" r="r" b="b"/>
              <a:pathLst>
                <a:path w="1108711" h="495101">
                  <a:moveTo>
                    <a:pt x="57919" y="0"/>
                  </a:moveTo>
                  <a:lnTo>
                    <a:pt x="1050791" y="0"/>
                  </a:lnTo>
                  <a:cubicBezTo>
                    <a:pt x="1066152" y="0"/>
                    <a:pt x="1080884" y="6102"/>
                    <a:pt x="1091746" y="16964"/>
                  </a:cubicBezTo>
                  <a:cubicBezTo>
                    <a:pt x="1102608" y="27826"/>
                    <a:pt x="1108711" y="42558"/>
                    <a:pt x="1108711" y="57919"/>
                  </a:cubicBezTo>
                  <a:lnTo>
                    <a:pt x="1108711" y="437182"/>
                  </a:lnTo>
                  <a:cubicBezTo>
                    <a:pt x="1108711" y="469170"/>
                    <a:pt x="1082779" y="495101"/>
                    <a:pt x="1050791" y="495101"/>
                  </a:cubicBezTo>
                  <a:lnTo>
                    <a:pt x="57919" y="495101"/>
                  </a:lnTo>
                  <a:cubicBezTo>
                    <a:pt x="42558" y="495101"/>
                    <a:pt x="27826" y="488999"/>
                    <a:pt x="16964" y="478137"/>
                  </a:cubicBezTo>
                  <a:cubicBezTo>
                    <a:pt x="6102" y="467275"/>
                    <a:pt x="0" y="452543"/>
                    <a:pt x="0" y="437182"/>
                  </a:cubicBezTo>
                  <a:lnTo>
                    <a:pt x="0" y="57919"/>
                  </a:lnTo>
                  <a:cubicBezTo>
                    <a:pt x="0" y="42558"/>
                    <a:pt x="6102" y="27826"/>
                    <a:pt x="16964" y="16964"/>
                  </a:cubicBezTo>
                  <a:cubicBezTo>
                    <a:pt x="27826" y="6102"/>
                    <a:pt x="42558" y="0"/>
                    <a:pt x="57919" y="0"/>
                  </a:cubicBezTo>
                  <a:close/>
                </a:path>
              </a:pathLst>
            </a:custGeom>
            <a:blipFill>
              <a:blip r:embed="rId6"/>
              <a:stretch>
                <a:fillRect l="-174" r="-17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p:cNvGrpSpPr/>
          <p:nvPr/>
        </p:nvGrpSpPr>
        <p:grpSpPr>
          <a:xfrm>
            <a:off x="9296400" y="7829550"/>
            <a:ext cx="4010025" cy="1790700"/>
            <a:chOff x="0" y="0"/>
            <a:chExt cx="1108711" cy="495101"/>
          </a:xfrm>
        </p:grpSpPr>
        <p:sp>
          <p:nvSpPr>
            <p:cNvPr id="13" name="Freeform 13"/>
            <p:cNvSpPr/>
            <p:nvPr/>
          </p:nvSpPr>
          <p:spPr>
            <a:xfrm>
              <a:off x="0" y="0"/>
              <a:ext cx="1108711" cy="495101"/>
            </a:xfrm>
            <a:custGeom>
              <a:avLst/>
              <a:gdLst/>
              <a:ahLst/>
              <a:cxnLst/>
              <a:rect l="l" t="t" r="r" b="b"/>
              <a:pathLst>
                <a:path w="1108711" h="495101">
                  <a:moveTo>
                    <a:pt x="57919" y="0"/>
                  </a:moveTo>
                  <a:lnTo>
                    <a:pt x="1050791" y="0"/>
                  </a:lnTo>
                  <a:cubicBezTo>
                    <a:pt x="1066152" y="0"/>
                    <a:pt x="1080884" y="6102"/>
                    <a:pt x="1091746" y="16964"/>
                  </a:cubicBezTo>
                  <a:cubicBezTo>
                    <a:pt x="1102608" y="27826"/>
                    <a:pt x="1108711" y="42558"/>
                    <a:pt x="1108711" y="57919"/>
                  </a:cubicBezTo>
                  <a:lnTo>
                    <a:pt x="1108711" y="437182"/>
                  </a:lnTo>
                  <a:cubicBezTo>
                    <a:pt x="1108711" y="469170"/>
                    <a:pt x="1082779" y="495101"/>
                    <a:pt x="1050791" y="495101"/>
                  </a:cubicBezTo>
                  <a:lnTo>
                    <a:pt x="57919" y="495101"/>
                  </a:lnTo>
                  <a:cubicBezTo>
                    <a:pt x="42558" y="495101"/>
                    <a:pt x="27826" y="488999"/>
                    <a:pt x="16964" y="478137"/>
                  </a:cubicBezTo>
                  <a:cubicBezTo>
                    <a:pt x="6102" y="467275"/>
                    <a:pt x="0" y="452543"/>
                    <a:pt x="0" y="437182"/>
                  </a:cubicBezTo>
                  <a:lnTo>
                    <a:pt x="0" y="57919"/>
                  </a:lnTo>
                  <a:cubicBezTo>
                    <a:pt x="0" y="42558"/>
                    <a:pt x="6102" y="27826"/>
                    <a:pt x="16964" y="16964"/>
                  </a:cubicBezTo>
                  <a:cubicBezTo>
                    <a:pt x="27826" y="6102"/>
                    <a:pt x="42558" y="0"/>
                    <a:pt x="57919" y="0"/>
                  </a:cubicBezTo>
                  <a:close/>
                </a:path>
              </a:pathLst>
            </a:custGeom>
            <a:blipFill>
              <a:blip r:embed="rId7"/>
              <a:stretch>
                <a:fillRect l="-174" r="-17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AutoShape 14"/>
          <p:cNvSpPr/>
          <p:nvPr/>
        </p:nvSpPr>
        <p:spPr>
          <a:xfrm flipV="1">
            <a:off x="13611225" y="2477004"/>
            <a:ext cx="4010025" cy="0"/>
          </a:xfrm>
          <a:prstGeom prst="line">
            <a:avLst/>
          </a:prstGeom>
          <a:ln w="28575" cap="flat">
            <a:solidFill>
              <a:srgbClr val="4A5568"/>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AutoShape 15"/>
          <p:cNvSpPr/>
          <p:nvPr/>
        </p:nvSpPr>
        <p:spPr>
          <a:xfrm>
            <a:off x="13611225" y="5162550"/>
            <a:ext cx="4010025" cy="0"/>
          </a:xfrm>
          <a:prstGeom prst="line">
            <a:avLst/>
          </a:prstGeom>
          <a:ln w="28575" cap="flat">
            <a:solidFill>
              <a:srgbClr val="4A5568"/>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AutoShape 16"/>
          <p:cNvSpPr/>
          <p:nvPr/>
        </p:nvSpPr>
        <p:spPr>
          <a:xfrm>
            <a:off x="13611225" y="7848600"/>
            <a:ext cx="4010025" cy="0"/>
          </a:xfrm>
          <a:prstGeom prst="line">
            <a:avLst/>
          </a:prstGeom>
          <a:ln w="28575" cap="flat">
            <a:solidFill>
              <a:srgbClr val="4A5568"/>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AutoShape 17"/>
          <p:cNvSpPr/>
          <p:nvPr/>
        </p:nvSpPr>
        <p:spPr>
          <a:xfrm>
            <a:off x="4981575" y="2491292"/>
            <a:ext cx="4010025" cy="0"/>
          </a:xfrm>
          <a:prstGeom prst="line">
            <a:avLst/>
          </a:prstGeom>
          <a:ln w="28575" cap="flat">
            <a:solidFill>
              <a:srgbClr val="4A5568"/>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AutoShape 18"/>
          <p:cNvSpPr/>
          <p:nvPr/>
        </p:nvSpPr>
        <p:spPr>
          <a:xfrm>
            <a:off x="4981575" y="5162550"/>
            <a:ext cx="4010025" cy="0"/>
          </a:xfrm>
          <a:prstGeom prst="line">
            <a:avLst/>
          </a:prstGeom>
          <a:ln w="28575" cap="flat">
            <a:solidFill>
              <a:srgbClr val="4A5568"/>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AutoShape 19"/>
          <p:cNvSpPr/>
          <p:nvPr/>
        </p:nvSpPr>
        <p:spPr>
          <a:xfrm>
            <a:off x="4981575" y="7848600"/>
            <a:ext cx="4010025" cy="0"/>
          </a:xfrm>
          <a:prstGeom prst="line">
            <a:avLst/>
          </a:prstGeom>
          <a:ln w="28575" cap="flat">
            <a:solidFill>
              <a:srgbClr val="4A5568"/>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0" name="Group 20"/>
          <p:cNvGrpSpPr/>
          <p:nvPr/>
        </p:nvGrpSpPr>
        <p:grpSpPr>
          <a:xfrm>
            <a:off x="4981575" y="2867529"/>
            <a:ext cx="4010025" cy="1081382"/>
            <a:chOff x="0" y="0"/>
            <a:chExt cx="5346700" cy="1441843"/>
          </a:xfrm>
        </p:grpSpPr>
        <p:sp>
          <p:nvSpPr>
            <p:cNvPr id="21" name="TextBox 21"/>
            <p:cNvSpPr txBox="1"/>
            <p:nvPr/>
          </p:nvSpPr>
          <p:spPr>
            <a:xfrm>
              <a:off x="0" y="-38100"/>
              <a:ext cx="5346700" cy="462280"/>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21" normalizeH="0" baseline="0" noProof="0">
                  <a:ln>
                    <a:noFill/>
                  </a:ln>
                  <a:solidFill>
                    <a:srgbClr val="4A5568"/>
                  </a:solidFill>
                  <a:effectLst/>
                  <a:uLnTx/>
                  <a:uFillTx/>
                  <a:latin typeface="Be Vietnam Ultra-Bold"/>
                  <a:ea typeface="Be Vietnam Ultra-Bold"/>
                  <a:cs typeface="Be Vietnam Ultra-Bold"/>
                  <a:sym typeface="Be Vietnam Ultra-Bold"/>
                </a:rPr>
                <a:t>Data Minimization</a:t>
              </a:r>
            </a:p>
          </p:txBody>
        </p:sp>
        <p:sp>
          <p:nvSpPr>
            <p:cNvPr id="22" name="TextBox 22"/>
            <p:cNvSpPr txBox="1"/>
            <p:nvPr/>
          </p:nvSpPr>
          <p:spPr>
            <a:xfrm>
              <a:off x="0" y="697696"/>
              <a:ext cx="5346700" cy="744147"/>
            </a:xfrm>
            <a:prstGeom prst="rect">
              <a:avLst/>
            </a:prstGeom>
          </p:spPr>
          <p:txBody>
            <a:bodyPr lIns="0" tIns="0" rIns="0" bIns="0" rtlCol="0" anchor="t">
              <a:spAutoFit/>
            </a:bodyPr>
            <a:lstStyle/>
            <a:p>
              <a:pPr marL="0" marR="0" lvl="0" indent="0" algn="l" defTabSz="914400" rtl="0" eaLnBrk="1" fontAlgn="auto" latinLnBrk="0" hangingPunct="1">
                <a:lnSpc>
                  <a:spcPts val="2371"/>
                </a:lnSpc>
                <a:spcBef>
                  <a:spcPts val="0"/>
                </a:spcBef>
                <a:spcAft>
                  <a:spcPts val="0"/>
                </a:spcAft>
                <a:buClrTx/>
                <a:buSzTx/>
                <a:buFontTx/>
                <a:buNone/>
                <a:tabLst/>
                <a:defRPr/>
              </a:pPr>
              <a:r>
                <a:rPr kumimoji="0" lang="en-US" sz="1482" b="0" i="0" u="none" strike="noStrike" kern="1200" cap="none" spc="29" normalizeH="0" baseline="0" noProof="0">
                  <a:ln>
                    <a:noFill/>
                  </a:ln>
                  <a:solidFill>
                    <a:srgbClr val="4A5568"/>
                  </a:solidFill>
                  <a:effectLst/>
                  <a:uLnTx/>
                  <a:uFillTx/>
                  <a:latin typeface="Be Vietnam"/>
                  <a:ea typeface="Be Vietnam"/>
                  <a:cs typeface="Be Vietnam"/>
                  <a:sym typeface="Be Vietnam"/>
                </a:rPr>
                <a:t>Limit data collection to only essential information for functionality.</a:t>
              </a:r>
            </a:p>
          </p:txBody>
        </p:sp>
      </p:grpSp>
      <p:grpSp>
        <p:nvGrpSpPr>
          <p:cNvPr id="23" name="Group 23"/>
          <p:cNvGrpSpPr/>
          <p:nvPr/>
        </p:nvGrpSpPr>
        <p:grpSpPr>
          <a:xfrm>
            <a:off x="13611225" y="2867529"/>
            <a:ext cx="4010025" cy="1077572"/>
            <a:chOff x="0" y="0"/>
            <a:chExt cx="5346700" cy="1436763"/>
          </a:xfrm>
        </p:grpSpPr>
        <p:sp>
          <p:nvSpPr>
            <p:cNvPr id="24" name="TextBox 24"/>
            <p:cNvSpPr txBox="1"/>
            <p:nvPr/>
          </p:nvSpPr>
          <p:spPr>
            <a:xfrm>
              <a:off x="0" y="-38100"/>
              <a:ext cx="5346700" cy="462280"/>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21" normalizeH="0" baseline="0" noProof="0">
                  <a:ln>
                    <a:noFill/>
                  </a:ln>
                  <a:solidFill>
                    <a:srgbClr val="4A5568"/>
                  </a:solidFill>
                  <a:effectLst/>
                  <a:uLnTx/>
                  <a:uFillTx/>
                  <a:latin typeface="Be Vietnam Ultra-Bold"/>
                  <a:ea typeface="Be Vietnam Ultra-Bold"/>
                  <a:cs typeface="Be Vietnam Ultra-Bold"/>
                  <a:sym typeface="Be Vietnam Ultra-Bold"/>
                </a:rPr>
                <a:t>User Consent</a:t>
              </a:r>
            </a:p>
          </p:txBody>
        </p:sp>
        <p:sp>
          <p:nvSpPr>
            <p:cNvPr id="25" name="TextBox 25"/>
            <p:cNvSpPr txBox="1"/>
            <p:nvPr/>
          </p:nvSpPr>
          <p:spPr>
            <a:xfrm>
              <a:off x="0" y="692616"/>
              <a:ext cx="5346700" cy="744147"/>
            </a:xfrm>
            <a:prstGeom prst="rect">
              <a:avLst/>
            </a:prstGeom>
          </p:spPr>
          <p:txBody>
            <a:bodyPr lIns="0" tIns="0" rIns="0" bIns="0" rtlCol="0" anchor="t">
              <a:spAutoFit/>
            </a:bodyPr>
            <a:lstStyle/>
            <a:p>
              <a:pPr marL="0" marR="0" lvl="0" indent="0" algn="l" defTabSz="914400" rtl="0" eaLnBrk="1" fontAlgn="auto" latinLnBrk="0" hangingPunct="1">
                <a:lnSpc>
                  <a:spcPts val="2371"/>
                </a:lnSpc>
                <a:spcBef>
                  <a:spcPts val="0"/>
                </a:spcBef>
                <a:spcAft>
                  <a:spcPts val="0"/>
                </a:spcAft>
                <a:buClrTx/>
                <a:buSzTx/>
                <a:buFontTx/>
                <a:buNone/>
                <a:tabLst/>
                <a:defRPr/>
              </a:pPr>
              <a:r>
                <a:rPr kumimoji="0" lang="en-US" sz="1482" b="0" i="0" u="none" strike="noStrike" kern="1200" cap="none" spc="29" normalizeH="0" baseline="0" noProof="0">
                  <a:ln>
                    <a:noFill/>
                  </a:ln>
                  <a:solidFill>
                    <a:srgbClr val="4A5568"/>
                  </a:solidFill>
                  <a:effectLst/>
                  <a:uLnTx/>
                  <a:uFillTx/>
                  <a:latin typeface="Be Vietnam"/>
                  <a:ea typeface="Be Vietnam"/>
                  <a:cs typeface="Be Vietnam"/>
                  <a:sym typeface="Be Vietnam"/>
                </a:rPr>
                <a:t>Obtain clear and informed consent from users before data collection.</a:t>
              </a:r>
            </a:p>
          </p:txBody>
        </p:sp>
      </p:grpSp>
      <p:grpSp>
        <p:nvGrpSpPr>
          <p:cNvPr id="26" name="Group 26"/>
          <p:cNvGrpSpPr/>
          <p:nvPr/>
        </p:nvGrpSpPr>
        <p:grpSpPr>
          <a:xfrm>
            <a:off x="13611225" y="5553579"/>
            <a:ext cx="4010025" cy="1077572"/>
            <a:chOff x="0" y="0"/>
            <a:chExt cx="5346700" cy="1436763"/>
          </a:xfrm>
        </p:grpSpPr>
        <p:sp>
          <p:nvSpPr>
            <p:cNvPr id="27" name="TextBox 27"/>
            <p:cNvSpPr txBox="1"/>
            <p:nvPr/>
          </p:nvSpPr>
          <p:spPr>
            <a:xfrm>
              <a:off x="0" y="-38100"/>
              <a:ext cx="5346700" cy="462280"/>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21" normalizeH="0" baseline="0" noProof="0">
                  <a:ln>
                    <a:noFill/>
                  </a:ln>
                  <a:solidFill>
                    <a:srgbClr val="4A5568"/>
                  </a:solidFill>
                  <a:effectLst/>
                  <a:uLnTx/>
                  <a:uFillTx/>
                  <a:latin typeface="Be Vietnam Ultra-Bold"/>
                  <a:ea typeface="Be Vietnam Ultra-Bold"/>
                  <a:cs typeface="Be Vietnam Ultra-Bold"/>
                  <a:sym typeface="Be Vietnam Ultra-Bold"/>
                </a:rPr>
                <a:t>Access Control</a:t>
              </a:r>
            </a:p>
          </p:txBody>
        </p:sp>
        <p:sp>
          <p:nvSpPr>
            <p:cNvPr id="28" name="TextBox 28"/>
            <p:cNvSpPr txBox="1"/>
            <p:nvPr/>
          </p:nvSpPr>
          <p:spPr>
            <a:xfrm>
              <a:off x="0" y="692616"/>
              <a:ext cx="5346700" cy="744147"/>
            </a:xfrm>
            <a:prstGeom prst="rect">
              <a:avLst/>
            </a:prstGeom>
          </p:spPr>
          <p:txBody>
            <a:bodyPr lIns="0" tIns="0" rIns="0" bIns="0" rtlCol="0" anchor="t">
              <a:spAutoFit/>
            </a:bodyPr>
            <a:lstStyle/>
            <a:p>
              <a:pPr marL="0" marR="0" lvl="0" indent="0" algn="l" defTabSz="914400" rtl="0" eaLnBrk="1" fontAlgn="auto" latinLnBrk="0" hangingPunct="1">
                <a:lnSpc>
                  <a:spcPts val="2371"/>
                </a:lnSpc>
                <a:spcBef>
                  <a:spcPts val="0"/>
                </a:spcBef>
                <a:spcAft>
                  <a:spcPts val="0"/>
                </a:spcAft>
                <a:buClrTx/>
                <a:buSzTx/>
                <a:buFontTx/>
                <a:buNone/>
                <a:tabLst/>
                <a:defRPr/>
              </a:pPr>
              <a:r>
                <a:rPr kumimoji="0" lang="en-US" sz="1482" b="0" i="0" u="none" strike="noStrike" kern="1200" cap="none" spc="29" normalizeH="0" baseline="0" noProof="0">
                  <a:ln>
                    <a:noFill/>
                  </a:ln>
                  <a:solidFill>
                    <a:srgbClr val="4A5568"/>
                  </a:solidFill>
                  <a:effectLst/>
                  <a:uLnTx/>
                  <a:uFillTx/>
                  <a:latin typeface="Be Vietnam"/>
                  <a:ea typeface="Be Vietnam"/>
                  <a:cs typeface="Be Vietnam"/>
                  <a:sym typeface="Be Vietnam"/>
                </a:rPr>
                <a:t>Restrict data access only to authorized personnel to enhance security.</a:t>
              </a:r>
            </a:p>
          </p:txBody>
        </p:sp>
      </p:grpSp>
      <p:grpSp>
        <p:nvGrpSpPr>
          <p:cNvPr id="29" name="Group 29"/>
          <p:cNvGrpSpPr/>
          <p:nvPr/>
        </p:nvGrpSpPr>
        <p:grpSpPr>
          <a:xfrm>
            <a:off x="13611225" y="8239629"/>
            <a:ext cx="4010025" cy="1077572"/>
            <a:chOff x="0" y="0"/>
            <a:chExt cx="5346700" cy="1436763"/>
          </a:xfrm>
        </p:grpSpPr>
        <p:sp>
          <p:nvSpPr>
            <p:cNvPr id="30" name="TextBox 30"/>
            <p:cNvSpPr txBox="1"/>
            <p:nvPr/>
          </p:nvSpPr>
          <p:spPr>
            <a:xfrm>
              <a:off x="0" y="-38100"/>
              <a:ext cx="5346700" cy="462280"/>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21" normalizeH="0" baseline="0" noProof="0">
                  <a:ln>
                    <a:noFill/>
                  </a:ln>
                  <a:solidFill>
                    <a:srgbClr val="4A5568"/>
                  </a:solidFill>
                  <a:effectLst/>
                  <a:uLnTx/>
                  <a:uFillTx/>
                  <a:latin typeface="Be Vietnam Ultra-Bold"/>
                  <a:ea typeface="Be Vietnam Ultra-Bold"/>
                  <a:cs typeface="Be Vietnam Ultra-Bold"/>
                  <a:sym typeface="Be Vietnam Ultra-Bold"/>
                </a:rPr>
                <a:t>Efficient Data Handling</a:t>
              </a:r>
            </a:p>
          </p:txBody>
        </p:sp>
        <p:sp>
          <p:nvSpPr>
            <p:cNvPr id="31" name="TextBox 31"/>
            <p:cNvSpPr txBox="1"/>
            <p:nvPr/>
          </p:nvSpPr>
          <p:spPr>
            <a:xfrm>
              <a:off x="0" y="692616"/>
              <a:ext cx="5346700" cy="744147"/>
            </a:xfrm>
            <a:prstGeom prst="rect">
              <a:avLst/>
            </a:prstGeom>
          </p:spPr>
          <p:txBody>
            <a:bodyPr lIns="0" tIns="0" rIns="0" bIns="0" rtlCol="0" anchor="t">
              <a:spAutoFit/>
            </a:bodyPr>
            <a:lstStyle/>
            <a:p>
              <a:pPr marL="0" marR="0" lvl="0" indent="0" algn="l" defTabSz="914400" rtl="0" eaLnBrk="1" fontAlgn="auto" latinLnBrk="0" hangingPunct="1">
                <a:lnSpc>
                  <a:spcPts val="2371"/>
                </a:lnSpc>
                <a:spcBef>
                  <a:spcPts val="0"/>
                </a:spcBef>
                <a:spcAft>
                  <a:spcPts val="0"/>
                </a:spcAft>
                <a:buClrTx/>
                <a:buSzTx/>
                <a:buFontTx/>
                <a:buNone/>
                <a:tabLst/>
                <a:defRPr/>
              </a:pPr>
              <a:r>
                <a:rPr kumimoji="0" lang="en-US" sz="1482" b="0" i="0" u="none" strike="noStrike" kern="1200" cap="none" spc="29" normalizeH="0" baseline="0" noProof="0">
                  <a:ln>
                    <a:noFill/>
                  </a:ln>
                  <a:solidFill>
                    <a:srgbClr val="4A5568"/>
                  </a:solidFill>
                  <a:effectLst/>
                  <a:uLnTx/>
                  <a:uFillTx/>
                  <a:latin typeface="Be Vietnam"/>
                  <a:ea typeface="Be Vietnam"/>
                  <a:cs typeface="Be Vietnam"/>
                  <a:sym typeface="Be Vietnam"/>
                </a:rPr>
                <a:t>Implement practices that support efficient and secure data handling processes.</a:t>
              </a:r>
            </a:p>
          </p:txBody>
        </p:sp>
      </p:grpSp>
      <p:grpSp>
        <p:nvGrpSpPr>
          <p:cNvPr id="32" name="Group 32"/>
          <p:cNvGrpSpPr/>
          <p:nvPr/>
        </p:nvGrpSpPr>
        <p:grpSpPr>
          <a:xfrm>
            <a:off x="4981575" y="5601204"/>
            <a:ext cx="4010025" cy="1077572"/>
            <a:chOff x="0" y="0"/>
            <a:chExt cx="5346700" cy="1436763"/>
          </a:xfrm>
        </p:grpSpPr>
        <p:sp>
          <p:nvSpPr>
            <p:cNvPr id="33" name="TextBox 33"/>
            <p:cNvSpPr txBox="1"/>
            <p:nvPr/>
          </p:nvSpPr>
          <p:spPr>
            <a:xfrm>
              <a:off x="0" y="-38100"/>
              <a:ext cx="5346700" cy="462280"/>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21" normalizeH="0" baseline="0" noProof="0">
                  <a:ln>
                    <a:noFill/>
                  </a:ln>
                  <a:solidFill>
                    <a:srgbClr val="4A5568"/>
                  </a:solidFill>
                  <a:effectLst/>
                  <a:uLnTx/>
                  <a:uFillTx/>
                  <a:latin typeface="Be Vietnam Ultra-Bold"/>
                  <a:ea typeface="Be Vietnam Ultra-Bold"/>
                  <a:cs typeface="Be Vietnam Ultra-Bold"/>
                  <a:sym typeface="Be Vietnam Ultra-Bold"/>
                </a:rPr>
                <a:t>Encryption</a:t>
              </a:r>
            </a:p>
          </p:txBody>
        </p:sp>
        <p:sp>
          <p:nvSpPr>
            <p:cNvPr id="34" name="TextBox 34"/>
            <p:cNvSpPr txBox="1"/>
            <p:nvPr/>
          </p:nvSpPr>
          <p:spPr>
            <a:xfrm>
              <a:off x="0" y="692616"/>
              <a:ext cx="5346700" cy="744147"/>
            </a:xfrm>
            <a:prstGeom prst="rect">
              <a:avLst/>
            </a:prstGeom>
          </p:spPr>
          <p:txBody>
            <a:bodyPr lIns="0" tIns="0" rIns="0" bIns="0" rtlCol="0" anchor="t">
              <a:spAutoFit/>
            </a:bodyPr>
            <a:lstStyle/>
            <a:p>
              <a:pPr marL="0" marR="0" lvl="0" indent="0" algn="l" defTabSz="914400" rtl="0" eaLnBrk="1" fontAlgn="auto" latinLnBrk="0" hangingPunct="1">
                <a:lnSpc>
                  <a:spcPts val="2371"/>
                </a:lnSpc>
                <a:spcBef>
                  <a:spcPts val="0"/>
                </a:spcBef>
                <a:spcAft>
                  <a:spcPts val="0"/>
                </a:spcAft>
                <a:buClrTx/>
                <a:buSzTx/>
                <a:buFontTx/>
                <a:buNone/>
                <a:tabLst/>
                <a:defRPr/>
              </a:pPr>
              <a:r>
                <a:rPr kumimoji="0" lang="en-US" sz="1482" b="0" i="0" u="none" strike="noStrike" kern="1200" cap="none" spc="29" normalizeH="0" baseline="0" noProof="0">
                  <a:ln>
                    <a:noFill/>
                  </a:ln>
                  <a:solidFill>
                    <a:srgbClr val="4A5568"/>
                  </a:solidFill>
                  <a:effectLst/>
                  <a:uLnTx/>
                  <a:uFillTx/>
                  <a:latin typeface="Be Vietnam"/>
                  <a:ea typeface="Be Vietnam"/>
                  <a:cs typeface="Be Vietnam"/>
                  <a:sym typeface="Be Vietnam"/>
                </a:rPr>
                <a:t>Protect data at rest and in transit using strong encryption methods.</a:t>
              </a:r>
            </a:p>
          </p:txBody>
        </p:sp>
      </p:grpSp>
      <p:grpSp>
        <p:nvGrpSpPr>
          <p:cNvPr id="35" name="Group 35"/>
          <p:cNvGrpSpPr/>
          <p:nvPr/>
        </p:nvGrpSpPr>
        <p:grpSpPr>
          <a:xfrm>
            <a:off x="4981575" y="8287254"/>
            <a:ext cx="4010025" cy="1077572"/>
            <a:chOff x="0" y="0"/>
            <a:chExt cx="5346700" cy="1436763"/>
          </a:xfrm>
        </p:grpSpPr>
        <p:sp>
          <p:nvSpPr>
            <p:cNvPr id="36" name="TextBox 36"/>
            <p:cNvSpPr txBox="1"/>
            <p:nvPr/>
          </p:nvSpPr>
          <p:spPr>
            <a:xfrm>
              <a:off x="0" y="-38100"/>
              <a:ext cx="5346700" cy="462280"/>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21" normalizeH="0" baseline="0" noProof="0">
                  <a:ln>
                    <a:noFill/>
                  </a:ln>
                  <a:solidFill>
                    <a:srgbClr val="4A5568"/>
                  </a:solidFill>
                  <a:effectLst/>
                  <a:uLnTx/>
                  <a:uFillTx/>
                  <a:latin typeface="Be Vietnam Ultra-Bold"/>
                  <a:ea typeface="Be Vietnam Ultra-Bold"/>
                  <a:cs typeface="Be Vietnam Ultra-Bold"/>
                  <a:sym typeface="Be Vietnam Ultra-Bold"/>
                </a:rPr>
                <a:t>Auditability</a:t>
              </a:r>
            </a:p>
          </p:txBody>
        </p:sp>
        <p:sp>
          <p:nvSpPr>
            <p:cNvPr id="37" name="TextBox 37"/>
            <p:cNvSpPr txBox="1"/>
            <p:nvPr/>
          </p:nvSpPr>
          <p:spPr>
            <a:xfrm>
              <a:off x="0" y="692616"/>
              <a:ext cx="5346700" cy="744147"/>
            </a:xfrm>
            <a:prstGeom prst="rect">
              <a:avLst/>
            </a:prstGeom>
          </p:spPr>
          <p:txBody>
            <a:bodyPr lIns="0" tIns="0" rIns="0" bIns="0" rtlCol="0" anchor="t">
              <a:spAutoFit/>
            </a:bodyPr>
            <a:lstStyle/>
            <a:p>
              <a:pPr marL="0" marR="0" lvl="0" indent="0" algn="l" defTabSz="914400" rtl="0" eaLnBrk="1" fontAlgn="auto" latinLnBrk="0" hangingPunct="1">
                <a:lnSpc>
                  <a:spcPts val="2371"/>
                </a:lnSpc>
                <a:spcBef>
                  <a:spcPts val="0"/>
                </a:spcBef>
                <a:spcAft>
                  <a:spcPts val="0"/>
                </a:spcAft>
                <a:buClrTx/>
                <a:buSzTx/>
                <a:buFontTx/>
                <a:buNone/>
                <a:tabLst/>
                <a:defRPr/>
              </a:pPr>
              <a:r>
                <a:rPr kumimoji="0" lang="en-US" sz="1482" b="0" i="0" u="none" strike="noStrike" kern="1200" cap="none" spc="29" normalizeH="0" baseline="0" noProof="0">
                  <a:ln>
                    <a:noFill/>
                  </a:ln>
                  <a:solidFill>
                    <a:srgbClr val="4A5568"/>
                  </a:solidFill>
                  <a:effectLst/>
                  <a:uLnTx/>
                  <a:uFillTx/>
                  <a:latin typeface="Be Vietnam"/>
                  <a:ea typeface="Be Vietnam"/>
                  <a:cs typeface="Be Vietnam"/>
                  <a:sym typeface="Be Vietnam"/>
                </a:rPr>
                <a:t>Enable transparent logging and monitoring of data access and usage.</a:t>
              </a:r>
            </a:p>
          </p:txBody>
        </p:sp>
      </p:grpSp>
      <p:sp>
        <p:nvSpPr>
          <p:cNvPr id="38" name="TextBox 38"/>
          <p:cNvSpPr txBox="1"/>
          <p:nvPr/>
        </p:nvSpPr>
        <p:spPr>
          <a:xfrm>
            <a:off x="666750" y="771525"/>
            <a:ext cx="16954500" cy="729710"/>
          </a:xfrm>
          <a:prstGeom prst="rect">
            <a:avLst/>
          </a:prstGeom>
        </p:spPr>
        <p:txBody>
          <a:bodyPr lIns="0" tIns="0" rIns="0" bIns="0" rtlCol="0" anchor="t">
            <a:spAutoFit/>
          </a:bodyPr>
          <a:lstStyle/>
          <a:p>
            <a:pPr marL="0" marR="0" lvl="0" indent="0" algn="l" defTabSz="914400" rtl="0" eaLnBrk="1" fontAlgn="auto" latinLnBrk="0" hangingPunct="1">
              <a:lnSpc>
                <a:spcPts val="5478"/>
              </a:lnSpc>
              <a:spcBef>
                <a:spcPts val="0"/>
              </a:spcBef>
              <a:spcAft>
                <a:spcPts val="0"/>
              </a:spcAft>
              <a:buClrTx/>
              <a:buSzTx/>
              <a:buFontTx/>
              <a:buNone/>
              <a:tabLst/>
              <a:defRPr/>
            </a:pPr>
            <a:r>
              <a:rPr kumimoji="0" lang="en-US" sz="5478" b="0" i="0" u="none" strike="noStrike" kern="1200" cap="none" spc="0" normalizeH="0" baseline="0" noProof="0">
                <a:ln>
                  <a:noFill/>
                </a:ln>
                <a:solidFill>
                  <a:srgbClr val="2C5282"/>
                </a:solidFill>
                <a:effectLst/>
                <a:uLnTx/>
                <a:uFillTx/>
                <a:latin typeface="Roca Two"/>
                <a:ea typeface="Roca Two"/>
                <a:cs typeface="Roca Two"/>
                <a:sym typeface="Roca Two"/>
              </a:rPr>
              <a:t>Privacy Safeguards for GDPR-Compliant Robotics 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666750" y="800100"/>
            <a:ext cx="5448300" cy="3587750"/>
          </a:xfrm>
          <a:prstGeom prst="rect">
            <a:avLst/>
          </a:prstGeom>
        </p:spPr>
        <p:txBody>
          <a:bodyPr lIns="0" tIns="0" rIns="0" bIns="0" rtlCol="0" anchor="t">
            <a:spAutoFit/>
          </a:bodyPr>
          <a:lstStyle/>
          <a:p>
            <a:pPr marL="0" marR="0" lvl="0" indent="0" algn="l" defTabSz="914400" rtl="0" eaLnBrk="1" fontAlgn="auto" latinLnBrk="0" hangingPunct="1">
              <a:lnSpc>
                <a:spcPts val="6999"/>
              </a:lnSpc>
              <a:spcBef>
                <a:spcPts val="0"/>
              </a:spcBef>
              <a:spcAft>
                <a:spcPts val="0"/>
              </a:spcAft>
              <a:buClrTx/>
              <a:buSzTx/>
              <a:buFontTx/>
              <a:buNone/>
              <a:tabLst/>
              <a:defRPr/>
            </a:pPr>
            <a:r>
              <a:rPr kumimoji="0" lang="en-US" sz="6999" b="1" i="0" u="none" strike="noStrike" kern="1200" cap="none" spc="0" normalizeH="0" baseline="0" noProof="0">
                <a:ln>
                  <a:noFill/>
                </a:ln>
                <a:solidFill>
                  <a:srgbClr val="2E4A62"/>
                </a:solidFill>
                <a:effectLst/>
                <a:uLnTx/>
                <a:uFillTx/>
                <a:latin typeface="Bricolage Grotesque Bold"/>
                <a:ea typeface="Bricolage Grotesque Bold"/>
                <a:cs typeface="Bricolage Grotesque Bold"/>
                <a:sym typeface="Bricolage Grotesque Bold"/>
              </a:rPr>
              <a:t>AI Governance Roles Overview</a:t>
            </a:r>
          </a:p>
        </p:txBody>
      </p:sp>
      <p:grpSp>
        <p:nvGrpSpPr>
          <p:cNvPr id="3" name="Group 3"/>
          <p:cNvGrpSpPr/>
          <p:nvPr/>
        </p:nvGrpSpPr>
        <p:grpSpPr>
          <a:xfrm>
            <a:off x="7858467" y="1562100"/>
            <a:ext cx="854762" cy="373310"/>
            <a:chOff x="0" y="0"/>
            <a:chExt cx="769424" cy="336039"/>
          </a:xfrm>
        </p:grpSpPr>
        <p:sp>
          <p:nvSpPr>
            <p:cNvPr id="4" name="Freeform 4"/>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F5F7FA"/>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2872519" y="6038850"/>
            <a:ext cx="854762" cy="373310"/>
            <a:chOff x="0" y="0"/>
            <a:chExt cx="769424" cy="336039"/>
          </a:xfrm>
        </p:grpSpPr>
        <p:sp>
          <p:nvSpPr>
            <p:cNvPr id="7" name="Freeform 7"/>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F5F7FA"/>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7858467" y="6038850"/>
            <a:ext cx="854762" cy="373310"/>
            <a:chOff x="0" y="0"/>
            <a:chExt cx="769424" cy="336039"/>
          </a:xfrm>
        </p:grpSpPr>
        <p:sp>
          <p:nvSpPr>
            <p:cNvPr id="10" name="Freeform 10"/>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F5F7FA"/>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2" name="Group 12"/>
          <p:cNvGrpSpPr/>
          <p:nvPr/>
        </p:nvGrpSpPr>
        <p:grpSpPr>
          <a:xfrm>
            <a:off x="12872519" y="1562100"/>
            <a:ext cx="854762" cy="373310"/>
            <a:chOff x="0" y="0"/>
            <a:chExt cx="769424" cy="336039"/>
          </a:xfrm>
        </p:grpSpPr>
        <p:sp>
          <p:nvSpPr>
            <p:cNvPr id="13" name="Freeform 13"/>
            <p:cNvSpPr/>
            <p:nvPr/>
          </p:nvSpPr>
          <p:spPr>
            <a:xfrm>
              <a:off x="0" y="0"/>
              <a:ext cx="769424" cy="336039"/>
            </a:xfrm>
            <a:custGeom>
              <a:avLst/>
              <a:gdLst/>
              <a:ahLst/>
              <a:cxnLst/>
              <a:rect l="l" t="t" r="r" b="b"/>
              <a:pathLst>
                <a:path w="769424" h="336039">
                  <a:moveTo>
                    <a:pt x="566224" y="0"/>
                  </a:moveTo>
                  <a:cubicBezTo>
                    <a:pt x="678448" y="0"/>
                    <a:pt x="769424" y="75225"/>
                    <a:pt x="769424" y="168020"/>
                  </a:cubicBezTo>
                  <a:cubicBezTo>
                    <a:pt x="769424" y="260814"/>
                    <a:pt x="678448" y="336039"/>
                    <a:pt x="566224" y="336039"/>
                  </a:cubicBezTo>
                  <a:lnTo>
                    <a:pt x="203200" y="336039"/>
                  </a:lnTo>
                  <a:cubicBezTo>
                    <a:pt x="90976" y="336039"/>
                    <a:pt x="0" y="260814"/>
                    <a:pt x="0" y="168020"/>
                  </a:cubicBezTo>
                  <a:cubicBezTo>
                    <a:pt x="0" y="75225"/>
                    <a:pt x="90976" y="0"/>
                    <a:pt x="203200" y="0"/>
                  </a:cubicBezTo>
                  <a:close/>
                </a:path>
              </a:pathLst>
            </a:custGeom>
            <a:solidFill>
              <a:srgbClr val="F5F7FA"/>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p:cNvSpPr txBox="1"/>
            <p:nvPr/>
          </p:nvSpPr>
          <p:spPr>
            <a:xfrm>
              <a:off x="0" y="-28575"/>
              <a:ext cx="769424" cy="364614"/>
            </a:xfrm>
            <a:prstGeom prst="rect">
              <a:avLst/>
            </a:prstGeom>
          </p:spPr>
          <p:txBody>
            <a:bodyPr lIns="75536" tIns="75536" rIns="75536" bIns="75536" rtlCol="0" anchor="ctr"/>
            <a:lstStyle/>
            <a:p>
              <a:pPr marL="0" marR="0" lvl="0" indent="0" algn="ctr" defTabSz="914400" rtl="0" eaLnBrk="1" fontAlgn="auto" latinLnBrk="0" hangingPunct="1">
                <a:lnSpc>
                  <a:spcPts val="1748"/>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5" name="Group 15"/>
          <p:cNvGrpSpPr/>
          <p:nvPr/>
        </p:nvGrpSpPr>
        <p:grpSpPr>
          <a:xfrm>
            <a:off x="12872519" y="2456180"/>
            <a:ext cx="4748731" cy="1960845"/>
            <a:chOff x="0" y="0"/>
            <a:chExt cx="6331641" cy="2614460"/>
          </a:xfrm>
        </p:grpSpPr>
        <p:sp>
          <p:nvSpPr>
            <p:cNvPr id="16" name="TextBox 16"/>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2E4A62"/>
                  </a:solidFill>
                  <a:effectLst/>
                  <a:uLnTx/>
                  <a:uFillTx/>
                  <a:latin typeface="Bricolage Grotesque Bold"/>
                  <a:ea typeface="Bricolage Grotesque Bold"/>
                  <a:cs typeface="Bricolage Grotesque Bold"/>
                  <a:sym typeface="Bricolage Grotesque Bold"/>
                </a:rPr>
                <a:t>CISO</a:t>
              </a:r>
            </a:p>
          </p:txBody>
        </p:sp>
        <p:sp>
          <p:nvSpPr>
            <p:cNvPr id="17" name="TextBox 17"/>
            <p:cNvSpPr txBox="1"/>
            <p:nvPr/>
          </p:nvSpPr>
          <p:spPr>
            <a:xfrm>
              <a:off x="0" y="863600"/>
              <a:ext cx="6331641" cy="17508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The Chief Information Security Officer (CISO) is </a:t>
              </a:r>
              <a:r>
                <a:rPr kumimoji="0" lang="en-US" sz="1926" b="1" i="0" u="none" strike="noStrike" kern="1200" cap="none" spc="0" normalizeH="0" baseline="0" noProof="0">
                  <a:ln>
                    <a:noFill/>
                  </a:ln>
                  <a:solidFill>
                    <a:srgbClr val="2E4A62"/>
                  </a:solidFill>
                  <a:effectLst/>
                  <a:uLnTx/>
                  <a:uFillTx/>
                  <a:latin typeface="HK Grotesk Bold"/>
                  <a:ea typeface="HK Grotesk Bold"/>
                  <a:cs typeface="HK Grotesk Bold"/>
                  <a:sym typeface="HK Grotesk Bold"/>
                </a:rPr>
                <a:t>accountable</a:t>
              </a: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 for security oversight. They implement policies and controls to protect sensitive data within AI applications.</a:t>
              </a:r>
            </a:p>
          </p:txBody>
        </p:sp>
      </p:grpSp>
      <p:grpSp>
        <p:nvGrpSpPr>
          <p:cNvPr id="18" name="Group 18"/>
          <p:cNvGrpSpPr/>
          <p:nvPr/>
        </p:nvGrpSpPr>
        <p:grpSpPr>
          <a:xfrm>
            <a:off x="7858125" y="2457450"/>
            <a:ext cx="4748731" cy="1960845"/>
            <a:chOff x="0" y="0"/>
            <a:chExt cx="6331641" cy="2614460"/>
          </a:xfrm>
        </p:grpSpPr>
        <p:sp>
          <p:nvSpPr>
            <p:cNvPr id="19" name="TextBox 19"/>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2E4A62"/>
                  </a:solidFill>
                  <a:effectLst/>
                  <a:uLnTx/>
                  <a:uFillTx/>
                  <a:latin typeface="Bricolage Grotesque Bold"/>
                  <a:ea typeface="Bricolage Grotesque Bold"/>
                  <a:cs typeface="Bricolage Grotesque Bold"/>
                  <a:sym typeface="Bricolage Grotesque Bold"/>
                </a:rPr>
                <a:t>Data Scientist</a:t>
              </a:r>
            </a:p>
          </p:txBody>
        </p:sp>
        <p:sp>
          <p:nvSpPr>
            <p:cNvPr id="20" name="TextBox 20"/>
            <p:cNvSpPr txBox="1"/>
            <p:nvPr/>
          </p:nvSpPr>
          <p:spPr>
            <a:xfrm>
              <a:off x="0" y="863600"/>
              <a:ext cx="6331641" cy="17508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The Data Scientist is </a:t>
              </a:r>
              <a:r>
                <a:rPr kumimoji="0" lang="en-US" sz="1926" b="1" i="0" u="none" strike="noStrike" kern="1200" cap="none" spc="0" normalizeH="0" baseline="0" noProof="0">
                  <a:ln>
                    <a:noFill/>
                  </a:ln>
                  <a:solidFill>
                    <a:srgbClr val="2E4A62"/>
                  </a:solidFill>
                  <a:effectLst/>
                  <a:uLnTx/>
                  <a:uFillTx/>
                  <a:latin typeface="HK Grotesk Bold"/>
                  <a:ea typeface="HK Grotesk Bold"/>
                  <a:cs typeface="HK Grotesk Bold"/>
                  <a:sym typeface="HK Grotesk Bold"/>
                </a:rPr>
                <a:t>responsible</a:t>
              </a: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 for ensuring model accuracy and data validation. Their expertise in analyzing data helps maintain the integrity of AI systems.</a:t>
              </a:r>
            </a:p>
          </p:txBody>
        </p:sp>
      </p:grpSp>
      <p:grpSp>
        <p:nvGrpSpPr>
          <p:cNvPr id="21" name="Group 21"/>
          <p:cNvGrpSpPr/>
          <p:nvPr/>
        </p:nvGrpSpPr>
        <p:grpSpPr>
          <a:xfrm>
            <a:off x="7858467" y="6932930"/>
            <a:ext cx="4748731" cy="1960845"/>
            <a:chOff x="0" y="0"/>
            <a:chExt cx="6331641" cy="2614460"/>
          </a:xfrm>
        </p:grpSpPr>
        <p:sp>
          <p:nvSpPr>
            <p:cNvPr id="22" name="TextBox 22"/>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2E4A62"/>
                  </a:solidFill>
                  <a:effectLst/>
                  <a:uLnTx/>
                  <a:uFillTx/>
                  <a:latin typeface="Bricolage Grotesque Bold"/>
                  <a:ea typeface="Bricolage Grotesque Bold"/>
                  <a:cs typeface="Bricolage Grotesque Bold"/>
                  <a:sym typeface="Bricolage Grotesque Bold"/>
                </a:rPr>
                <a:t>Compliance Officer</a:t>
              </a:r>
            </a:p>
          </p:txBody>
        </p:sp>
        <p:sp>
          <p:nvSpPr>
            <p:cNvPr id="23" name="TextBox 23"/>
            <p:cNvSpPr txBox="1"/>
            <p:nvPr/>
          </p:nvSpPr>
          <p:spPr>
            <a:xfrm>
              <a:off x="0" y="863600"/>
              <a:ext cx="6331641" cy="17508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The Compliance Officer ensures adherence to regulatory standards like GDPR and NIST. They play a crucial role in maintaining ethical use of AI technologies.</a:t>
              </a:r>
            </a:p>
          </p:txBody>
        </p:sp>
      </p:grpSp>
      <p:grpSp>
        <p:nvGrpSpPr>
          <p:cNvPr id="24" name="Group 24"/>
          <p:cNvGrpSpPr/>
          <p:nvPr/>
        </p:nvGrpSpPr>
        <p:grpSpPr>
          <a:xfrm>
            <a:off x="12872519" y="6932930"/>
            <a:ext cx="4748731" cy="2294220"/>
            <a:chOff x="0" y="0"/>
            <a:chExt cx="6331641" cy="3058960"/>
          </a:xfrm>
        </p:grpSpPr>
        <p:sp>
          <p:nvSpPr>
            <p:cNvPr id="25" name="TextBox 25"/>
            <p:cNvSpPr txBox="1"/>
            <p:nvPr/>
          </p:nvSpPr>
          <p:spPr>
            <a:xfrm>
              <a:off x="0" y="-9525"/>
              <a:ext cx="6331641" cy="619125"/>
            </a:xfrm>
            <a:prstGeom prst="rect">
              <a:avLst/>
            </a:prstGeom>
          </p:spPr>
          <p:txBody>
            <a:bodyPr lIns="0" tIns="0" rIns="0" bIns="0" rtlCol="0" anchor="t">
              <a:spAutoFit/>
            </a:bodyPr>
            <a:lstStyle/>
            <a:p>
              <a:pPr marL="0" marR="0" lvl="0" indent="0" algn="l" defTabSz="914400" rtl="0" eaLnBrk="1" fontAlgn="auto" latinLnBrk="0" hangingPunct="1">
                <a:lnSpc>
                  <a:spcPts val="3600"/>
                </a:lnSpc>
                <a:spcBef>
                  <a:spcPct val="0"/>
                </a:spcBef>
                <a:spcAft>
                  <a:spcPts val="0"/>
                </a:spcAft>
                <a:buClrTx/>
                <a:buSzTx/>
                <a:buFontTx/>
                <a:buNone/>
                <a:tabLst/>
                <a:defRPr/>
              </a:pPr>
              <a:r>
                <a:rPr kumimoji="0" lang="en-US" sz="3000" b="1" i="0" u="none" strike="noStrike" kern="1200" cap="none" spc="0" normalizeH="0" baseline="0" noProof="0">
                  <a:ln>
                    <a:noFill/>
                  </a:ln>
                  <a:solidFill>
                    <a:srgbClr val="2E4A62"/>
                  </a:solidFill>
                  <a:effectLst/>
                  <a:uLnTx/>
                  <a:uFillTx/>
                  <a:latin typeface="Bricolage Grotesque Bold"/>
                  <a:ea typeface="Bricolage Grotesque Bold"/>
                  <a:cs typeface="Bricolage Grotesque Bold"/>
                  <a:sym typeface="Bricolage Grotesque Bold"/>
                </a:rPr>
                <a:t>Executives</a:t>
              </a:r>
            </a:p>
          </p:txBody>
        </p:sp>
        <p:sp>
          <p:nvSpPr>
            <p:cNvPr id="26" name="TextBox 26"/>
            <p:cNvSpPr txBox="1"/>
            <p:nvPr/>
          </p:nvSpPr>
          <p:spPr>
            <a:xfrm>
              <a:off x="0" y="863600"/>
              <a:ext cx="6331641" cy="2195360"/>
            </a:xfrm>
            <a:prstGeom prst="rect">
              <a:avLst/>
            </a:prstGeom>
          </p:spPr>
          <p:txBody>
            <a:bodyPr lIns="0" tIns="0" rIns="0" bIns="0" rtlCol="0" anchor="t">
              <a:spAutoFit/>
            </a:bodyPr>
            <a:lstStyle/>
            <a:p>
              <a:pPr marL="0" marR="0" lvl="0" indent="0" algn="l" defTabSz="914400" rtl="0" eaLnBrk="1" fontAlgn="auto" latinLnBrk="0" hangingPunct="1">
                <a:lnSpc>
                  <a:spcPts val="2696"/>
                </a:lnSpc>
                <a:spcBef>
                  <a:spcPct val="0"/>
                </a:spcBef>
                <a:spcAft>
                  <a:spcPts val="0"/>
                </a:spcAft>
                <a:buClrTx/>
                <a:buSzTx/>
                <a:buFontTx/>
                <a:buNone/>
                <a:tabLst/>
                <a:defRPr/>
              </a:pP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Executives hold </a:t>
              </a:r>
              <a:r>
                <a:rPr kumimoji="0" lang="en-US" sz="1926" b="1" i="0" u="none" strike="noStrike" kern="1200" cap="none" spc="0" normalizeH="0" baseline="0" noProof="0">
                  <a:ln>
                    <a:noFill/>
                  </a:ln>
                  <a:solidFill>
                    <a:srgbClr val="2E4A62"/>
                  </a:solidFill>
                  <a:effectLst/>
                  <a:uLnTx/>
                  <a:uFillTx/>
                  <a:latin typeface="HK Grotesk Bold"/>
                  <a:ea typeface="HK Grotesk Bold"/>
                  <a:cs typeface="HK Grotesk Bold"/>
                  <a:sym typeface="HK Grotesk Bold"/>
                </a:rPr>
                <a:t>decision accountability</a:t>
              </a:r>
              <a:r>
                <a:rPr kumimoji="0" lang="en-US" sz="1926" b="0" i="0" u="none" strike="noStrike" kern="1200" cap="none" spc="0" normalizeH="0" baseline="0" noProof="0">
                  <a:ln>
                    <a:noFill/>
                  </a:ln>
                  <a:solidFill>
                    <a:srgbClr val="2E4A62"/>
                  </a:solidFill>
                  <a:effectLst/>
                  <a:uLnTx/>
                  <a:uFillTx/>
                  <a:latin typeface="HK Grotesk"/>
                  <a:ea typeface="HK Grotesk"/>
                  <a:cs typeface="HK Grotesk"/>
                  <a:sym typeface="HK Grotesk"/>
                </a:rPr>
                <a:t> for AI-related initiatives. Their leadership ensures that AI governance aligns with organizational goals and risk management strategies.</a:t>
              </a:r>
            </a:p>
          </p:txBody>
        </p:sp>
      </p:grpSp>
      <p:grpSp>
        <p:nvGrpSpPr>
          <p:cNvPr id="27" name="Group 27"/>
          <p:cNvGrpSpPr/>
          <p:nvPr/>
        </p:nvGrpSpPr>
        <p:grpSpPr>
          <a:xfrm rot="-10800000">
            <a:off x="-1034932" y="6996006"/>
            <a:ext cx="3403364" cy="4524588"/>
            <a:chOff x="0" y="0"/>
            <a:chExt cx="4537818" cy="6032784"/>
          </a:xfrm>
        </p:grpSpPr>
        <p:grpSp>
          <p:nvGrpSpPr>
            <p:cNvPr id="28" name="Group 28"/>
            <p:cNvGrpSpPr/>
            <p:nvPr/>
          </p:nvGrpSpPr>
          <p:grpSpPr>
            <a:xfrm rot="-2700000">
              <a:off x="-52688" y="3019154"/>
              <a:ext cx="4441804" cy="1690832"/>
              <a:chOff x="0" y="0"/>
              <a:chExt cx="882773" cy="336039"/>
            </a:xfrm>
          </p:grpSpPr>
          <p:sp>
            <p:nvSpPr>
              <p:cNvPr id="29" name="Freeform 29"/>
              <p:cNvSpPr/>
              <p:nvPr/>
            </p:nvSpPr>
            <p:spPr>
              <a:xfrm>
                <a:off x="0" y="0"/>
                <a:ext cx="882773" cy="336039"/>
              </a:xfrm>
              <a:custGeom>
                <a:avLst/>
                <a:gdLst/>
                <a:ahLst/>
                <a:cxnLst/>
                <a:rect l="l" t="t" r="r" b="b"/>
                <a:pathLst>
                  <a:path w="882773" h="336039">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000000">
                  <a:alpha val="0"/>
                </a:srgbClr>
              </a:solidFill>
              <a:ln w="19050" cap="sq">
                <a:solidFill>
                  <a:srgbClr val="2BCA8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Box 30"/>
              <p:cNvSpPr txBox="1"/>
              <p:nvPr/>
            </p:nvSpPr>
            <p:spPr>
              <a:xfrm>
                <a:off x="0" y="-19050"/>
                <a:ext cx="882773" cy="355089"/>
              </a:xfrm>
              <a:prstGeom prst="rect">
                <a:avLst/>
              </a:prstGeom>
            </p:spPr>
            <p:txBody>
              <a:bodyPr lIns="152526" tIns="152526" rIns="152526" bIns="152526" rtlCol="0" anchor="ctr"/>
              <a:lstStyle/>
              <a:p>
                <a:pPr marL="0" marR="0" lvl="0" indent="0" algn="ctr" defTabSz="914400" rtl="0" eaLnBrk="1" fontAlgn="auto" latinLnBrk="0" hangingPunct="1">
                  <a:lnSpc>
                    <a:spcPts val="1890"/>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1" name="Group 31"/>
            <p:cNvGrpSpPr/>
            <p:nvPr/>
          </p:nvGrpSpPr>
          <p:grpSpPr>
            <a:xfrm rot="-2700000">
              <a:off x="119378" y="1331636"/>
              <a:ext cx="4471480" cy="1702128"/>
              <a:chOff x="0" y="0"/>
              <a:chExt cx="882773" cy="336039"/>
            </a:xfrm>
          </p:grpSpPr>
          <p:sp>
            <p:nvSpPr>
              <p:cNvPr id="32" name="Freeform 32"/>
              <p:cNvSpPr/>
              <p:nvPr/>
            </p:nvSpPr>
            <p:spPr>
              <a:xfrm>
                <a:off x="0" y="0"/>
                <a:ext cx="882773" cy="336039"/>
              </a:xfrm>
              <a:custGeom>
                <a:avLst/>
                <a:gdLst/>
                <a:ahLst/>
                <a:cxnLst/>
                <a:rect l="l" t="t" r="r" b="b"/>
                <a:pathLst>
                  <a:path w="882773" h="336039">
                    <a:moveTo>
                      <a:pt x="679573" y="0"/>
                    </a:moveTo>
                    <a:cubicBezTo>
                      <a:pt x="791798" y="0"/>
                      <a:pt x="882773" y="75225"/>
                      <a:pt x="882773" y="168020"/>
                    </a:cubicBezTo>
                    <a:cubicBezTo>
                      <a:pt x="882773" y="260814"/>
                      <a:pt x="791798" y="336039"/>
                      <a:pt x="679573" y="336039"/>
                    </a:cubicBezTo>
                    <a:lnTo>
                      <a:pt x="203200" y="336039"/>
                    </a:lnTo>
                    <a:cubicBezTo>
                      <a:pt x="90976" y="336039"/>
                      <a:pt x="0" y="260814"/>
                      <a:pt x="0" y="168020"/>
                    </a:cubicBezTo>
                    <a:cubicBezTo>
                      <a:pt x="0" y="75225"/>
                      <a:pt x="90976" y="0"/>
                      <a:pt x="203200" y="0"/>
                    </a:cubicBezTo>
                    <a:close/>
                  </a:path>
                </a:pathLst>
              </a:custGeom>
              <a:solidFill>
                <a:srgbClr val="2E4A62"/>
              </a:solidFill>
              <a:ln cap="sq">
                <a:noFill/>
                <a:prstDash val="lg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Box 33"/>
              <p:cNvSpPr txBox="1"/>
              <p:nvPr/>
            </p:nvSpPr>
            <p:spPr>
              <a:xfrm>
                <a:off x="0" y="-28575"/>
                <a:ext cx="882773" cy="364614"/>
              </a:xfrm>
              <a:prstGeom prst="rect">
                <a:avLst/>
              </a:prstGeom>
            </p:spPr>
            <p:txBody>
              <a:bodyPr lIns="55712" tIns="55712" rIns="55712" bIns="55712" rtlCol="0" anchor="ctr"/>
              <a:lstStyle/>
              <a:p>
                <a:pPr marL="0" marR="0" lvl="0" indent="0" algn="ctr" defTabSz="914400" rtl="0" eaLnBrk="1" fontAlgn="auto" latinLnBrk="0" hangingPunct="1">
                  <a:lnSpc>
                    <a:spcPts val="1685"/>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C"/>
        </a:solidFill>
        <a:effectLst/>
      </p:bgPr>
    </p:bg>
    <p:spTree>
      <p:nvGrpSpPr>
        <p:cNvPr id="1" name=""/>
        <p:cNvGrpSpPr/>
        <p:nvPr/>
      </p:nvGrpSpPr>
      <p:grpSpPr>
        <a:xfrm>
          <a:off x="0" y="0"/>
          <a:ext cx="0" cy="0"/>
          <a:chOff x="0" y="0"/>
          <a:chExt cx="0" cy="0"/>
        </a:xfrm>
      </p:grpSpPr>
      <p:grpSp>
        <p:nvGrpSpPr>
          <p:cNvPr id="2" name="Group 2"/>
          <p:cNvGrpSpPr/>
          <p:nvPr/>
        </p:nvGrpSpPr>
        <p:grpSpPr>
          <a:xfrm>
            <a:off x="666750" y="6038850"/>
            <a:ext cx="2571750" cy="2913859"/>
            <a:chOff x="0" y="0"/>
            <a:chExt cx="3429000" cy="3885145"/>
          </a:xfrm>
        </p:grpSpPr>
        <p:sp>
          <p:nvSpPr>
            <p:cNvPr id="3" name="TextBox 3"/>
            <p:cNvSpPr txBox="1"/>
            <p:nvPr/>
          </p:nvSpPr>
          <p:spPr>
            <a:xfrm>
              <a:off x="0" y="1173057"/>
              <a:ext cx="3429000" cy="2712088"/>
            </a:xfrm>
            <a:prstGeom prst="rect">
              <a:avLst/>
            </a:prstGeom>
          </p:spPr>
          <p:txBody>
            <a:bodyPr lIns="0" tIns="0" rIns="0" bIns="0" rtlCol="0" anchor="t">
              <a:spAutoFit/>
            </a:bodyPr>
            <a:lstStyle/>
            <a:p>
              <a:pPr marL="0" marR="0" lvl="0" indent="0" algn="l" defTabSz="914400" rtl="0" eaLnBrk="1" fontAlgn="auto" latinLnBrk="0" hangingPunct="1">
                <a:lnSpc>
                  <a:spcPts val="2073"/>
                </a:lnSpc>
                <a:spcBef>
                  <a:spcPts val="0"/>
                </a:spcBef>
                <a:spcAft>
                  <a:spcPts val="0"/>
                </a:spcAft>
                <a:buClrTx/>
                <a:buSzTx/>
                <a:buFontTx/>
                <a:buNone/>
                <a:tabLst/>
                <a:defRPr/>
              </a:pPr>
              <a:r>
                <a:rPr kumimoji="0" lang="en-US" sz="1481" b="1" i="0" u="none" strike="noStrike" kern="1200" cap="none" spc="0" normalizeH="0" baseline="0" noProof="0">
                  <a:ln>
                    <a:noFill/>
                  </a:ln>
                  <a:solidFill>
                    <a:srgbClr val="0A2540"/>
                  </a:solidFill>
                  <a:effectLst/>
                  <a:uLnTx/>
                  <a:uFillTx/>
                  <a:latin typeface="TT Fors Bold"/>
                  <a:ea typeface="TT Fors Bold"/>
                  <a:cs typeface="TT Fors Bold"/>
                  <a:sym typeface="TT Fors Bold"/>
                </a:rPr>
                <a:t>Quarterly:</a:t>
              </a:r>
              <a:r>
                <a:rPr kumimoji="0" lang="en-US" sz="1481" b="0" i="0" u="none" strike="noStrike" kern="1200" cap="none" spc="0" normalizeH="0" baseline="0" noProof="0">
                  <a:ln>
                    <a:noFill/>
                  </a:ln>
                  <a:solidFill>
                    <a:srgbClr val="0A2540"/>
                  </a:solidFill>
                  <a:effectLst/>
                  <a:uLnTx/>
                  <a:uFillTx/>
                  <a:latin typeface="TT Fors"/>
                  <a:ea typeface="TT Fors"/>
                  <a:cs typeface="TT Fors"/>
                  <a:sym typeface="TT Fors"/>
                </a:rPr>
                <a:t> Incident response drills are essential to ensure preparedness and effectiveness in addressing potential security breaches, allowing teams to evaluate and enhance response strategies.</a:t>
              </a:r>
            </a:p>
          </p:txBody>
        </p:sp>
        <p:sp>
          <p:nvSpPr>
            <p:cNvPr id="4" name="TextBox 4"/>
            <p:cNvSpPr txBox="1"/>
            <p:nvPr/>
          </p:nvSpPr>
          <p:spPr>
            <a:xfrm>
              <a:off x="0" y="-66675"/>
              <a:ext cx="2199121" cy="714375"/>
            </a:xfrm>
            <a:prstGeom prst="rect">
              <a:avLst/>
            </a:prstGeom>
          </p:spPr>
          <p:txBody>
            <a:bodyPr lIns="0" tIns="0" rIns="0" bIns="0" rtlCol="0" anchor="t">
              <a:spAutoFit/>
            </a:bodyPr>
            <a:lstStyle/>
            <a:p>
              <a:pPr marL="0" marR="0" lvl="0" indent="0" algn="l" defTabSz="914400" rtl="0" eaLnBrk="1" fontAlgn="auto" latinLnBrk="0" hangingPunct="1">
                <a:lnSpc>
                  <a:spcPts val="3839"/>
                </a:lnSpc>
                <a:spcBef>
                  <a:spcPct val="0"/>
                </a:spcBef>
                <a:spcAft>
                  <a:spcPts val="0"/>
                </a:spcAft>
                <a:buClrTx/>
                <a:buSzTx/>
                <a:buFontTx/>
                <a:buNone/>
                <a:tabLst/>
                <a:defRPr/>
              </a:pPr>
              <a:r>
                <a:rPr kumimoji="0" lang="en-US" sz="3199" b="0" i="0" u="none" strike="noStrike" kern="1200" cap="none" spc="-95" normalizeH="0" baseline="0" noProof="0">
                  <a:ln>
                    <a:noFill/>
                  </a:ln>
                  <a:solidFill>
                    <a:srgbClr val="3F72AF"/>
                  </a:solidFill>
                  <a:effectLst/>
                  <a:uLnTx/>
                  <a:uFillTx/>
                  <a:latin typeface="ITC Avant Garde Gothic"/>
                  <a:ea typeface="ITC Avant Garde Gothic"/>
                  <a:cs typeface="ITC Avant Garde Gothic"/>
                  <a:sym typeface="ITC Avant Garde Gothic"/>
                </a:rPr>
                <a:t>01</a:t>
              </a:r>
            </a:p>
          </p:txBody>
        </p:sp>
      </p:grpSp>
      <p:grpSp>
        <p:nvGrpSpPr>
          <p:cNvPr id="5" name="Group 5"/>
          <p:cNvGrpSpPr/>
          <p:nvPr/>
        </p:nvGrpSpPr>
        <p:grpSpPr>
          <a:xfrm>
            <a:off x="4981575" y="6038850"/>
            <a:ext cx="2571750" cy="2656684"/>
            <a:chOff x="0" y="0"/>
            <a:chExt cx="3429000" cy="3542245"/>
          </a:xfrm>
        </p:grpSpPr>
        <p:sp>
          <p:nvSpPr>
            <p:cNvPr id="6" name="TextBox 6"/>
            <p:cNvSpPr txBox="1"/>
            <p:nvPr/>
          </p:nvSpPr>
          <p:spPr>
            <a:xfrm>
              <a:off x="0" y="1173057"/>
              <a:ext cx="3429000" cy="2369188"/>
            </a:xfrm>
            <a:prstGeom prst="rect">
              <a:avLst/>
            </a:prstGeom>
          </p:spPr>
          <p:txBody>
            <a:bodyPr lIns="0" tIns="0" rIns="0" bIns="0" rtlCol="0" anchor="t">
              <a:spAutoFit/>
            </a:bodyPr>
            <a:lstStyle/>
            <a:p>
              <a:pPr marL="0" marR="0" lvl="0" indent="0" algn="l" defTabSz="914400" rtl="0" eaLnBrk="1" fontAlgn="auto" latinLnBrk="0" hangingPunct="1">
                <a:lnSpc>
                  <a:spcPts val="2073"/>
                </a:lnSpc>
                <a:spcBef>
                  <a:spcPts val="0"/>
                </a:spcBef>
                <a:spcAft>
                  <a:spcPts val="0"/>
                </a:spcAft>
                <a:buClrTx/>
                <a:buSzTx/>
                <a:buFontTx/>
                <a:buNone/>
                <a:tabLst/>
                <a:defRPr/>
              </a:pPr>
              <a:r>
                <a:rPr kumimoji="0" lang="en-US" sz="1481" b="1" i="0" u="none" strike="noStrike" kern="1200" cap="none" spc="0" normalizeH="0" baseline="0" noProof="0">
                  <a:ln>
                    <a:noFill/>
                  </a:ln>
                  <a:solidFill>
                    <a:srgbClr val="0A2540"/>
                  </a:solidFill>
                  <a:effectLst/>
                  <a:uLnTx/>
                  <a:uFillTx/>
                  <a:latin typeface="TT Fors Bold"/>
                  <a:ea typeface="TT Fors Bold"/>
                  <a:cs typeface="TT Fors Bold"/>
                  <a:sym typeface="TT Fors Bold"/>
                </a:rPr>
                <a:t>Monthly:</a:t>
              </a:r>
              <a:r>
                <a:rPr kumimoji="0" lang="en-US" sz="1481" b="0" i="0" u="none" strike="noStrike" kern="1200" cap="none" spc="0" normalizeH="0" baseline="0" noProof="0">
                  <a:ln>
                    <a:noFill/>
                  </a:ln>
                  <a:solidFill>
                    <a:srgbClr val="0A2540"/>
                  </a:solidFill>
                  <a:effectLst/>
                  <a:uLnTx/>
                  <a:uFillTx/>
                  <a:latin typeface="TT Fors"/>
                  <a:ea typeface="TT Fors"/>
                  <a:cs typeface="TT Fors"/>
                  <a:sym typeface="TT Fors"/>
                </a:rPr>
                <a:t> Prompt library reviews help maintain the quality and relevance of prompts used in AI systems, ensuring continuous improvement and alignment with security requirements.</a:t>
              </a:r>
            </a:p>
          </p:txBody>
        </p:sp>
        <p:sp>
          <p:nvSpPr>
            <p:cNvPr id="7" name="TextBox 7"/>
            <p:cNvSpPr txBox="1"/>
            <p:nvPr/>
          </p:nvSpPr>
          <p:spPr>
            <a:xfrm>
              <a:off x="0" y="-66675"/>
              <a:ext cx="2199121" cy="714375"/>
            </a:xfrm>
            <a:prstGeom prst="rect">
              <a:avLst/>
            </a:prstGeom>
          </p:spPr>
          <p:txBody>
            <a:bodyPr lIns="0" tIns="0" rIns="0" bIns="0" rtlCol="0" anchor="t">
              <a:spAutoFit/>
            </a:bodyPr>
            <a:lstStyle/>
            <a:p>
              <a:pPr marL="0" marR="0" lvl="0" indent="0" algn="l" defTabSz="914400" rtl="0" eaLnBrk="1" fontAlgn="auto" latinLnBrk="0" hangingPunct="1">
                <a:lnSpc>
                  <a:spcPts val="3839"/>
                </a:lnSpc>
                <a:spcBef>
                  <a:spcPct val="0"/>
                </a:spcBef>
                <a:spcAft>
                  <a:spcPts val="0"/>
                </a:spcAft>
                <a:buClrTx/>
                <a:buSzTx/>
                <a:buFontTx/>
                <a:buNone/>
                <a:tabLst/>
                <a:defRPr/>
              </a:pPr>
              <a:r>
                <a:rPr kumimoji="0" lang="en-US" sz="3199" b="0" i="0" u="none" strike="noStrike" kern="1200" cap="none" spc="-95" normalizeH="0" baseline="0" noProof="0">
                  <a:ln>
                    <a:noFill/>
                  </a:ln>
                  <a:solidFill>
                    <a:srgbClr val="3F72AF"/>
                  </a:solidFill>
                  <a:effectLst/>
                  <a:uLnTx/>
                  <a:uFillTx/>
                  <a:latin typeface="ITC Avant Garde Gothic"/>
                  <a:ea typeface="ITC Avant Garde Gothic"/>
                  <a:cs typeface="ITC Avant Garde Gothic"/>
                  <a:sym typeface="ITC Avant Garde Gothic"/>
                </a:rPr>
                <a:t>02</a:t>
              </a:r>
            </a:p>
          </p:txBody>
        </p:sp>
      </p:grpSp>
      <p:grpSp>
        <p:nvGrpSpPr>
          <p:cNvPr id="8" name="Group 8"/>
          <p:cNvGrpSpPr/>
          <p:nvPr/>
        </p:nvGrpSpPr>
        <p:grpSpPr>
          <a:xfrm>
            <a:off x="9296400" y="6038850"/>
            <a:ext cx="2571750" cy="2913859"/>
            <a:chOff x="0" y="0"/>
            <a:chExt cx="3429000" cy="3885145"/>
          </a:xfrm>
        </p:grpSpPr>
        <p:sp>
          <p:nvSpPr>
            <p:cNvPr id="9" name="TextBox 9"/>
            <p:cNvSpPr txBox="1"/>
            <p:nvPr/>
          </p:nvSpPr>
          <p:spPr>
            <a:xfrm>
              <a:off x="0" y="1173057"/>
              <a:ext cx="3429000" cy="2712088"/>
            </a:xfrm>
            <a:prstGeom prst="rect">
              <a:avLst/>
            </a:prstGeom>
          </p:spPr>
          <p:txBody>
            <a:bodyPr lIns="0" tIns="0" rIns="0" bIns="0" rtlCol="0" anchor="t">
              <a:spAutoFit/>
            </a:bodyPr>
            <a:lstStyle/>
            <a:p>
              <a:pPr marL="0" marR="0" lvl="0" indent="0" algn="l" defTabSz="914400" rtl="0" eaLnBrk="1" fontAlgn="auto" latinLnBrk="0" hangingPunct="1">
                <a:lnSpc>
                  <a:spcPts val="2073"/>
                </a:lnSpc>
                <a:spcBef>
                  <a:spcPts val="0"/>
                </a:spcBef>
                <a:spcAft>
                  <a:spcPts val="0"/>
                </a:spcAft>
                <a:buClrTx/>
                <a:buSzTx/>
                <a:buFontTx/>
                <a:buNone/>
                <a:tabLst/>
                <a:defRPr/>
              </a:pPr>
              <a:r>
                <a:rPr kumimoji="0" lang="en-US" sz="1481" b="1" i="0" u="none" strike="noStrike" kern="1200" cap="none" spc="0" normalizeH="0" baseline="0" noProof="0">
                  <a:ln>
                    <a:noFill/>
                  </a:ln>
                  <a:solidFill>
                    <a:srgbClr val="0A2540"/>
                  </a:solidFill>
                  <a:effectLst/>
                  <a:uLnTx/>
                  <a:uFillTx/>
                  <a:latin typeface="TT Fors Bold"/>
                  <a:ea typeface="TT Fors Bold"/>
                  <a:cs typeface="TT Fors Bold"/>
                  <a:sym typeface="TT Fors Bold"/>
                </a:rPr>
                <a:t>Annually:</a:t>
              </a:r>
              <a:r>
                <a:rPr kumimoji="0" lang="en-US" sz="1481" b="0" i="0" u="none" strike="noStrike" kern="1200" cap="none" spc="0" normalizeH="0" baseline="0" noProof="0">
                  <a:ln>
                    <a:noFill/>
                  </a:ln>
                  <a:solidFill>
                    <a:srgbClr val="0A2540"/>
                  </a:solidFill>
                  <a:effectLst/>
                  <a:uLnTx/>
                  <a:uFillTx/>
                  <a:latin typeface="TT Fors"/>
                  <a:ea typeface="TT Fors"/>
                  <a:cs typeface="TT Fors"/>
                  <a:sym typeface="TT Fors"/>
                </a:rPr>
                <a:t> Vendor audits and compliance checks are critical for assessing third-party relationships, verifying adherence to security standards, and mitigating risks associated with external partnerships.</a:t>
              </a:r>
            </a:p>
          </p:txBody>
        </p:sp>
        <p:sp>
          <p:nvSpPr>
            <p:cNvPr id="10" name="TextBox 10"/>
            <p:cNvSpPr txBox="1"/>
            <p:nvPr/>
          </p:nvSpPr>
          <p:spPr>
            <a:xfrm>
              <a:off x="0" y="-66675"/>
              <a:ext cx="2199121" cy="714375"/>
            </a:xfrm>
            <a:prstGeom prst="rect">
              <a:avLst/>
            </a:prstGeom>
          </p:spPr>
          <p:txBody>
            <a:bodyPr lIns="0" tIns="0" rIns="0" bIns="0" rtlCol="0" anchor="t">
              <a:spAutoFit/>
            </a:bodyPr>
            <a:lstStyle/>
            <a:p>
              <a:pPr marL="0" marR="0" lvl="0" indent="0" algn="l" defTabSz="914400" rtl="0" eaLnBrk="1" fontAlgn="auto" latinLnBrk="0" hangingPunct="1">
                <a:lnSpc>
                  <a:spcPts val="3839"/>
                </a:lnSpc>
                <a:spcBef>
                  <a:spcPct val="0"/>
                </a:spcBef>
                <a:spcAft>
                  <a:spcPts val="0"/>
                </a:spcAft>
                <a:buClrTx/>
                <a:buSzTx/>
                <a:buFontTx/>
                <a:buNone/>
                <a:tabLst/>
                <a:defRPr/>
              </a:pPr>
              <a:r>
                <a:rPr kumimoji="0" lang="en-US" sz="3199" b="0" i="0" u="none" strike="noStrike" kern="1200" cap="none" spc="-95" normalizeH="0" baseline="0" noProof="0">
                  <a:ln>
                    <a:noFill/>
                  </a:ln>
                  <a:solidFill>
                    <a:srgbClr val="3F72AF"/>
                  </a:solidFill>
                  <a:effectLst/>
                  <a:uLnTx/>
                  <a:uFillTx/>
                  <a:latin typeface="ITC Avant Garde Gothic"/>
                  <a:ea typeface="ITC Avant Garde Gothic"/>
                  <a:cs typeface="ITC Avant Garde Gothic"/>
                  <a:sym typeface="ITC Avant Garde Gothic"/>
                </a:rPr>
                <a:t>03</a:t>
              </a:r>
            </a:p>
          </p:txBody>
        </p:sp>
      </p:grpSp>
      <p:grpSp>
        <p:nvGrpSpPr>
          <p:cNvPr id="11" name="Group 11"/>
          <p:cNvGrpSpPr/>
          <p:nvPr/>
        </p:nvGrpSpPr>
        <p:grpSpPr>
          <a:xfrm>
            <a:off x="13611225" y="6038850"/>
            <a:ext cx="2571750" cy="3171034"/>
            <a:chOff x="0" y="0"/>
            <a:chExt cx="3429000" cy="4228045"/>
          </a:xfrm>
        </p:grpSpPr>
        <p:sp>
          <p:nvSpPr>
            <p:cNvPr id="12" name="TextBox 12"/>
            <p:cNvSpPr txBox="1"/>
            <p:nvPr/>
          </p:nvSpPr>
          <p:spPr>
            <a:xfrm>
              <a:off x="0" y="1173057"/>
              <a:ext cx="3429000" cy="3054988"/>
            </a:xfrm>
            <a:prstGeom prst="rect">
              <a:avLst/>
            </a:prstGeom>
          </p:spPr>
          <p:txBody>
            <a:bodyPr lIns="0" tIns="0" rIns="0" bIns="0" rtlCol="0" anchor="t">
              <a:spAutoFit/>
            </a:bodyPr>
            <a:lstStyle/>
            <a:p>
              <a:pPr marL="0" marR="0" lvl="0" indent="0" algn="l" defTabSz="914400" rtl="0" eaLnBrk="1" fontAlgn="auto" latinLnBrk="0" hangingPunct="1">
                <a:lnSpc>
                  <a:spcPts val="2073"/>
                </a:lnSpc>
                <a:spcBef>
                  <a:spcPts val="0"/>
                </a:spcBef>
                <a:spcAft>
                  <a:spcPts val="0"/>
                </a:spcAft>
                <a:buClrTx/>
                <a:buSzTx/>
                <a:buFontTx/>
                <a:buNone/>
                <a:tabLst/>
                <a:defRPr/>
              </a:pPr>
              <a:r>
                <a:rPr kumimoji="0" lang="en-US" sz="1481" b="1" i="0" u="none" strike="noStrike" kern="1200" cap="none" spc="0" normalizeH="0" baseline="0" noProof="0">
                  <a:ln>
                    <a:noFill/>
                  </a:ln>
                  <a:solidFill>
                    <a:srgbClr val="0A2540"/>
                  </a:solidFill>
                  <a:effectLst/>
                  <a:uLnTx/>
                  <a:uFillTx/>
                  <a:latin typeface="TT Fors Bold"/>
                  <a:ea typeface="TT Fors Bold"/>
                  <a:cs typeface="TT Fors Bold"/>
                  <a:sym typeface="TT Fors Bold"/>
                </a:rPr>
                <a:t>Continuous:</a:t>
              </a:r>
              <a:r>
                <a:rPr kumimoji="0" lang="en-US" sz="1481" b="0" i="0" u="none" strike="noStrike" kern="1200" cap="none" spc="0" normalizeH="0" baseline="0" noProof="0">
                  <a:ln>
                    <a:noFill/>
                  </a:ln>
                  <a:solidFill>
                    <a:srgbClr val="0A2540"/>
                  </a:solidFill>
                  <a:effectLst/>
                  <a:uLnTx/>
                  <a:uFillTx/>
                  <a:latin typeface="TT Fors"/>
                  <a:ea typeface="TT Fors"/>
                  <a:cs typeface="TT Fors"/>
                  <a:sym typeface="TT Fors"/>
                </a:rPr>
                <a:t> Access monitoring and red-teaming activities provide ongoing assessment of security postures, identifying vulnerabilities and strengthening defenses against potential threats in real-time.</a:t>
              </a:r>
            </a:p>
          </p:txBody>
        </p:sp>
        <p:sp>
          <p:nvSpPr>
            <p:cNvPr id="13" name="TextBox 13"/>
            <p:cNvSpPr txBox="1"/>
            <p:nvPr/>
          </p:nvSpPr>
          <p:spPr>
            <a:xfrm>
              <a:off x="0" y="-66675"/>
              <a:ext cx="2199121" cy="714375"/>
            </a:xfrm>
            <a:prstGeom prst="rect">
              <a:avLst/>
            </a:prstGeom>
          </p:spPr>
          <p:txBody>
            <a:bodyPr lIns="0" tIns="0" rIns="0" bIns="0" rtlCol="0" anchor="t">
              <a:spAutoFit/>
            </a:bodyPr>
            <a:lstStyle/>
            <a:p>
              <a:pPr marL="0" marR="0" lvl="0" indent="0" algn="l" defTabSz="914400" rtl="0" eaLnBrk="1" fontAlgn="auto" latinLnBrk="0" hangingPunct="1">
                <a:lnSpc>
                  <a:spcPts val="3839"/>
                </a:lnSpc>
                <a:spcBef>
                  <a:spcPct val="0"/>
                </a:spcBef>
                <a:spcAft>
                  <a:spcPts val="0"/>
                </a:spcAft>
                <a:buClrTx/>
                <a:buSzTx/>
                <a:buFontTx/>
                <a:buNone/>
                <a:tabLst/>
                <a:defRPr/>
              </a:pPr>
              <a:r>
                <a:rPr kumimoji="0" lang="en-US" sz="3199" b="0" i="0" u="none" strike="noStrike" kern="1200" cap="none" spc="-95" normalizeH="0" baseline="0" noProof="0">
                  <a:ln>
                    <a:noFill/>
                  </a:ln>
                  <a:solidFill>
                    <a:srgbClr val="3F72AF"/>
                  </a:solidFill>
                  <a:effectLst/>
                  <a:uLnTx/>
                  <a:uFillTx/>
                  <a:latin typeface="ITC Avant Garde Gothic"/>
                  <a:ea typeface="ITC Avant Garde Gothic"/>
                  <a:cs typeface="ITC Avant Garde Gothic"/>
                  <a:sym typeface="ITC Avant Garde Gothic"/>
                </a:rPr>
                <a:t>04</a:t>
              </a:r>
            </a:p>
          </p:txBody>
        </p:sp>
      </p:grpSp>
      <p:sp>
        <p:nvSpPr>
          <p:cNvPr id="14" name="TextBox 14"/>
          <p:cNvSpPr txBox="1"/>
          <p:nvPr/>
        </p:nvSpPr>
        <p:spPr>
          <a:xfrm>
            <a:off x="666750" y="657225"/>
            <a:ext cx="14077950" cy="2232026"/>
          </a:xfrm>
          <a:prstGeom prst="rect">
            <a:avLst/>
          </a:prstGeom>
        </p:spPr>
        <p:txBody>
          <a:bodyPr lIns="0" tIns="0" rIns="0" bIns="0" rtlCol="0" anchor="t">
            <a:spAutoFit/>
          </a:bodyPr>
          <a:lstStyle/>
          <a:p>
            <a:pPr marL="0" marR="0" lvl="0" indent="0" algn="l" defTabSz="914400" rtl="0" eaLnBrk="1" fontAlgn="auto" latinLnBrk="0" hangingPunct="1">
              <a:lnSpc>
                <a:spcPts val="8000"/>
              </a:lnSpc>
              <a:spcBef>
                <a:spcPct val="0"/>
              </a:spcBef>
              <a:spcAft>
                <a:spcPts val="0"/>
              </a:spcAft>
              <a:buClrTx/>
              <a:buSzTx/>
              <a:buFontTx/>
              <a:buNone/>
              <a:tabLst/>
              <a:defRPr/>
            </a:pPr>
            <a:r>
              <a:rPr kumimoji="0" lang="en-US" sz="8000" b="0" i="0" u="none" strike="noStrike" kern="1200" cap="none" spc="-240" normalizeH="0" baseline="0" noProof="0">
                <a:ln>
                  <a:noFill/>
                </a:ln>
                <a:solidFill>
                  <a:srgbClr val="0A2540"/>
                </a:solidFill>
                <a:effectLst/>
                <a:uLnTx/>
                <a:uFillTx/>
                <a:latin typeface="ITC Avant Garde Gothic"/>
                <a:ea typeface="ITC Avant Garde Gothic"/>
                <a:cs typeface="ITC Avant Garde Gothic"/>
                <a:sym typeface="ITC Avant Garde Gothic"/>
              </a:rPr>
              <a:t>Metrics &amp; Cadence for AI Security in Robotics</a:t>
            </a:r>
          </a:p>
        </p:txBody>
      </p:sp>
      <p:grpSp>
        <p:nvGrpSpPr>
          <p:cNvPr id="15" name="Group 15"/>
          <p:cNvGrpSpPr/>
          <p:nvPr/>
        </p:nvGrpSpPr>
        <p:grpSpPr>
          <a:xfrm>
            <a:off x="666750" y="5143500"/>
            <a:ext cx="819630" cy="446049"/>
            <a:chOff x="0" y="0"/>
            <a:chExt cx="1092839" cy="594732"/>
          </a:xfrm>
        </p:grpSpPr>
        <p:grpSp>
          <p:nvGrpSpPr>
            <p:cNvPr id="16" name="Group 16"/>
            <p:cNvGrpSpPr/>
            <p:nvPr/>
          </p:nvGrpSpPr>
          <p:grpSpPr>
            <a:xfrm>
              <a:off x="498108" y="0"/>
              <a:ext cx="594732" cy="59473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p:cNvGrpSpPr/>
            <p:nvPr/>
          </p:nvGrpSpPr>
          <p:grpSpPr>
            <a:xfrm>
              <a:off x="0" y="0"/>
              <a:ext cx="594732" cy="59473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2" name="Group 22"/>
          <p:cNvGrpSpPr/>
          <p:nvPr/>
        </p:nvGrpSpPr>
        <p:grpSpPr>
          <a:xfrm>
            <a:off x="4981575" y="5143500"/>
            <a:ext cx="819630" cy="446049"/>
            <a:chOff x="0" y="0"/>
            <a:chExt cx="1092839" cy="594732"/>
          </a:xfrm>
        </p:grpSpPr>
        <p:grpSp>
          <p:nvGrpSpPr>
            <p:cNvPr id="23" name="Group 23"/>
            <p:cNvGrpSpPr/>
            <p:nvPr/>
          </p:nvGrpSpPr>
          <p:grpSpPr>
            <a:xfrm>
              <a:off x="498108" y="0"/>
              <a:ext cx="594732" cy="59473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p:cNvGrpSpPr/>
            <p:nvPr/>
          </p:nvGrpSpPr>
          <p:grpSpPr>
            <a:xfrm>
              <a:off x="0" y="0"/>
              <a:ext cx="594732" cy="59473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Box 28"/>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9" name="Group 29"/>
          <p:cNvGrpSpPr/>
          <p:nvPr/>
        </p:nvGrpSpPr>
        <p:grpSpPr>
          <a:xfrm>
            <a:off x="9296400" y="5143500"/>
            <a:ext cx="819630" cy="446049"/>
            <a:chOff x="0" y="0"/>
            <a:chExt cx="1092839" cy="594732"/>
          </a:xfrm>
        </p:grpSpPr>
        <p:grpSp>
          <p:nvGrpSpPr>
            <p:cNvPr id="30" name="Group 30"/>
            <p:cNvGrpSpPr/>
            <p:nvPr/>
          </p:nvGrpSpPr>
          <p:grpSpPr>
            <a:xfrm>
              <a:off x="498108" y="0"/>
              <a:ext cx="594732" cy="594732"/>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2"/>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3" name="Group 33"/>
            <p:cNvGrpSpPr/>
            <p:nvPr/>
          </p:nvGrpSpPr>
          <p:grpSpPr>
            <a:xfrm>
              <a:off x="0" y="0"/>
              <a:ext cx="594732" cy="594732"/>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Box 35"/>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36" name="Group 36"/>
          <p:cNvGrpSpPr/>
          <p:nvPr/>
        </p:nvGrpSpPr>
        <p:grpSpPr>
          <a:xfrm>
            <a:off x="13611705" y="5143500"/>
            <a:ext cx="819630" cy="446049"/>
            <a:chOff x="0" y="0"/>
            <a:chExt cx="1092839" cy="594732"/>
          </a:xfrm>
        </p:grpSpPr>
        <p:grpSp>
          <p:nvGrpSpPr>
            <p:cNvPr id="37" name="Group 37"/>
            <p:cNvGrpSpPr/>
            <p:nvPr/>
          </p:nvGrpSpPr>
          <p:grpSpPr>
            <a:xfrm>
              <a:off x="498108" y="0"/>
              <a:ext cx="594732" cy="594732"/>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Box 39"/>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0" name="Group 40"/>
            <p:cNvGrpSpPr/>
            <p:nvPr/>
          </p:nvGrpSpPr>
          <p:grpSpPr>
            <a:xfrm>
              <a:off x="0" y="0"/>
              <a:ext cx="594732" cy="594732"/>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D67AE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Box 42"/>
              <p:cNvSpPr txBox="1"/>
              <p:nvPr/>
            </p:nvSpPr>
            <p:spPr>
              <a:xfrm>
                <a:off x="76200" y="57150"/>
                <a:ext cx="660400" cy="679450"/>
              </a:xfrm>
              <a:prstGeom prst="rect">
                <a:avLst/>
              </a:prstGeom>
            </p:spPr>
            <p:txBody>
              <a:bodyPr lIns="50800" tIns="50800" rIns="50800" bIns="50800" rtlCol="0" anchor="ctr"/>
              <a:lstStyle/>
              <a:p>
                <a:pPr marL="0" marR="0" lvl="0" indent="0" algn="ctr" defTabSz="914400" rtl="0" eaLnBrk="1" fontAlgn="auto" latinLnBrk="0" hangingPunct="1">
                  <a:lnSpc>
                    <a:spcPts val="2073"/>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69AA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4816593" cy="69485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AutoShape 5"/>
          <p:cNvSpPr/>
          <p:nvPr/>
        </p:nvSpPr>
        <p:spPr>
          <a:xfrm>
            <a:off x="666750" y="5143500"/>
            <a:ext cx="16954500" cy="0"/>
          </a:xfrm>
          <a:prstGeom prst="line">
            <a:avLst/>
          </a:prstGeom>
          <a:ln w="9525" cap="flat">
            <a:solidFill>
              <a:srgbClr val="34495E"/>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 name="Group 6"/>
          <p:cNvGrpSpPr/>
          <p:nvPr/>
        </p:nvGrpSpPr>
        <p:grpSpPr>
          <a:xfrm>
            <a:off x="666750" y="5008305"/>
            <a:ext cx="270390" cy="27039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495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 name="Group 9"/>
          <p:cNvGrpSpPr/>
          <p:nvPr/>
        </p:nvGrpSpPr>
        <p:grpSpPr>
          <a:xfrm>
            <a:off x="4262897" y="5008305"/>
            <a:ext cx="270390" cy="27039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495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2" name="TextBox 12"/>
          <p:cNvSpPr txBox="1"/>
          <p:nvPr/>
        </p:nvSpPr>
        <p:spPr>
          <a:xfrm>
            <a:off x="857250" y="3457431"/>
            <a:ext cx="2876550" cy="786765"/>
          </a:xfrm>
          <a:prstGeom prst="rect">
            <a:avLst/>
          </a:prstGeom>
        </p:spPr>
        <p:txBody>
          <a:bodyPr lIns="0" tIns="0" rIns="0" bIns="0" rtlCol="0" anchor="t">
            <a:spAutoFit/>
          </a:bodyPr>
          <a:lstStyle/>
          <a:p>
            <a:pPr marL="0" marR="0" lvl="0" indent="0" algn="l" defTabSz="914400" rtl="0" eaLnBrk="1" fontAlgn="auto" latinLnBrk="0" hangingPunct="1">
              <a:lnSpc>
                <a:spcPts val="2970"/>
              </a:lnSpc>
              <a:spcBef>
                <a:spcPts val="0"/>
              </a:spcBef>
              <a:spcAft>
                <a:spcPts val="0"/>
              </a:spcAft>
              <a:buClrTx/>
              <a:buSzTx/>
              <a:buFontTx/>
              <a:buNone/>
              <a:tabLst/>
              <a:defRPr/>
            </a:pPr>
            <a:r>
              <a:rPr kumimoji="0" lang="en-US" sz="2700" b="1" i="0" u="none" strike="noStrike" kern="1200" cap="none" spc="-27" normalizeH="0" baseline="0" noProof="0" dirty="0">
                <a:ln>
                  <a:noFill/>
                </a:ln>
                <a:solidFill>
                  <a:srgbClr val="7ED6DF"/>
                </a:solidFill>
                <a:effectLst/>
                <a:uLnTx/>
                <a:uFillTx/>
                <a:latin typeface="Telegraf Bold"/>
                <a:ea typeface="Telegraf Bold"/>
                <a:cs typeface="Telegraf Bold"/>
                <a:sym typeface="Telegraf Bold"/>
              </a:rPr>
              <a:t>30 Days: Prompt Hardening</a:t>
            </a:r>
          </a:p>
        </p:txBody>
      </p:sp>
      <p:sp>
        <p:nvSpPr>
          <p:cNvPr id="13" name="TextBox 13"/>
          <p:cNvSpPr txBox="1"/>
          <p:nvPr/>
        </p:nvSpPr>
        <p:spPr>
          <a:xfrm>
            <a:off x="666750" y="5957734"/>
            <a:ext cx="2571750" cy="143510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34495E"/>
                </a:solidFill>
                <a:effectLst/>
                <a:uLnTx/>
                <a:uFillTx/>
                <a:latin typeface="Telegraf"/>
                <a:ea typeface="Telegraf"/>
                <a:cs typeface="Telegraf"/>
                <a:sym typeface="Telegraf"/>
              </a:rPr>
              <a:t>Establishing consistent prompt responses as a key foundation.</a:t>
            </a:r>
          </a:p>
        </p:txBody>
      </p:sp>
      <p:sp>
        <p:nvSpPr>
          <p:cNvPr id="14" name="TextBox 14"/>
          <p:cNvSpPr txBox="1"/>
          <p:nvPr/>
        </p:nvSpPr>
        <p:spPr>
          <a:xfrm>
            <a:off x="4262897" y="5957734"/>
            <a:ext cx="2571750" cy="143510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34495E"/>
                </a:solidFill>
                <a:effectLst/>
                <a:uLnTx/>
                <a:uFillTx/>
                <a:latin typeface="Telegraf"/>
                <a:ea typeface="Telegraf"/>
                <a:cs typeface="Telegraf"/>
                <a:sym typeface="Telegraf"/>
              </a:rPr>
              <a:t>Compiling and evaluating essential data for informed decisions.</a:t>
            </a:r>
          </a:p>
        </p:txBody>
      </p:sp>
      <p:sp>
        <p:nvSpPr>
          <p:cNvPr id="15" name="TextBox 15"/>
          <p:cNvSpPr txBox="1"/>
          <p:nvPr/>
        </p:nvSpPr>
        <p:spPr>
          <a:xfrm>
            <a:off x="4453397" y="3457431"/>
            <a:ext cx="2567447" cy="786765"/>
          </a:xfrm>
          <a:prstGeom prst="rect">
            <a:avLst/>
          </a:prstGeom>
        </p:spPr>
        <p:txBody>
          <a:bodyPr lIns="0" tIns="0" rIns="0" bIns="0" rtlCol="0" anchor="t">
            <a:spAutoFit/>
          </a:bodyPr>
          <a:lstStyle/>
          <a:p>
            <a:pPr marL="0" marR="0" lvl="0" indent="0" algn="l" defTabSz="914400" rtl="0" eaLnBrk="1" fontAlgn="auto" latinLnBrk="0" hangingPunct="1">
              <a:lnSpc>
                <a:spcPts val="2970"/>
              </a:lnSpc>
              <a:spcBef>
                <a:spcPct val="0"/>
              </a:spcBef>
              <a:spcAft>
                <a:spcPts val="0"/>
              </a:spcAft>
              <a:buClrTx/>
              <a:buSzTx/>
              <a:buFontTx/>
              <a:buNone/>
              <a:tabLst/>
              <a:defRPr/>
            </a:pPr>
            <a:r>
              <a:rPr kumimoji="0" lang="en-US" sz="2700" b="1" i="0" u="none" strike="noStrike" kern="1200" cap="none" spc="-27" normalizeH="0" baseline="0" noProof="0">
                <a:ln>
                  <a:noFill/>
                </a:ln>
                <a:solidFill>
                  <a:srgbClr val="7ED6DF"/>
                </a:solidFill>
                <a:effectLst/>
                <a:uLnTx/>
                <a:uFillTx/>
                <a:latin typeface="Telegraf Bold"/>
                <a:ea typeface="Telegraf Bold"/>
                <a:cs typeface="Telegraf Bold"/>
                <a:sym typeface="Telegraf Bold"/>
              </a:rPr>
              <a:t>30 Days: Initial Data Inventory</a:t>
            </a:r>
          </a:p>
        </p:txBody>
      </p:sp>
      <p:sp>
        <p:nvSpPr>
          <p:cNvPr id="16" name="TextBox 16"/>
          <p:cNvSpPr txBox="1"/>
          <p:nvPr/>
        </p:nvSpPr>
        <p:spPr>
          <a:xfrm>
            <a:off x="8049545" y="3457431"/>
            <a:ext cx="2570830" cy="786765"/>
          </a:xfrm>
          <a:prstGeom prst="rect">
            <a:avLst/>
          </a:prstGeom>
        </p:spPr>
        <p:txBody>
          <a:bodyPr lIns="0" tIns="0" rIns="0" bIns="0" rtlCol="0" anchor="t">
            <a:spAutoFit/>
          </a:bodyPr>
          <a:lstStyle/>
          <a:p>
            <a:pPr marL="0" marR="0" lvl="0" indent="0" algn="l" defTabSz="914400" rtl="0" eaLnBrk="1" fontAlgn="auto" latinLnBrk="0" hangingPunct="1">
              <a:lnSpc>
                <a:spcPts val="2970"/>
              </a:lnSpc>
              <a:spcBef>
                <a:spcPct val="0"/>
              </a:spcBef>
              <a:spcAft>
                <a:spcPts val="0"/>
              </a:spcAft>
              <a:buClrTx/>
              <a:buSzTx/>
              <a:buFontTx/>
              <a:buNone/>
              <a:tabLst/>
              <a:defRPr/>
            </a:pPr>
            <a:r>
              <a:rPr kumimoji="0" lang="en-US" sz="2700" b="1" i="0" u="none" strike="noStrike" kern="1200" cap="none" spc="-27" normalizeH="0" baseline="0" noProof="0" dirty="0">
                <a:ln>
                  <a:noFill/>
                </a:ln>
                <a:solidFill>
                  <a:srgbClr val="7ED6DF"/>
                </a:solidFill>
                <a:effectLst/>
                <a:uLnTx/>
                <a:uFillTx/>
                <a:latin typeface="Telegraf Bold"/>
                <a:ea typeface="Telegraf Bold"/>
                <a:cs typeface="Telegraf Bold"/>
                <a:sym typeface="Telegraf Bold"/>
              </a:rPr>
              <a:t>60 Days: Conduct DPIAs</a:t>
            </a:r>
          </a:p>
        </p:txBody>
      </p:sp>
      <p:sp>
        <p:nvSpPr>
          <p:cNvPr id="17" name="TextBox 17"/>
          <p:cNvSpPr txBox="1"/>
          <p:nvPr/>
        </p:nvSpPr>
        <p:spPr>
          <a:xfrm>
            <a:off x="11677651" y="3459659"/>
            <a:ext cx="2876549" cy="769441"/>
          </a:xfrm>
          <a:prstGeom prst="rect">
            <a:avLst/>
          </a:prstGeom>
        </p:spPr>
        <p:txBody>
          <a:bodyPr wrap="square" lIns="0" tIns="0" rIns="0" bIns="0" rtlCol="0" anchor="t">
            <a:spAutoFit/>
          </a:bodyPr>
          <a:lstStyle/>
          <a:p>
            <a:pPr marL="0" marR="0" lvl="0" indent="0" algn="l" defTabSz="914400" rtl="0" eaLnBrk="1" fontAlgn="auto" latinLnBrk="0" hangingPunct="1">
              <a:lnSpc>
                <a:spcPts val="2970"/>
              </a:lnSpc>
              <a:spcBef>
                <a:spcPct val="0"/>
              </a:spcBef>
              <a:spcAft>
                <a:spcPts val="0"/>
              </a:spcAft>
              <a:buClrTx/>
              <a:buSzTx/>
              <a:buFontTx/>
              <a:buNone/>
              <a:tabLst/>
              <a:defRPr/>
            </a:pPr>
            <a:r>
              <a:rPr kumimoji="0" lang="en-US" sz="2700" b="1" i="0" u="none" strike="noStrike" kern="1200" cap="none" spc="-27" normalizeH="0" baseline="0" noProof="0" dirty="0">
                <a:ln>
                  <a:noFill/>
                </a:ln>
                <a:solidFill>
                  <a:srgbClr val="7ED6DF"/>
                </a:solidFill>
                <a:effectLst/>
                <a:uLnTx/>
                <a:uFillTx/>
                <a:latin typeface="Telegraf Bold"/>
                <a:ea typeface="Telegraf Bold"/>
                <a:cs typeface="Telegraf Bold"/>
                <a:sym typeface="Telegraf Bold"/>
              </a:rPr>
              <a:t>90 Days: AI Governance Board</a:t>
            </a:r>
          </a:p>
        </p:txBody>
      </p:sp>
      <p:sp>
        <p:nvSpPr>
          <p:cNvPr id="18" name="TextBox 18"/>
          <p:cNvSpPr txBox="1"/>
          <p:nvPr/>
        </p:nvSpPr>
        <p:spPr>
          <a:xfrm>
            <a:off x="15241887" y="3451860"/>
            <a:ext cx="2569863" cy="1158240"/>
          </a:xfrm>
          <a:prstGeom prst="rect">
            <a:avLst/>
          </a:prstGeom>
        </p:spPr>
        <p:txBody>
          <a:bodyPr lIns="0" tIns="0" rIns="0" bIns="0" rtlCol="0" anchor="t">
            <a:spAutoFit/>
          </a:bodyPr>
          <a:lstStyle/>
          <a:p>
            <a:pPr marL="0" marR="0" lvl="0" indent="0" algn="l" defTabSz="914400" rtl="0" eaLnBrk="1" fontAlgn="auto" latinLnBrk="0" hangingPunct="1">
              <a:lnSpc>
                <a:spcPts val="2970"/>
              </a:lnSpc>
              <a:spcBef>
                <a:spcPct val="0"/>
              </a:spcBef>
              <a:spcAft>
                <a:spcPts val="0"/>
              </a:spcAft>
              <a:buClrTx/>
              <a:buSzTx/>
              <a:buFontTx/>
              <a:buNone/>
              <a:tabLst/>
              <a:defRPr/>
            </a:pPr>
            <a:r>
              <a:rPr kumimoji="0" lang="en-US" sz="2700" b="1" i="0" u="none" strike="noStrike" kern="1200" cap="none" spc="-27" normalizeH="0" baseline="0" noProof="0" dirty="0">
                <a:ln>
                  <a:noFill/>
                </a:ln>
                <a:solidFill>
                  <a:srgbClr val="7ED6DF"/>
                </a:solidFill>
                <a:effectLst/>
                <a:uLnTx/>
                <a:uFillTx/>
                <a:latin typeface="Telegraf Bold"/>
                <a:ea typeface="Telegraf Bold"/>
                <a:cs typeface="Telegraf Bold"/>
                <a:sym typeface="Telegraf Bold"/>
              </a:rPr>
              <a:t>90 Days: Integrate NIST RMF</a:t>
            </a:r>
          </a:p>
        </p:txBody>
      </p:sp>
      <p:sp>
        <p:nvSpPr>
          <p:cNvPr id="19" name="TextBox 19"/>
          <p:cNvSpPr txBox="1"/>
          <p:nvPr/>
        </p:nvSpPr>
        <p:spPr>
          <a:xfrm>
            <a:off x="666750" y="657225"/>
            <a:ext cx="16954500" cy="1049258"/>
          </a:xfrm>
          <a:prstGeom prst="rect">
            <a:avLst/>
          </a:prstGeom>
        </p:spPr>
        <p:txBody>
          <a:bodyPr lIns="0" tIns="0" rIns="0" bIns="0" rtlCol="0" anchor="t">
            <a:spAutoFit/>
          </a:bodyPr>
          <a:lstStyle/>
          <a:p>
            <a:pPr marL="0" marR="0" lvl="0" indent="0" algn="ctr" defTabSz="914400" rtl="0" eaLnBrk="1" fontAlgn="auto" latinLnBrk="0" hangingPunct="1">
              <a:lnSpc>
                <a:spcPts val="7555"/>
              </a:lnSpc>
              <a:spcBef>
                <a:spcPts val="0"/>
              </a:spcBef>
              <a:spcAft>
                <a:spcPts val="0"/>
              </a:spcAft>
              <a:buClrTx/>
              <a:buSzTx/>
              <a:buFontTx/>
              <a:buNone/>
              <a:tabLst/>
              <a:defRPr/>
            </a:pPr>
            <a:r>
              <a:rPr kumimoji="0" lang="en-US" sz="6868" b="1" i="0" u="none" strike="noStrike" kern="1200" cap="none" spc="-68" normalizeH="0" baseline="0" noProof="0">
                <a:ln>
                  <a:noFill/>
                </a:ln>
                <a:solidFill>
                  <a:srgbClr val="34495E"/>
                </a:solidFill>
                <a:effectLst/>
                <a:uLnTx/>
                <a:uFillTx/>
                <a:latin typeface="Telegraf Bold"/>
                <a:ea typeface="Telegraf Bold"/>
                <a:cs typeface="Telegraf Bold"/>
                <a:sym typeface="Telegraf Bold"/>
              </a:rPr>
              <a:t>30/60/90 Day Roadmap for Robotics AI</a:t>
            </a:r>
          </a:p>
        </p:txBody>
      </p:sp>
      <p:grpSp>
        <p:nvGrpSpPr>
          <p:cNvPr id="20" name="Group 20"/>
          <p:cNvGrpSpPr/>
          <p:nvPr/>
        </p:nvGrpSpPr>
        <p:grpSpPr>
          <a:xfrm>
            <a:off x="7859045" y="5008305"/>
            <a:ext cx="270390" cy="27039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495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p:cNvGrpSpPr/>
          <p:nvPr/>
        </p:nvGrpSpPr>
        <p:grpSpPr>
          <a:xfrm>
            <a:off x="11455192" y="5008305"/>
            <a:ext cx="270390" cy="270390"/>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495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p:cNvGrpSpPr/>
          <p:nvPr/>
        </p:nvGrpSpPr>
        <p:grpSpPr>
          <a:xfrm>
            <a:off x="15051340" y="5008305"/>
            <a:ext cx="270390" cy="270390"/>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495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Box 28"/>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9" name="TextBox 29"/>
          <p:cNvSpPr txBox="1"/>
          <p:nvPr/>
        </p:nvSpPr>
        <p:spPr>
          <a:xfrm>
            <a:off x="7859045" y="5957734"/>
            <a:ext cx="2571750" cy="143510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34495E"/>
                </a:solidFill>
                <a:effectLst/>
                <a:uLnTx/>
                <a:uFillTx/>
                <a:latin typeface="Telegraf"/>
                <a:ea typeface="Telegraf"/>
                <a:cs typeface="Telegraf"/>
                <a:sym typeface="Telegraf"/>
              </a:rPr>
              <a:t>Assessing risks associated with robotics workflows for compliance.</a:t>
            </a:r>
          </a:p>
        </p:txBody>
      </p:sp>
      <p:sp>
        <p:nvSpPr>
          <p:cNvPr id="30" name="TextBox 30"/>
          <p:cNvSpPr txBox="1"/>
          <p:nvPr/>
        </p:nvSpPr>
        <p:spPr>
          <a:xfrm>
            <a:off x="11455192" y="5957734"/>
            <a:ext cx="2571750" cy="143510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34495E"/>
                </a:solidFill>
                <a:effectLst/>
                <a:uLnTx/>
                <a:uFillTx/>
                <a:latin typeface="Telegraf"/>
                <a:ea typeface="Telegraf"/>
                <a:cs typeface="Telegraf"/>
                <a:sym typeface="Telegraf"/>
              </a:rPr>
              <a:t>Forming a board to oversee AI governance and ethics.</a:t>
            </a:r>
          </a:p>
        </p:txBody>
      </p:sp>
      <p:sp>
        <p:nvSpPr>
          <p:cNvPr id="31" name="TextBox 31"/>
          <p:cNvSpPr txBox="1"/>
          <p:nvPr/>
        </p:nvSpPr>
        <p:spPr>
          <a:xfrm>
            <a:off x="15051340" y="5957734"/>
            <a:ext cx="2571750" cy="1435100"/>
          </a:xfrm>
          <a:prstGeom prst="rect">
            <a:avLst/>
          </a:prstGeom>
        </p:spPr>
        <p:txBody>
          <a:bodyPr lIns="0" tIns="0" rIns="0" bIns="0" rtlCol="0" anchor="t">
            <a:sp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000" b="0" i="0" u="none" strike="noStrike" kern="1200" cap="none" spc="-20" normalizeH="0" baseline="0" noProof="0">
                <a:ln>
                  <a:noFill/>
                </a:ln>
                <a:solidFill>
                  <a:srgbClr val="34495E"/>
                </a:solidFill>
                <a:effectLst/>
                <a:uLnTx/>
                <a:uFillTx/>
                <a:latin typeface="Telegraf"/>
                <a:ea typeface="Telegraf"/>
                <a:cs typeface="Telegraf"/>
                <a:sym typeface="Telegraf"/>
              </a:rPr>
              <a:t>Implementing risk management practices for AI development.</a:t>
            </a:r>
          </a:p>
        </p:txBody>
      </p:sp>
      <p:sp>
        <p:nvSpPr>
          <p:cNvPr id="32" name="AutoShape 32"/>
          <p:cNvSpPr/>
          <p:nvPr/>
        </p:nvSpPr>
        <p:spPr>
          <a:xfrm>
            <a:off x="666750" y="9620250"/>
            <a:ext cx="16954500" cy="0"/>
          </a:xfrm>
          <a:prstGeom prst="line">
            <a:avLst/>
          </a:prstGeom>
          <a:ln w="9525" cap="flat">
            <a:solidFill>
              <a:srgbClr val="34495E"/>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Box 33"/>
          <p:cNvSpPr txBox="1"/>
          <p:nvPr/>
        </p:nvSpPr>
        <p:spPr>
          <a:xfrm>
            <a:off x="666750" y="9676455"/>
            <a:ext cx="2571750" cy="217170"/>
          </a:xfrm>
          <a:prstGeom prst="rect">
            <a:avLst/>
          </a:prstGeom>
        </p:spPr>
        <p:txBody>
          <a:bodyPr lIns="0" tIns="0" rIns="0" bIns="0" rtlCol="0" anchor="t">
            <a:spAutoFit/>
          </a:bodyPr>
          <a:lstStyle/>
          <a:p>
            <a:pPr marL="0" marR="0" lvl="0" indent="0" algn="l" defTabSz="914400" rtl="0" eaLnBrk="1" fontAlgn="auto" latinLnBrk="0" hangingPunct="1">
              <a:lnSpc>
                <a:spcPts val="1679"/>
              </a:lnSpc>
              <a:spcBef>
                <a:spcPct val="0"/>
              </a:spcBef>
              <a:spcAft>
                <a:spcPts val="0"/>
              </a:spcAft>
              <a:buClrTx/>
              <a:buSzTx/>
              <a:buFontTx/>
              <a:buNone/>
              <a:tabLst/>
              <a:defRPr/>
            </a:pPr>
            <a:r>
              <a:rPr kumimoji="0" lang="en-US" sz="1200" b="1" i="0" u="none" strike="noStrike" kern="1200" cap="none" spc="-12" normalizeH="0" baseline="0" noProof="0">
                <a:ln>
                  <a:noFill/>
                </a:ln>
                <a:solidFill>
                  <a:srgbClr val="34495E"/>
                </a:solidFill>
                <a:effectLst/>
                <a:uLnTx/>
                <a:uFillTx/>
                <a:latin typeface="Telegraf Bold"/>
                <a:ea typeface="Telegraf Bold"/>
                <a:cs typeface="Telegraf Bold"/>
                <a:sym typeface="Telegraf Bold"/>
              </a:rPr>
              <a:t>ROBOTICS AI PLAN</a:t>
            </a:r>
          </a:p>
        </p:txBody>
      </p:sp>
      <p:sp>
        <p:nvSpPr>
          <p:cNvPr id="34" name="TextBox 34"/>
          <p:cNvSpPr txBox="1"/>
          <p:nvPr/>
        </p:nvSpPr>
        <p:spPr>
          <a:xfrm>
            <a:off x="17526744" y="9676442"/>
            <a:ext cx="152400" cy="190500"/>
          </a:xfrm>
          <a:prstGeom prst="rect">
            <a:avLst/>
          </a:prstGeom>
        </p:spPr>
        <p:txBody>
          <a:bodyPr wrap="none" lIns="0" tIns="0" rIns="0" bIns="0" rtlCol="0" anchor="t">
            <a:spAutoFit/>
          </a:bodyPr>
          <a:lstStyle/>
          <a:p>
            <a:pPr marL="0" marR="0" lvl="0" indent="0" algn="r" defTabSz="914400" rtl="0" eaLnBrk="1" fontAlgn="auto" latinLnBrk="0" hangingPunct="1">
              <a:lnSpc>
                <a:spcPts val="1679"/>
              </a:lnSpc>
              <a:spcBef>
                <a:spcPct val="0"/>
              </a:spcBef>
              <a:spcAft>
                <a:spcPts val="0"/>
              </a:spcAft>
              <a:buClrTx/>
              <a:buSzTx/>
              <a:buFontTx/>
              <a:buNone/>
              <a:tabLst/>
              <a:defRPr/>
            </a:pPr>
            <a:r>
              <a:rPr kumimoji="0" lang="en-US" sz="1200" b="1" i="0" u="none" strike="noStrike" kern="1200" cap="none" spc="0" normalizeH="0" baseline="0" noProof="0">
                <a:ln>
                  <a:noFill/>
                </a:ln>
                <a:solidFill>
                  <a:srgbClr val="34495E"/>
                </a:solidFill>
                <a:effectLst/>
                <a:uLnTx/>
                <a:uFillTx/>
                <a:latin typeface="Telegraf Bold"/>
                <a:ea typeface="Telegraf Bold"/>
                <a:cs typeface="Telegraf Bold"/>
                <a:sym typeface="Telegraf Bold"/>
              </a:rPr>
              <a:t>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E2D"/>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8324850" cy="2172410"/>
            <a:chOff x="0" y="0"/>
            <a:chExt cx="2192553" cy="572157"/>
          </a:xfrm>
        </p:grpSpPr>
        <p:sp>
          <p:nvSpPr>
            <p:cNvPr id="3" name="Freeform 3"/>
            <p:cNvSpPr/>
            <p:nvPr/>
          </p:nvSpPr>
          <p:spPr>
            <a:xfrm>
              <a:off x="0" y="0"/>
              <a:ext cx="2192553" cy="572157"/>
            </a:xfrm>
            <a:custGeom>
              <a:avLst/>
              <a:gdLst/>
              <a:ahLst/>
              <a:cxnLst/>
              <a:rect l="l" t="t" r="r" b="b"/>
              <a:pathLst>
                <a:path w="2192553" h="572157">
                  <a:moveTo>
                    <a:pt x="13950" y="0"/>
                  </a:moveTo>
                  <a:lnTo>
                    <a:pt x="2178603" y="0"/>
                  </a:lnTo>
                  <a:cubicBezTo>
                    <a:pt x="2186308" y="0"/>
                    <a:pt x="2192553" y="6245"/>
                    <a:pt x="2192553" y="13950"/>
                  </a:cubicBezTo>
                  <a:lnTo>
                    <a:pt x="2192553" y="558208"/>
                  </a:lnTo>
                  <a:cubicBezTo>
                    <a:pt x="2192553" y="561907"/>
                    <a:pt x="2191084" y="565456"/>
                    <a:pt x="2188467" y="568072"/>
                  </a:cubicBezTo>
                  <a:cubicBezTo>
                    <a:pt x="2185851" y="570688"/>
                    <a:pt x="2182303" y="572157"/>
                    <a:pt x="2178603" y="572157"/>
                  </a:cubicBezTo>
                  <a:lnTo>
                    <a:pt x="13950" y="572157"/>
                  </a:lnTo>
                  <a:cubicBezTo>
                    <a:pt x="6245" y="572157"/>
                    <a:pt x="0" y="565912"/>
                    <a:pt x="0" y="558208"/>
                  </a:cubicBezTo>
                  <a:lnTo>
                    <a:pt x="0" y="13950"/>
                  </a:lnTo>
                  <a:cubicBezTo>
                    <a:pt x="0" y="6245"/>
                    <a:pt x="6245" y="0"/>
                    <a:pt x="13950" y="0"/>
                  </a:cubicBezTo>
                  <a:close/>
                </a:path>
              </a:pathLst>
            </a:custGeom>
            <a:solidFill>
              <a:srgbClr val="88A1B8"/>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28575"/>
              <a:ext cx="2192553" cy="600732"/>
            </a:xfrm>
            <a:prstGeom prst="rect">
              <a:avLst/>
            </a:prstGeom>
          </p:spPr>
          <p:txBody>
            <a:bodyPr lIns="50800" tIns="50800" rIns="50800" bIns="50800" rtlCol="0" anchor="ctr"/>
            <a:lstStyle/>
            <a:p>
              <a:pPr marL="0" marR="0" lvl="0" indent="0" algn="l" defTabSz="914400" rtl="0" eaLnBrk="1" fontAlgn="auto" latinLnBrk="0" hangingPunct="1">
                <a:lnSpc>
                  <a:spcPts val="2546"/>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p:cNvGrpSpPr/>
          <p:nvPr/>
        </p:nvGrpSpPr>
        <p:grpSpPr>
          <a:xfrm>
            <a:off x="9296400" y="2457450"/>
            <a:ext cx="8324850" cy="2172410"/>
            <a:chOff x="0" y="0"/>
            <a:chExt cx="2192553" cy="572157"/>
          </a:xfrm>
        </p:grpSpPr>
        <p:sp>
          <p:nvSpPr>
            <p:cNvPr id="6" name="Freeform 6"/>
            <p:cNvSpPr/>
            <p:nvPr/>
          </p:nvSpPr>
          <p:spPr>
            <a:xfrm>
              <a:off x="0" y="0"/>
              <a:ext cx="2192553" cy="572157"/>
            </a:xfrm>
            <a:custGeom>
              <a:avLst/>
              <a:gdLst/>
              <a:ahLst/>
              <a:cxnLst/>
              <a:rect l="l" t="t" r="r" b="b"/>
              <a:pathLst>
                <a:path w="2192553" h="572157">
                  <a:moveTo>
                    <a:pt x="13950" y="0"/>
                  </a:moveTo>
                  <a:lnTo>
                    <a:pt x="2178603" y="0"/>
                  </a:lnTo>
                  <a:cubicBezTo>
                    <a:pt x="2186308" y="0"/>
                    <a:pt x="2192553" y="6245"/>
                    <a:pt x="2192553" y="13950"/>
                  </a:cubicBezTo>
                  <a:lnTo>
                    <a:pt x="2192553" y="558208"/>
                  </a:lnTo>
                  <a:cubicBezTo>
                    <a:pt x="2192553" y="561907"/>
                    <a:pt x="2191084" y="565456"/>
                    <a:pt x="2188467" y="568072"/>
                  </a:cubicBezTo>
                  <a:cubicBezTo>
                    <a:pt x="2185851" y="570688"/>
                    <a:pt x="2182303" y="572157"/>
                    <a:pt x="2178603" y="572157"/>
                  </a:cubicBezTo>
                  <a:lnTo>
                    <a:pt x="13950" y="572157"/>
                  </a:lnTo>
                  <a:cubicBezTo>
                    <a:pt x="6245" y="572157"/>
                    <a:pt x="0" y="565912"/>
                    <a:pt x="0" y="558208"/>
                  </a:cubicBezTo>
                  <a:lnTo>
                    <a:pt x="0" y="13950"/>
                  </a:lnTo>
                  <a:cubicBezTo>
                    <a:pt x="0" y="6245"/>
                    <a:pt x="6245" y="0"/>
                    <a:pt x="13950" y="0"/>
                  </a:cubicBezTo>
                  <a:close/>
                </a:path>
              </a:pathLst>
            </a:custGeom>
            <a:solidFill>
              <a:srgbClr val="88A1B8"/>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0" y="-28575"/>
              <a:ext cx="2192553" cy="600732"/>
            </a:xfrm>
            <a:prstGeom prst="rect">
              <a:avLst/>
            </a:prstGeom>
          </p:spPr>
          <p:txBody>
            <a:bodyPr lIns="50800" tIns="50800" rIns="50800" bIns="50800" rtlCol="0" anchor="ctr"/>
            <a:lstStyle/>
            <a:p>
              <a:pPr marL="0" marR="0" lvl="0" indent="0" algn="l" defTabSz="914400" rtl="0" eaLnBrk="1" fontAlgn="auto" latinLnBrk="0" hangingPunct="1">
                <a:lnSpc>
                  <a:spcPts val="2546"/>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666750" y="4952645"/>
            <a:ext cx="8324850" cy="2172410"/>
            <a:chOff x="0" y="0"/>
            <a:chExt cx="2192553" cy="572157"/>
          </a:xfrm>
        </p:grpSpPr>
        <p:sp>
          <p:nvSpPr>
            <p:cNvPr id="9" name="Freeform 9"/>
            <p:cNvSpPr/>
            <p:nvPr/>
          </p:nvSpPr>
          <p:spPr>
            <a:xfrm>
              <a:off x="0" y="0"/>
              <a:ext cx="2192553" cy="572157"/>
            </a:xfrm>
            <a:custGeom>
              <a:avLst/>
              <a:gdLst/>
              <a:ahLst/>
              <a:cxnLst/>
              <a:rect l="l" t="t" r="r" b="b"/>
              <a:pathLst>
                <a:path w="2192553" h="572157">
                  <a:moveTo>
                    <a:pt x="13950" y="0"/>
                  </a:moveTo>
                  <a:lnTo>
                    <a:pt x="2178603" y="0"/>
                  </a:lnTo>
                  <a:cubicBezTo>
                    <a:pt x="2186308" y="0"/>
                    <a:pt x="2192553" y="6245"/>
                    <a:pt x="2192553" y="13950"/>
                  </a:cubicBezTo>
                  <a:lnTo>
                    <a:pt x="2192553" y="558208"/>
                  </a:lnTo>
                  <a:cubicBezTo>
                    <a:pt x="2192553" y="561907"/>
                    <a:pt x="2191084" y="565456"/>
                    <a:pt x="2188467" y="568072"/>
                  </a:cubicBezTo>
                  <a:cubicBezTo>
                    <a:pt x="2185851" y="570688"/>
                    <a:pt x="2182303" y="572157"/>
                    <a:pt x="2178603" y="572157"/>
                  </a:cubicBezTo>
                  <a:lnTo>
                    <a:pt x="13950" y="572157"/>
                  </a:lnTo>
                  <a:cubicBezTo>
                    <a:pt x="6245" y="572157"/>
                    <a:pt x="0" y="565912"/>
                    <a:pt x="0" y="558208"/>
                  </a:cubicBezTo>
                  <a:lnTo>
                    <a:pt x="0" y="13950"/>
                  </a:lnTo>
                  <a:cubicBezTo>
                    <a:pt x="0" y="6245"/>
                    <a:pt x="6245" y="0"/>
                    <a:pt x="13950" y="0"/>
                  </a:cubicBezTo>
                  <a:close/>
                </a:path>
              </a:pathLst>
            </a:custGeom>
            <a:solidFill>
              <a:srgbClr val="88A1B8"/>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p:cNvSpPr txBox="1"/>
            <p:nvPr/>
          </p:nvSpPr>
          <p:spPr>
            <a:xfrm>
              <a:off x="0" y="-28575"/>
              <a:ext cx="2192553" cy="600732"/>
            </a:xfrm>
            <a:prstGeom prst="rect">
              <a:avLst/>
            </a:prstGeom>
          </p:spPr>
          <p:txBody>
            <a:bodyPr lIns="50800" tIns="50800" rIns="50800" bIns="50800" rtlCol="0" anchor="ctr"/>
            <a:lstStyle/>
            <a:p>
              <a:pPr marL="0" marR="0" lvl="0" indent="0" algn="l" defTabSz="914400" rtl="0" eaLnBrk="1" fontAlgn="auto" latinLnBrk="0" hangingPunct="1">
                <a:lnSpc>
                  <a:spcPts val="2546"/>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p:cNvGrpSpPr/>
          <p:nvPr/>
        </p:nvGrpSpPr>
        <p:grpSpPr>
          <a:xfrm>
            <a:off x="2105025" y="2817120"/>
            <a:ext cx="5972891" cy="1033690"/>
            <a:chOff x="0" y="0"/>
            <a:chExt cx="7963855" cy="1378253"/>
          </a:xfrm>
        </p:grpSpPr>
        <p:sp>
          <p:nvSpPr>
            <p:cNvPr id="12" name="TextBox 12"/>
            <p:cNvSpPr txBox="1"/>
            <p:nvPr/>
          </p:nvSpPr>
          <p:spPr>
            <a:xfrm>
              <a:off x="0" y="-47625"/>
              <a:ext cx="7963855" cy="547449"/>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GOVERNANCE AND COMPLIANCE</a:t>
              </a:r>
            </a:p>
          </p:txBody>
        </p:sp>
        <p:sp>
          <p:nvSpPr>
            <p:cNvPr id="13" name="TextBox 13"/>
            <p:cNvSpPr txBox="1"/>
            <p:nvPr/>
          </p:nvSpPr>
          <p:spPr>
            <a:xfrm>
              <a:off x="0" y="573085"/>
              <a:ext cx="7963855" cy="805168"/>
            </a:xfrm>
            <a:prstGeom prst="rect">
              <a:avLst/>
            </a:prstGeom>
          </p:spPr>
          <p:txBody>
            <a:bodyPr lIns="0" tIns="0" rIns="0" bIns="0" rtlCol="0" anchor="t">
              <a:spAutoFit/>
            </a:bodyPr>
            <a:lstStyle/>
            <a:p>
              <a:pPr marL="0" marR="0" lvl="0" indent="0" algn="l" defTabSz="914400" rtl="0" eaLnBrk="1" fontAlgn="auto" latinLnBrk="0" hangingPunct="1">
                <a:lnSpc>
                  <a:spcPts val="2546"/>
                </a:lnSpc>
                <a:spcBef>
                  <a:spcPts val="0"/>
                </a:spcBef>
                <a:spcAft>
                  <a:spcPts val="0"/>
                </a:spcAft>
                <a:buClrTx/>
                <a:buSzTx/>
                <a:buFontTx/>
                <a:buNone/>
                <a:tabLst/>
                <a:defRPr/>
              </a:pPr>
              <a:r>
                <a:rPr kumimoji="0" lang="en-US" sz="1819" b="0" i="0" u="none" strike="noStrike" kern="1200" cap="none" spc="0" normalizeH="0" baseline="0" noProof="0">
                  <a:ln>
                    <a:noFill/>
                  </a:ln>
                  <a:solidFill>
                    <a:srgbClr val="0B1E2D"/>
                  </a:solidFill>
                  <a:effectLst/>
                  <a:uLnTx/>
                  <a:uFillTx/>
                  <a:latin typeface="Touvlo"/>
                  <a:ea typeface="Touvlo"/>
                  <a:cs typeface="Touvlo"/>
                  <a:sym typeface="Touvlo"/>
                </a:rPr>
                <a:t>Essential for scaling robotics AI, ensuring alignment with industry standards and regulations.</a:t>
              </a:r>
            </a:p>
          </p:txBody>
        </p:sp>
      </p:grpSp>
      <p:sp>
        <p:nvSpPr>
          <p:cNvPr id="14" name="TextBox 14"/>
          <p:cNvSpPr txBox="1"/>
          <p:nvPr/>
        </p:nvSpPr>
        <p:spPr>
          <a:xfrm>
            <a:off x="977556" y="2769495"/>
            <a:ext cx="822669" cy="422493"/>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01</a:t>
            </a:r>
          </a:p>
        </p:txBody>
      </p:sp>
      <p:grpSp>
        <p:nvGrpSpPr>
          <p:cNvPr id="15" name="Group 15"/>
          <p:cNvGrpSpPr/>
          <p:nvPr/>
        </p:nvGrpSpPr>
        <p:grpSpPr>
          <a:xfrm>
            <a:off x="10734675" y="2817120"/>
            <a:ext cx="5972891" cy="1348015"/>
            <a:chOff x="0" y="0"/>
            <a:chExt cx="7963855" cy="1797353"/>
          </a:xfrm>
        </p:grpSpPr>
        <p:sp>
          <p:nvSpPr>
            <p:cNvPr id="16" name="TextBox 16"/>
            <p:cNvSpPr txBox="1"/>
            <p:nvPr/>
          </p:nvSpPr>
          <p:spPr>
            <a:xfrm>
              <a:off x="0" y="-47625"/>
              <a:ext cx="7963855" cy="547449"/>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GDPR AND NIST INTEGRATION</a:t>
              </a:r>
            </a:p>
          </p:txBody>
        </p:sp>
        <p:sp>
          <p:nvSpPr>
            <p:cNvPr id="17" name="TextBox 17"/>
            <p:cNvSpPr txBox="1"/>
            <p:nvPr/>
          </p:nvSpPr>
          <p:spPr>
            <a:xfrm>
              <a:off x="0" y="573085"/>
              <a:ext cx="7963855" cy="1224268"/>
            </a:xfrm>
            <a:prstGeom prst="rect">
              <a:avLst/>
            </a:prstGeom>
          </p:spPr>
          <p:txBody>
            <a:bodyPr lIns="0" tIns="0" rIns="0" bIns="0" rtlCol="0" anchor="t">
              <a:spAutoFit/>
            </a:bodyPr>
            <a:lstStyle/>
            <a:p>
              <a:pPr marL="0" marR="0" lvl="0" indent="0" algn="l" defTabSz="914400" rtl="0" eaLnBrk="1" fontAlgn="auto" latinLnBrk="0" hangingPunct="1">
                <a:lnSpc>
                  <a:spcPts val="2546"/>
                </a:lnSpc>
                <a:spcBef>
                  <a:spcPts val="0"/>
                </a:spcBef>
                <a:spcAft>
                  <a:spcPts val="0"/>
                </a:spcAft>
                <a:buClrTx/>
                <a:buSzTx/>
                <a:buFontTx/>
                <a:buNone/>
                <a:tabLst/>
                <a:defRPr/>
              </a:pPr>
              <a:r>
                <a:rPr kumimoji="0" lang="en-US" sz="1819" b="0" i="0" u="none" strike="noStrike" kern="1200" cap="none" spc="0" normalizeH="0" baseline="0" noProof="0">
                  <a:ln>
                    <a:noFill/>
                  </a:ln>
                  <a:solidFill>
                    <a:srgbClr val="0B1E2D"/>
                  </a:solidFill>
                  <a:effectLst/>
                  <a:uLnTx/>
                  <a:uFillTx/>
                  <a:latin typeface="Touvlo"/>
                  <a:ea typeface="Touvlo"/>
                  <a:cs typeface="Touvlo"/>
                  <a:sym typeface="Touvlo"/>
                </a:rPr>
                <a:t>Combining GDPR obligations with NIST risk controls strengthens data protection and enhances compliance.</a:t>
              </a:r>
            </a:p>
          </p:txBody>
        </p:sp>
      </p:grpSp>
      <p:sp>
        <p:nvSpPr>
          <p:cNvPr id="18" name="TextBox 18"/>
          <p:cNvSpPr txBox="1"/>
          <p:nvPr/>
        </p:nvSpPr>
        <p:spPr>
          <a:xfrm>
            <a:off x="9607206" y="2769495"/>
            <a:ext cx="822669" cy="422493"/>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02</a:t>
            </a:r>
          </a:p>
        </p:txBody>
      </p:sp>
      <p:grpSp>
        <p:nvGrpSpPr>
          <p:cNvPr id="19" name="Group 19"/>
          <p:cNvGrpSpPr/>
          <p:nvPr/>
        </p:nvGrpSpPr>
        <p:grpSpPr>
          <a:xfrm>
            <a:off x="2057400" y="5276596"/>
            <a:ext cx="6020515" cy="1771904"/>
            <a:chOff x="-63500" y="-47625"/>
            <a:chExt cx="8027355" cy="2362538"/>
          </a:xfrm>
        </p:grpSpPr>
        <p:sp>
          <p:nvSpPr>
            <p:cNvPr id="20" name="TextBox 20"/>
            <p:cNvSpPr txBox="1"/>
            <p:nvPr/>
          </p:nvSpPr>
          <p:spPr>
            <a:xfrm>
              <a:off x="0" y="-47625"/>
              <a:ext cx="7963855" cy="547449"/>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dirty="0">
                  <a:ln>
                    <a:noFill/>
                  </a:ln>
                  <a:solidFill>
                    <a:srgbClr val="2E4A6F"/>
                  </a:solidFill>
                  <a:effectLst/>
                  <a:uLnTx/>
                  <a:uFillTx/>
                  <a:latin typeface="Proxima Nova Condensed Bold"/>
                  <a:ea typeface="Proxima Nova Condensed Bold"/>
                  <a:cs typeface="Proxima Nova Condensed Bold"/>
                  <a:sym typeface="Proxima Nova Condensed Bold"/>
                </a:rPr>
                <a:t>FOUNDATION FOR TRUSTWORTHY INNOVATION</a:t>
              </a:r>
            </a:p>
          </p:txBody>
        </p:sp>
        <p:sp>
          <p:nvSpPr>
            <p:cNvPr id="21" name="TextBox 21"/>
            <p:cNvSpPr txBox="1"/>
            <p:nvPr/>
          </p:nvSpPr>
          <p:spPr>
            <a:xfrm>
              <a:off x="-63500" y="1090645"/>
              <a:ext cx="7963855" cy="1224268"/>
            </a:xfrm>
            <a:prstGeom prst="rect">
              <a:avLst/>
            </a:prstGeom>
          </p:spPr>
          <p:txBody>
            <a:bodyPr lIns="0" tIns="0" rIns="0" bIns="0" rtlCol="0" anchor="t">
              <a:spAutoFit/>
            </a:bodyPr>
            <a:lstStyle/>
            <a:p>
              <a:pPr marL="0" marR="0" lvl="0" indent="0" algn="l" defTabSz="914400" rtl="0" eaLnBrk="1" fontAlgn="auto" latinLnBrk="0" hangingPunct="1">
                <a:lnSpc>
                  <a:spcPts val="2546"/>
                </a:lnSpc>
                <a:spcBef>
                  <a:spcPts val="0"/>
                </a:spcBef>
                <a:spcAft>
                  <a:spcPts val="0"/>
                </a:spcAft>
                <a:buClrTx/>
                <a:buSzTx/>
                <a:buFontTx/>
                <a:buNone/>
                <a:tabLst/>
                <a:defRPr/>
              </a:pPr>
              <a:r>
                <a:rPr kumimoji="0" lang="en-US" sz="1819" b="0" i="0" u="none" strike="noStrike" kern="1200" cap="none" spc="0" normalizeH="0" baseline="0" noProof="0" dirty="0">
                  <a:ln>
                    <a:noFill/>
                  </a:ln>
                  <a:solidFill>
                    <a:srgbClr val="0B1E2D"/>
                  </a:solidFill>
                  <a:effectLst/>
                  <a:uLnTx/>
                  <a:uFillTx/>
                  <a:latin typeface="Touvlo"/>
                  <a:ea typeface="Touvlo"/>
                  <a:cs typeface="Touvlo"/>
                  <a:sym typeface="Touvlo"/>
                </a:rPr>
                <a:t>Secure AI fosters trust, enabling responsible robotics innovation and adoption across various sectors.</a:t>
              </a:r>
            </a:p>
          </p:txBody>
        </p:sp>
      </p:grpSp>
      <p:sp>
        <p:nvSpPr>
          <p:cNvPr id="22" name="TextBox 22"/>
          <p:cNvSpPr txBox="1"/>
          <p:nvPr/>
        </p:nvSpPr>
        <p:spPr>
          <a:xfrm>
            <a:off x="977556" y="5264690"/>
            <a:ext cx="822669" cy="422493"/>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03</a:t>
            </a:r>
          </a:p>
        </p:txBody>
      </p:sp>
      <p:sp>
        <p:nvSpPr>
          <p:cNvPr id="23" name="TextBox 23"/>
          <p:cNvSpPr txBox="1"/>
          <p:nvPr/>
        </p:nvSpPr>
        <p:spPr>
          <a:xfrm>
            <a:off x="666750" y="781050"/>
            <a:ext cx="16954500" cy="834556"/>
          </a:xfrm>
          <a:prstGeom prst="rect">
            <a:avLst/>
          </a:prstGeom>
        </p:spPr>
        <p:txBody>
          <a:bodyPr lIns="0" tIns="0" rIns="0" bIns="0" rtlCol="0" anchor="t">
            <a:spAutoFit/>
          </a:bodyPr>
          <a:lstStyle/>
          <a:p>
            <a:pPr marL="0" marR="0" lvl="0" indent="0" algn="l" defTabSz="914400" rtl="0" eaLnBrk="1" fontAlgn="auto" latinLnBrk="0" hangingPunct="1">
              <a:lnSpc>
                <a:spcPts val="6231"/>
              </a:lnSpc>
              <a:spcBef>
                <a:spcPts val="0"/>
              </a:spcBef>
              <a:spcAft>
                <a:spcPts val="0"/>
              </a:spcAft>
              <a:buClrTx/>
              <a:buSzTx/>
              <a:buFontTx/>
              <a:buNone/>
              <a:tabLst/>
              <a:defRPr/>
            </a:pPr>
            <a:r>
              <a:rPr kumimoji="0" lang="en-US" sz="6231" b="1" i="0" u="none" strike="noStrike" kern="1200" cap="none" spc="0" normalizeH="0" baseline="0" noProof="0">
                <a:ln>
                  <a:noFill/>
                </a:ln>
                <a:solidFill>
                  <a:srgbClr val="88A1B8"/>
                </a:solidFill>
                <a:effectLst/>
                <a:uLnTx/>
                <a:uFillTx/>
                <a:latin typeface="Proxima Nova Condensed Bold"/>
                <a:ea typeface="Proxima Nova Condensed Bold"/>
                <a:cs typeface="Proxima Nova Condensed Bold"/>
                <a:sym typeface="Proxima Nova Condensed Bold"/>
              </a:rPr>
              <a:t>Integrated Recommendations for Secure AI in Robotics</a:t>
            </a:r>
          </a:p>
        </p:txBody>
      </p:sp>
      <p:grpSp>
        <p:nvGrpSpPr>
          <p:cNvPr id="24" name="Group 24"/>
          <p:cNvGrpSpPr/>
          <p:nvPr/>
        </p:nvGrpSpPr>
        <p:grpSpPr>
          <a:xfrm>
            <a:off x="9296400" y="4952645"/>
            <a:ext cx="8324850" cy="2172410"/>
            <a:chOff x="0" y="0"/>
            <a:chExt cx="2192553" cy="572157"/>
          </a:xfrm>
        </p:grpSpPr>
        <p:sp>
          <p:nvSpPr>
            <p:cNvPr id="25" name="Freeform 25"/>
            <p:cNvSpPr/>
            <p:nvPr/>
          </p:nvSpPr>
          <p:spPr>
            <a:xfrm>
              <a:off x="0" y="0"/>
              <a:ext cx="2192553" cy="572157"/>
            </a:xfrm>
            <a:custGeom>
              <a:avLst/>
              <a:gdLst/>
              <a:ahLst/>
              <a:cxnLst/>
              <a:rect l="l" t="t" r="r" b="b"/>
              <a:pathLst>
                <a:path w="2192553" h="572157">
                  <a:moveTo>
                    <a:pt x="13950" y="0"/>
                  </a:moveTo>
                  <a:lnTo>
                    <a:pt x="2178603" y="0"/>
                  </a:lnTo>
                  <a:cubicBezTo>
                    <a:pt x="2186308" y="0"/>
                    <a:pt x="2192553" y="6245"/>
                    <a:pt x="2192553" y="13950"/>
                  </a:cubicBezTo>
                  <a:lnTo>
                    <a:pt x="2192553" y="558208"/>
                  </a:lnTo>
                  <a:cubicBezTo>
                    <a:pt x="2192553" y="561907"/>
                    <a:pt x="2191084" y="565456"/>
                    <a:pt x="2188467" y="568072"/>
                  </a:cubicBezTo>
                  <a:cubicBezTo>
                    <a:pt x="2185851" y="570688"/>
                    <a:pt x="2182303" y="572157"/>
                    <a:pt x="2178603" y="572157"/>
                  </a:cubicBezTo>
                  <a:lnTo>
                    <a:pt x="13950" y="572157"/>
                  </a:lnTo>
                  <a:cubicBezTo>
                    <a:pt x="6245" y="572157"/>
                    <a:pt x="0" y="565912"/>
                    <a:pt x="0" y="558208"/>
                  </a:cubicBezTo>
                  <a:lnTo>
                    <a:pt x="0" y="13950"/>
                  </a:lnTo>
                  <a:cubicBezTo>
                    <a:pt x="0" y="6245"/>
                    <a:pt x="6245" y="0"/>
                    <a:pt x="13950" y="0"/>
                  </a:cubicBezTo>
                  <a:close/>
                </a:path>
              </a:pathLst>
            </a:custGeom>
            <a:solidFill>
              <a:srgbClr val="88A1B8"/>
            </a:solid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Box 26"/>
            <p:cNvSpPr txBox="1"/>
            <p:nvPr/>
          </p:nvSpPr>
          <p:spPr>
            <a:xfrm>
              <a:off x="0" y="-28575"/>
              <a:ext cx="2192553" cy="600732"/>
            </a:xfrm>
            <a:prstGeom prst="rect">
              <a:avLst/>
            </a:prstGeom>
          </p:spPr>
          <p:txBody>
            <a:bodyPr lIns="50800" tIns="50800" rIns="50800" bIns="50800" rtlCol="0" anchor="ctr"/>
            <a:lstStyle/>
            <a:p>
              <a:pPr marL="0" marR="0" lvl="0" indent="0" algn="l" defTabSz="914400" rtl="0" eaLnBrk="1" fontAlgn="auto" latinLnBrk="0" hangingPunct="1">
                <a:lnSpc>
                  <a:spcPts val="2546"/>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7" name="Group 27"/>
          <p:cNvGrpSpPr/>
          <p:nvPr/>
        </p:nvGrpSpPr>
        <p:grpSpPr>
          <a:xfrm>
            <a:off x="10734675" y="5312315"/>
            <a:ext cx="5972891" cy="1348015"/>
            <a:chOff x="0" y="0"/>
            <a:chExt cx="7963855" cy="1797353"/>
          </a:xfrm>
        </p:grpSpPr>
        <p:sp>
          <p:nvSpPr>
            <p:cNvPr id="28" name="TextBox 28"/>
            <p:cNvSpPr txBox="1"/>
            <p:nvPr/>
          </p:nvSpPr>
          <p:spPr>
            <a:xfrm>
              <a:off x="0" y="-47625"/>
              <a:ext cx="7963855" cy="547449"/>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SYNERGISTIC APPROACH</a:t>
              </a:r>
            </a:p>
          </p:txBody>
        </p:sp>
        <p:sp>
          <p:nvSpPr>
            <p:cNvPr id="29" name="TextBox 29"/>
            <p:cNvSpPr txBox="1"/>
            <p:nvPr/>
          </p:nvSpPr>
          <p:spPr>
            <a:xfrm>
              <a:off x="0" y="573085"/>
              <a:ext cx="7963855" cy="1224268"/>
            </a:xfrm>
            <a:prstGeom prst="rect">
              <a:avLst/>
            </a:prstGeom>
          </p:spPr>
          <p:txBody>
            <a:bodyPr lIns="0" tIns="0" rIns="0" bIns="0" rtlCol="0" anchor="t">
              <a:spAutoFit/>
            </a:bodyPr>
            <a:lstStyle/>
            <a:p>
              <a:pPr marL="0" marR="0" lvl="0" indent="0" algn="l" defTabSz="914400" rtl="0" eaLnBrk="1" fontAlgn="auto" latinLnBrk="0" hangingPunct="1">
                <a:lnSpc>
                  <a:spcPts val="2546"/>
                </a:lnSpc>
                <a:spcBef>
                  <a:spcPts val="0"/>
                </a:spcBef>
                <a:spcAft>
                  <a:spcPts val="0"/>
                </a:spcAft>
                <a:buClrTx/>
                <a:buSzTx/>
                <a:buFontTx/>
                <a:buNone/>
                <a:tabLst/>
                <a:defRPr/>
              </a:pPr>
              <a:r>
                <a:rPr kumimoji="0" lang="en-US" sz="1819" b="0" i="0" u="none" strike="noStrike" kern="1200" cap="none" spc="0" normalizeH="0" baseline="0" noProof="0">
                  <a:ln>
                    <a:noFill/>
                  </a:ln>
                  <a:solidFill>
                    <a:srgbClr val="0B1E2D"/>
                  </a:solidFill>
                  <a:effectLst/>
                  <a:uLnTx/>
                  <a:uFillTx/>
                  <a:latin typeface="Touvlo"/>
                  <a:ea typeface="Touvlo"/>
                  <a:cs typeface="Touvlo"/>
                  <a:sym typeface="Touvlo"/>
                </a:rPr>
                <a:t>Overlapping layers of security, privacy, and innovation represent a holistic strategy for responsible AI deployment.</a:t>
              </a:r>
            </a:p>
          </p:txBody>
        </p:sp>
      </p:grpSp>
      <p:sp>
        <p:nvSpPr>
          <p:cNvPr id="30" name="TextBox 30"/>
          <p:cNvSpPr txBox="1"/>
          <p:nvPr/>
        </p:nvSpPr>
        <p:spPr>
          <a:xfrm>
            <a:off x="9607206" y="5264690"/>
            <a:ext cx="822669" cy="422493"/>
          </a:xfrm>
          <a:prstGeom prst="rect">
            <a:avLst/>
          </a:prstGeom>
        </p:spPr>
        <p:txBody>
          <a:bodyPr lIns="0" tIns="0" rIns="0" bIns="0" rtlCol="0" anchor="t">
            <a:spAutoFit/>
          </a:bodyPr>
          <a:lstStyle/>
          <a:p>
            <a:pPr marL="0" marR="0" lvl="0" indent="0" algn="l" defTabSz="914400" rtl="0" eaLnBrk="1" fontAlgn="auto" latinLnBrk="0" hangingPunct="1">
              <a:lnSpc>
                <a:spcPts val="3487"/>
              </a:lnSpc>
              <a:spcBef>
                <a:spcPts val="0"/>
              </a:spcBef>
              <a:spcAft>
                <a:spcPts val="0"/>
              </a:spcAft>
              <a:buClrTx/>
              <a:buSzTx/>
              <a:buFontTx/>
              <a:buNone/>
              <a:tabLst/>
              <a:defRPr/>
            </a:pPr>
            <a:r>
              <a:rPr kumimoji="0" lang="en-US" sz="2491" b="1" i="0" u="none" strike="noStrike" kern="1200" cap="none" spc="0" normalizeH="0" baseline="0" noProof="0">
                <a:ln>
                  <a:noFill/>
                </a:ln>
                <a:solidFill>
                  <a:srgbClr val="2E4A6F"/>
                </a:solidFill>
                <a:effectLst/>
                <a:uLnTx/>
                <a:uFillTx/>
                <a:latin typeface="Proxima Nova Condensed Bold"/>
                <a:ea typeface="Proxima Nova Condensed Bold"/>
                <a:cs typeface="Proxima Nova Condensed Bold"/>
                <a:sym typeface="Proxima Nova Condensed Bold"/>
              </a:rPr>
              <a:t>04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F36"/>
        </a:solidFill>
        <a:effectLst/>
      </p:bgPr>
    </p:bg>
    <p:spTree>
      <p:nvGrpSpPr>
        <p:cNvPr id="1" name=""/>
        <p:cNvGrpSpPr/>
        <p:nvPr/>
      </p:nvGrpSpPr>
      <p:grpSpPr>
        <a:xfrm>
          <a:off x="0" y="0"/>
          <a:ext cx="0" cy="0"/>
          <a:chOff x="0" y="0"/>
          <a:chExt cx="0" cy="0"/>
        </a:xfrm>
      </p:grpSpPr>
      <p:sp>
        <p:nvSpPr>
          <p:cNvPr id="2" name="TextBox 2"/>
          <p:cNvSpPr txBox="1"/>
          <p:nvPr/>
        </p:nvSpPr>
        <p:spPr>
          <a:xfrm>
            <a:off x="666750" y="1724870"/>
            <a:ext cx="6886575" cy="2268855"/>
          </a:xfrm>
          <a:prstGeom prst="rect">
            <a:avLst/>
          </a:prstGeom>
        </p:spPr>
        <p:txBody>
          <a:bodyPr lIns="0" tIns="0" rIns="0" bIns="0" rtlCol="0" anchor="t">
            <a:spAutoFit/>
          </a:bodyPr>
          <a:lstStyle/>
          <a:p>
            <a:pPr marL="0" marR="0" lvl="0" indent="0" algn="l" defTabSz="914400" rtl="0" eaLnBrk="1" fontAlgn="auto" latinLnBrk="0" hangingPunct="1">
              <a:lnSpc>
                <a:spcPts val="8700"/>
              </a:lnSpc>
              <a:spcBef>
                <a:spcPts val="0"/>
              </a:spcBef>
              <a:spcAft>
                <a:spcPts val="0"/>
              </a:spcAft>
              <a:buClrTx/>
              <a:buSzTx/>
              <a:buFontTx/>
              <a:buNone/>
              <a:tabLst/>
              <a:defRPr/>
            </a:pPr>
            <a:r>
              <a:rPr kumimoji="0" lang="en-US" sz="8700" b="0" i="0" u="none" strike="noStrike" kern="1200" cap="none" spc="-173" normalizeH="0" baseline="0" noProof="0">
                <a:ln>
                  <a:noFill/>
                </a:ln>
                <a:solidFill>
                  <a:srgbClr val="6BC1FF"/>
                </a:solidFill>
                <a:effectLst/>
                <a:uLnTx/>
                <a:uFillTx/>
                <a:latin typeface="Noto Serif Display ExtraCondensed Light"/>
                <a:ea typeface="Noto Serif Display ExtraCondensed Light"/>
                <a:cs typeface="Noto Serif Display ExtraCondensed Light"/>
                <a:sym typeface="Noto Serif Display ExtraCondensed Light"/>
              </a:rPr>
              <a:t>Securing the Future of Robotics</a:t>
            </a:r>
          </a:p>
        </p:txBody>
      </p:sp>
      <p:grpSp>
        <p:nvGrpSpPr>
          <p:cNvPr id="3" name="Group 3"/>
          <p:cNvGrpSpPr/>
          <p:nvPr/>
        </p:nvGrpSpPr>
        <p:grpSpPr>
          <a:xfrm>
            <a:off x="666750" y="5829300"/>
            <a:ext cx="6886575" cy="2895600"/>
            <a:chOff x="0" y="0"/>
            <a:chExt cx="9182100" cy="3860800"/>
          </a:xfrm>
        </p:grpSpPr>
        <p:sp>
          <p:nvSpPr>
            <p:cNvPr id="4" name="TextBox 4"/>
            <p:cNvSpPr txBox="1"/>
            <p:nvPr/>
          </p:nvSpPr>
          <p:spPr>
            <a:xfrm>
              <a:off x="0" y="-9525"/>
              <a:ext cx="9182100" cy="466725"/>
            </a:xfrm>
            <a:prstGeom prst="rect">
              <a:avLst/>
            </a:prstGeom>
          </p:spPr>
          <p:txBody>
            <a:bodyPr lIns="0" tIns="0" rIns="0" bIns="0" rtlCol="0" anchor="t">
              <a:spAutoFit/>
            </a:bodyPr>
            <a:lstStyle/>
            <a:p>
              <a:pPr marL="0" marR="0" lvl="0" indent="0" algn="l" defTabSz="914400" rtl="0" eaLnBrk="1" fontAlgn="auto" latinLnBrk="0" hangingPunct="1">
                <a:lnSpc>
                  <a:spcPts val="2767"/>
                </a:lnSpc>
                <a:spcBef>
                  <a:spcPts val="0"/>
                </a:spcBef>
                <a:spcAft>
                  <a:spcPts val="0"/>
                </a:spcAft>
                <a:buClrTx/>
                <a:buSzTx/>
                <a:buFontTx/>
                <a:buNone/>
                <a:tabLst/>
                <a:defRPr/>
              </a:pPr>
              <a:r>
                <a:rPr kumimoji="0" lang="en-US" sz="2305" b="1" i="0" u="none" strike="noStrike" kern="1200" cap="none" spc="0" normalizeH="0" baseline="0" noProof="0">
                  <a:ln>
                    <a:noFill/>
                  </a:ln>
                  <a:solidFill>
                    <a:srgbClr val="A3CFFF"/>
                  </a:solidFill>
                  <a:effectLst/>
                  <a:uLnTx/>
                  <a:uFillTx/>
                  <a:latin typeface="HK Grotesk Semi-Bold"/>
                  <a:ea typeface="HK Grotesk Semi-Bold"/>
                  <a:cs typeface="HK Grotesk Semi-Bold"/>
                  <a:sym typeface="HK Grotesk Semi-Bold"/>
                </a:rPr>
                <a:t>Protecting Innovation Through Trust and Governance</a:t>
              </a:r>
            </a:p>
          </p:txBody>
        </p:sp>
        <p:sp>
          <p:nvSpPr>
            <p:cNvPr id="5" name="TextBox 5"/>
            <p:cNvSpPr txBox="1"/>
            <p:nvPr/>
          </p:nvSpPr>
          <p:spPr>
            <a:xfrm>
              <a:off x="0" y="828675"/>
              <a:ext cx="9182100" cy="3032125"/>
            </a:xfrm>
            <a:prstGeom prst="rect">
              <a:avLst/>
            </a:prstGeom>
          </p:spPr>
          <p:txBody>
            <a:bodyPr lIns="0" tIns="0" rIns="0" bIns="0" rtlCol="0" anchor="t">
              <a:spAutoFit/>
            </a:bodyPr>
            <a:lstStyle/>
            <a:p>
              <a:pPr marL="0" marR="0" lvl="0" indent="0" algn="l" defTabSz="914400" rtl="0" eaLnBrk="1" fontAlgn="auto" latinLnBrk="0" hangingPunct="1">
                <a:lnSpc>
                  <a:spcPts val="2610"/>
                </a:lnSpc>
                <a:spcBef>
                  <a:spcPts val="0"/>
                </a:spcBef>
                <a:spcAft>
                  <a:spcPts val="0"/>
                </a:spcAft>
                <a:buClrTx/>
                <a:buSzTx/>
                <a:buFontTx/>
                <a:buNone/>
                <a:tabLst/>
                <a:defRPr/>
              </a:pPr>
              <a:r>
                <a:rPr kumimoji="0" lang="en-US" sz="2175" b="0" i="0" u="none" strike="noStrike" kern="1200" cap="none" spc="0" normalizeH="0" baseline="0" noProof="0">
                  <a:ln>
                    <a:noFill/>
                  </a:ln>
                  <a:solidFill>
                    <a:srgbClr val="FFFFFF"/>
                  </a:solidFill>
                  <a:effectLst/>
                  <a:uLnTx/>
                  <a:uFillTx/>
                  <a:latin typeface="HK Grotesk"/>
                  <a:ea typeface="HK Grotesk"/>
                  <a:cs typeface="HK Grotesk"/>
                  <a:sym typeface="HK Grotesk"/>
                </a:rPr>
                <a:t>Robotics AI presents an incredible potential to transform industries, but it is crucial to implement </a:t>
              </a:r>
              <a:r>
                <a:rPr kumimoji="0" lang="en-US" sz="2175" b="1" i="0" u="none" strike="noStrike" kern="1200" cap="none" spc="0" normalizeH="0" baseline="0" noProof="0">
                  <a:ln>
                    <a:noFill/>
                  </a:ln>
                  <a:solidFill>
                    <a:srgbClr val="FFFFFF"/>
                  </a:solidFill>
                  <a:effectLst/>
                  <a:uLnTx/>
                  <a:uFillTx/>
                  <a:latin typeface="HK Grotesk Bold"/>
                  <a:ea typeface="HK Grotesk Bold"/>
                  <a:cs typeface="HK Grotesk Bold"/>
                  <a:sym typeface="HK Grotesk Bold"/>
                </a:rPr>
                <a:t>robust safeguards</a:t>
              </a:r>
              <a:r>
                <a:rPr kumimoji="0" lang="en-US" sz="2175" b="0" i="0" u="none" strike="noStrike" kern="1200" cap="none" spc="0" normalizeH="0" baseline="0" noProof="0">
                  <a:ln>
                    <a:noFill/>
                  </a:ln>
                  <a:solidFill>
                    <a:srgbClr val="FFFFFF"/>
                  </a:solidFill>
                  <a:effectLst/>
                  <a:uLnTx/>
                  <a:uFillTx/>
                  <a:latin typeface="HK Grotesk"/>
                  <a:ea typeface="HK Grotesk"/>
                  <a:cs typeface="HK Grotesk"/>
                  <a:sym typeface="HK Grotesk"/>
                </a:rPr>
                <a:t>. By committing to governance, compliance, and ongoing monitoring, we can ensure that innovation occurs responsibly, protecting privacy and security. Let's advance implementation by approving the 30/60/90 roadmap for structured progress.</a:t>
              </a:r>
            </a:p>
          </p:txBody>
        </p:sp>
      </p:grpSp>
      <p:sp>
        <p:nvSpPr>
          <p:cNvPr id="6" name="AutoShape 6"/>
          <p:cNvSpPr/>
          <p:nvPr/>
        </p:nvSpPr>
        <p:spPr>
          <a:xfrm>
            <a:off x="0" y="676275"/>
            <a:ext cx="12172950" cy="0"/>
          </a:xfrm>
          <a:prstGeom prst="line">
            <a:avLst/>
          </a:prstGeom>
          <a:ln w="19050" cap="flat">
            <a:solidFill>
              <a:srgbClr val="6BC1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AutoShape 7"/>
          <p:cNvSpPr/>
          <p:nvPr/>
        </p:nvSpPr>
        <p:spPr>
          <a:xfrm>
            <a:off x="0" y="9629775"/>
            <a:ext cx="12172950" cy="0"/>
          </a:xfrm>
          <a:prstGeom prst="line">
            <a:avLst/>
          </a:prstGeom>
          <a:ln w="19050" cap="flat">
            <a:solidFill>
              <a:srgbClr val="6BC1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8" name="Group 8"/>
          <p:cNvGrpSpPr/>
          <p:nvPr/>
        </p:nvGrpSpPr>
        <p:grpSpPr>
          <a:xfrm>
            <a:off x="7858125" y="0"/>
            <a:ext cx="10429875" cy="10287000"/>
            <a:chOff x="0" y="0"/>
            <a:chExt cx="1615861" cy="1593725"/>
          </a:xfrm>
        </p:grpSpPr>
        <p:sp>
          <p:nvSpPr>
            <p:cNvPr id="9" name="Freeform 9"/>
            <p:cNvSpPr/>
            <p:nvPr/>
          </p:nvSpPr>
          <p:spPr>
            <a:xfrm>
              <a:off x="0" y="0"/>
              <a:ext cx="1615861" cy="1593725"/>
            </a:xfrm>
            <a:custGeom>
              <a:avLst/>
              <a:gdLst/>
              <a:ahLst/>
              <a:cxnLst/>
              <a:rect l="l" t="t" r="r" b="b"/>
              <a:pathLst>
                <a:path w="1615861" h="1593725">
                  <a:moveTo>
                    <a:pt x="0" y="0"/>
                  </a:moveTo>
                  <a:lnTo>
                    <a:pt x="1615861" y="0"/>
                  </a:lnTo>
                  <a:lnTo>
                    <a:pt x="1615861" y="1593725"/>
                  </a:lnTo>
                  <a:lnTo>
                    <a:pt x="0" y="1593725"/>
                  </a:lnTo>
                  <a:close/>
                </a:path>
              </a:pathLst>
            </a:custGeom>
            <a:blipFill>
              <a:blip r:embed="rId2"/>
              <a:stretch>
                <a:fillRect l="-193" r="-193"/>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8</TotalTime>
  <Words>1554</Words>
  <Application>Microsoft Office PowerPoint</Application>
  <PresentationFormat>Custom</PresentationFormat>
  <Paragraphs>146</Paragraphs>
  <Slides>16</Slides>
  <Notes>0</Notes>
  <HiddenSlides>0</HiddenSlides>
  <MMClips>0</MMClips>
  <ScaleCrop>false</ScaleCrop>
  <HeadingPairs>
    <vt:vector size="6" baseType="variant">
      <vt:variant>
        <vt:lpstr>Fonts Used</vt:lpstr>
      </vt:variant>
      <vt:variant>
        <vt:i4>26</vt:i4>
      </vt:variant>
      <vt:variant>
        <vt:lpstr>Theme</vt:lpstr>
      </vt:variant>
      <vt:variant>
        <vt:i4>1</vt:i4>
      </vt:variant>
      <vt:variant>
        <vt:lpstr>Slide Titles</vt:lpstr>
      </vt:variant>
      <vt:variant>
        <vt:i4>16</vt:i4>
      </vt:variant>
    </vt:vector>
  </HeadingPairs>
  <TitlesOfParts>
    <vt:vector size="43" baseType="lpstr">
      <vt:lpstr>Be Vietnam Ultra-Bold</vt:lpstr>
      <vt:lpstr>Fira Sans Bold</vt:lpstr>
      <vt:lpstr>HK Grotesk Bold</vt:lpstr>
      <vt:lpstr>Helios Extended</vt:lpstr>
      <vt:lpstr>Calibri</vt:lpstr>
      <vt:lpstr>Proxima Nova Condensed Bold</vt:lpstr>
      <vt:lpstr>Roca Two</vt:lpstr>
      <vt:lpstr>Telegraf</vt:lpstr>
      <vt:lpstr>Helvetica World Bold</vt:lpstr>
      <vt:lpstr>Noto Serif Display ExtraCondensed Light</vt:lpstr>
      <vt:lpstr>Bricolage Grotesque Bold</vt:lpstr>
      <vt:lpstr>Helvetica World</vt:lpstr>
      <vt:lpstr>ITC Avant Garde Gothic</vt:lpstr>
      <vt:lpstr>Fira Sans</vt:lpstr>
      <vt:lpstr>TT Fors Bold</vt:lpstr>
      <vt:lpstr>Telegraf Bold</vt:lpstr>
      <vt:lpstr>HK Grotesk</vt:lpstr>
      <vt:lpstr>Arial</vt:lpstr>
      <vt:lpstr>Be Vietnam</vt:lpstr>
      <vt:lpstr>TT Fors</vt:lpstr>
      <vt:lpstr>HK Grotesk Semi-Bold</vt:lpstr>
      <vt:lpstr>Tw Cen MT</vt:lpstr>
      <vt:lpstr>Touvlo</vt:lpstr>
      <vt:lpstr>HK Grotesk Medium</vt:lpstr>
      <vt:lpstr>Fira Sans Light</vt:lpstr>
      <vt:lpstr>Garet Bold</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Secure &amp; Private AI</dc:title>
  <dc:description>Presentation - Secure &amp; Private AI</dc:description>
  <cp:lastModifiedBy>Naigam Bhatt</cp:lastModifiedBy>
  <cp:revision>3</cp:revision>
  <dcterms:created xsi:type="dcterms:W3CDTF">2006-08-16T00:00:00Z</dcterms:created>
  <dcterms:modified xsi:type="dcterms:W3CDTF">2025-09-29T00:11:30Z</dcterms:modified>
  <dc:identifier>DAG0Tmz90Y8</dc:identifier>
</cp:coreProperties>
</file>